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Frame the session: this is a working session, not a lecture — by the end they'll have a prompt playbook, a toolbox mapped to their business, and a plan to ship a personal website this week. Everything shown has a free tier. Ask: 'How many of you used an AI tool this week?' to gauge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on credibility, then move: 7+ years engineering national-scale systems, running multiple ventures with AI daily. The point: I'm a practitioner — every tool in this deck is one I use or have tested. Then set the promise for the session (right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stops quickly. Tell them where questions fit: quick ones anytime, deep ones in the 30-minute Q&amp;A. Sections 4 and 5 are the hands-on heart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the tools, the pattern. Every generation had a communication revolution; the people who moved early won disproportionately. Set up that AI is this generation's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line left to right, fast and fun. Anchor locally: from NIPOST letters, to GSM in 2001 changing Nigerian business overnight, to WhatsApp commerce, to now. Each jump shrank the time between 'I have something to sell' and 'someone heard about it'. AI shrinks the time between idea and finished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 Chamber of Commerce Impact of Technology report (Aug 2025) — 58% of US small businesses using generative AI in 2025, up from 40% in 2024. Salesforce SMB Trends — 83% of growing SMBs experimenting with AI. Message: the adoption curve is steep, but most people are still shallow users — showing up early AND deep is the edge. Nigeria is not behind on access anymore: the tools price in naira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history: hand-written rules → machines learning from data → deep learning seeing and hearing (2012) → transformers (2017, the T in GPT) → ChatGPT making it mainstream (Nov 2022) → 2025-26: agentic AI that plans and executes multi-step work. The key frame: each stage answered better; this stage WORKS. That's why it matters for business, not just tech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shifts that matter to a business owner. Then the Nigeria strip: Google AI Plus launched at N7,450/month locally (includes Gemini Pro, Veo video, Flow, NotebookLM, 200GB) and in Aug 2026 Google announced 12 months free for Nigerian students. Access is no longer the excuse; skill is the differentiator. Sources: technext24, techcabal Aug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think of these as staff you can hire from $0. You don't need all four — you need one, used deeply.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are consumer tiers, USD/month, verified Aug 2026. Claude: Fable 5, Pro $20, Max from $100 — strongest at agents + producing real files (Excel/PowerPoint/Word), Claude Code &amp; Cowork. ChatGPT: GPT-5.6, Go ~$8, Plus $20, Pro from $100 — Agent Mode, custom GPTs, biggest ecosystem. Gemini: 3.1 Pro; AI Plus $4.99 = N7,450 in Nigeria; Pro $19.99 — lives inside Gmail/Docs/Drive, includes NotebookLM + Veo/Flow. Grok 4.5: $8 via X Premium, SuperGrok $30 — real-time X data, DeepSearch. Don't read the slide — tell them the one-line personality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router. Most people in this room live in Gmail/WhatsApp — Gemini's N7,450 tier is the lowest-friction start. If they want AI producing documents and doing agent work, Claude. Biggest app ecosystem, ChatGPT. Building in public on X, Grok. Then the strategy line: one paid assistant mastered beats five tabs of free ones — depth compounds because memory/projects learn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use 10% of what they pay for. Walk each: Projects/memory = it remembers your brand voice and documents across chats. File creation = ask for the .xlsx or .pptx, not a wall of text. Deep research = cited market reports in minutes. Agent/computer use = it browses and fills forms. Voice = meetings, dictation, even translation. Connectors (MCP) = it reads your Gmail/Slack/CRM. Demo idea: show a Project with your brand guide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highest-ROI skill in this talk. Same tool, same 30 seconds — the prompt is the difference between generic and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elements — spell them as a habit, not a form to fill: Role (who should it be), Context (who's the audience, what's the goal), Task (the verb), Constraints (length, tone, format, what to avoid), Examples (show 1-3 samples of what good looks like), Iterate (treat the first answer as draft one). Have the room write one live for their own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weak prompt flatly, then the strong one with energy. Point out each element as you hit it: role, context, task+constraints, example. If demoing live, run both in front of them — the contrast sells the whole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hits: (1) Few-shot: show 2-3 examples of what good looks like — the fastest quality upgrade. (2) Plan first: ask it to outline its approach before writing. (3) Force the format: table, checklist, JSON — you get structure you can use. (4) Critique loop: 'critique your own draft against my goals, then rewrite' — a built-in editor. These four turn a casual user into a power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of the whole talk. Prompt: one ask, one answer. Workflow: chained steps you repeat. Agent: a goal plus tools — it works alone. Loop: draft-critique-improve until it passes your bar. Graph: a team of specialized agents handing work to each other, like an org chart. Every business in this room can climb one rung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An agent isn't sci-fi: it's an AI you brief like a junior staffer. Walk the example — this is a real task type: research venues, compile comparison, draft outreach. Your role changes from doing to reviewing. Emphasize: you still approve everything that goes out or spends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 automated quality control: one AI drafts, a critic checks against your checklist, it redrafts until it passes. Graph = division of labor: specialized agents each own a step and hand off, like an org chart. You sit at the end as approver. These two patterns are how one person starts operating like a small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Model Context Protocol, an open standard started by Anthropic in 2024, now adopted industry-wide (OpenAI, Google; governed under the Linux Foundation). Plain English: one universal port — 'USB-C for AI' — so your assistant can read your inbox, update your CRM, post to Slack. Skills/plugins (Claude) and GPTs/apps (ChatGPT) let you package your repeatable jobs — your invoice format, your brand deck style — and reuse or share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shopping section. Every tool here has a free tier or free trial. Encourage note-taking or remind them the QR at the end has every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Pomelli (Google Labs): paste your website URL → it builds your 'Business DNA' (colors, fonts, tone) → generates on-brand social campaigns. Free during beta; rolled out to 170+ countries in 2026. Canva Magic Studio: the everyday design studio; free plan is generous, Pro $18/mo. Looka: logo + brand kit from $20 one-time. Adobe Express + Firefly: pro templates + generative images, free tier, premium $9.99. Prices Aug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labs.google/pomelli. Launched Oct 2025, expanded to 170+ countries through 2026, 100% free while in beta. One honest caveat: it doesn't post for you — you download the assets and post manually. If it's not yet available on someone's account here, a VPN or waiting usually solves it — check before relying on it. Demo this live if wifi allows: paste a real business URL from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Gamma: decks/docs/one-page sites from a prompt (free 400 credits, Plus $9). Opus Clip: turns one long video into many short clips with captions (free 60 min/mo, $15). HeyGen: an AI avatar of you presents scripts to camera (3 free videos/mo, $29). ElevenLabs: voiceovers, even a clone of your voice (free tier, from $6). Buffer: schedules everywhere with an AI assistant (real free plan, ~$6/channel). Workflow: record one 10-min video weekly → clips, captions, voiceover, schedule — all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is Google's AI filmmaking workspace powered by Veo 3.1: describe a scene (or give photos) → cinematic video clips up to ~30s with a scene-builder timeline and camera controls. Works on credits from Google AI plans — and this is the punchline for this room: the ₦7,450/month Nigerian AI Plus plan includes Flow, plus students get 12 months free (Aug 2026). Use cases: product ads, event recaps, brand story videos — no camera crew.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search that answers with citations — market scans, competitor checks (free; Pro $20). NotebookLM: upload YOUR documents — reports, transcripts, plans — and query them; audio overviews turn them into a podcast (free, included in AI Plus). Apollo: 275M+ B2B contact database plus outreach sequences (free tier; from $49). Clay: enrichment and personalization at scale — the growth-team power tool (from $185, free 100 credits). HubSpot: real free CRM with the Breeze AI copilot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funnel: Attract (AI content + SEO posts + video), Capture (your AI-built site with chat + forms), Qualify (enrich and score with Clay/Apollo), Outreach (personalized drafts at scale — but reviewed by you), Nurture (automated follow-up sequences via HubSpot/Buffer/Zapier). Point: none of these stages needs a marketing team anymore — they need a system. Next section shows the automation glue.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platforms are the glue: a trigger (new form entry, new DM, new invoice) fires a workflow with AI steps in the middle. Zapier: 8,000+ app integrations, natural-language builder and agents (free plan, from $20). Make: visual drag-and-drop scenarios, cheapest entry ($9). n8n: open source — self-host it for the cost of a small server, AI-native, no per-task fees (cloud from $20). For technical folks in the room, n8n self-hosted is the cost-conscious power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with a flow every SME recognizes: enquiry lands in IG DM / WhatsApp / website form → AI drafts a reply in your voice (from your FAQ + price list) → lead logged to a sheet or free CRM → no reply in 3 days triggers a polite follow-up draft → Monday 8am you get a summary of every lead and where it stands. Total cost: N0 to ~$20/month depending on tools. Emphasize: AI drafts, human approves — especially anything public or money-related.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hands-on payoff. Everyone in this room can leave with a plan to be online by Sunday.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No-code lane: Durable generates a full business site in ~30 seconds (from ~$12/mo to publish); Wix AI builds conversationally (free with ads); Framer is designer-grade (free on their subdomain); Lovable builds full apps with payments/auth, no code (free tier, $25). Vibe-code lane (free-est): describe your site to Claude or ChatGPT, get a complete one-file website; v0 and Bolt for those who want real apps. Next slide: how to host the vibe-coded one for exactly N0.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prompt — 'Build me a one-page personal brand site: my name, what I do, three services, two testimonials, a contact section with WhatsApp button. Navy and teal, modern, mobile-first. Single HTML file.' Step 2: iterate in plain English. Step 3: host free — Vercel, Netlify, Cloudflare Pages or GitHub Pages all have free tiers that easily cover a personal site. Step 4 (optional): a custom domain, $5-12/year (.me, .com.ng). This page (the QR one) runs exactly this way. Total: N0 plus optional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tools back to the talk title. Home base: your own site — the one asset no algorithm can take away. LinkedIn: AI-drafted, you-edited headline/about/featured — recruiters and clients check it first. Content engine: one substantial piece a week, AI multiplies it into every format. Visual identity: one palette and typeface everywhere — Pomelli/Canva brand kit makes consistency automatic. Consistency for 90 days beats brilliance for one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used to mean hiring. Now: delegate the repetitive to automations (24/7, no salary), multiply every piece of content into every format, brief agents like junior staff for research/drafts/QA, and systemize — your best prompts become SOPs (skills) anyone, human or AI, can run. Then the guardrail, said seriously: keep a human on money, legal, and anything public-facing. AI drafts; you approve. Reputation is the one thing you can't regenerate.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N0 stack is real — free assistant tiers, Pomelli beta, Canva/Wix free, NotebookLM, HubSpot CRM, Buffer free, n8n self-hosted, free hosting. Right: three tests before paying — do you hit the free limit weekly? does it save 2+ hours/month? does it touch revenue? First upgrades in order for most people: one assistant (from N7,450 or $8-20), then Canva Pro, then a domain. Close with the line at the bottom — tools don't build brands, consistency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feel doable — each week is a few evenings. Week 1: pick ONE assistant, write and save 5 role prompts for your business, run Pomelli/Canva on your brand. Week 2: LinkedIn overhaul — AI-drafted, you-edited; make bio/handles consistent everywhere. Week 3: build and ship the website; put the QR on your card and flyers. Week 4: automate one workflow and start the weekly content engine. Then the challenge: 'It's Friday. Your website can be live by Sunday night. Send it to me when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slowly, one at a time. 1: Every era rewards early adapters — you're still early to AI. 2: Prompt like a manager — role, context, constraints, examples, iterate. 3: One paid assistant, mastered, beats ten tabs of tools. 4: Agents and automations are staff — brief them properly, review their work. 5: Ship something this week — a site, a post, a workflow. Then bridge to the contact slide and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through Q&amp;A. Left QR: personal page and socials. Right QR: the resource hub — these slides, the prompt handbook, the AI coworker workflow guide, every tool link with free-tier notes, and the open-source picks. Invite them to scan now, then open Q&amp;A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4.png"/><Relationship Id="rId6" Type="http://schemas.openxmlformats.org/officeDocument/2006/relationships/image" Target="../media/image-19-4.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3.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3.png"/><Relationship Id="rId6" Type="http://schemas.openxmlformats.org/officeDocument/2006/relationships/image" Target="../media/image-27-6.png"/><Relationship Id="rId7" Type="http://schemas.openxmlformats.org/officeDocument/2006/relationships/image" Target="../media/image-27-3.png"/><Relationship Id="rId8" Type="http://schemas.openxmlformats.org/officeDocument/2006/relationships/image" Target="../media/image-27-8.png"/><Relationship Id="rId9" Type="http://schemas.openxmlformats.org/officeDocument/2006/relationships/image" Target="../media/image-27-3.png"/><Relationship Id="rId10" Type="http://schemas.openxmlformats.org/officeDocument/2006/relationships/image" Target="../media/image-27-10.png"/><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3.png"/><Relationship Id="rId6" Type="http://schemas.openxmlformats.org/officeDocument/2006/relationships/image" Target="../media/image-29-6.png"/><Relationship Id="rId7" Type="http://schemas.openxmlformats.org/officeDocument/2006/relationships/image" Target="../media/image-29-3.png"/><Relationship Id="rId8" Type="http://schemas.openxmlformats.org/officeDocument/2006/relationships/image" Target="../media/image-29-8.png"/><Relationship Id="rId9" Type="http://schemas.openxmlformats.org/officeDocument/2006/relationships/image" Target="../media/image-29-3.png"/><Relationship Id="rId10" Type="http://schemas.openxmlformats.org/officeDocument/2006/relationships/image" Target="../media/image-29-10.png"/><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051560"/>
            <a:ext cx="10789920" cy="320040"/>
          </a:xfrm>
          <a:prstGeom prst="rect">
            <a:avLst/>
          </a:prstGeom>
          <a:noFill/>
          <a:ln/>
        </p:spPr>
        <p:txBody>
          <a:bodyPr wrap="square" lIns="0" tIns="0" rIns="0" bIns="0" rtlCol="0" anchor="ctr"/>
          <a:lstStyle/>
          <a:p>
            <a:pPr indent="0" marL="0">
              <a:buNone/>
            </a:pPr>
            <a:r>
              <a:rPr lang="en-US" sz="1300" b="1" spc="250" kern="0" dirty="0">
                <a:solidFill>
                  <a:srgbClr val="35C1B1"/>
                </a:solidFill>
                <a:latin typeface="Arial" pitchFamily="34" charset="0"/>
                <a:ea typeface="Arial" pitchFamily="34" charset="-122"/>
                <a:cs typeface="Arial" pitchFamily="34" charset="-120"/>
              </a:rPr>
              <a:t>JCI NORTHERN CONFERENCE · GBEDEGU '26 · SKILLS DEVELOPMENT SESSION</a:t>
            </a:r>
            <a:endParaRPr lang="en-US" sz="1300" dirty="0"/>
          </a:p>
        </p:txBody>
      </p:sp>
      <p:sp>
        <p:nvSpPr>
          <p:cNvPr id="3" name="Text 1"/>
          <p:cNvSpPr/>
          <p:nvPr/>
        </p:nvSpPr>
        <p:spPr>
          <a:xfrm>
            <a:off x="685800" y="1691640"/>
            <a:ext cx="10881360" cy="19202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AI-Powered Personal Brand</a:t>
            </a:r>
            <a:endParaRPr lang="en-US" sz="4800" dirty="0"/>
          </a:p>
          <a:p>
            <a:pPr indent="0" marL="0">
              <a:buNone/>
            </a:pPr>
            <a:r>
              <a:rPr lang="en-US" sz="4800" b="1" dirty="0">
                <a:solidFill>
                  <a:srgbClr val="FFFFFF"/>
                </a:solidFill>
                <a:latin typeface="Arial" pitchFamily="34" charset="0"/>
                <a:ea typeface="Arial" pitchFamily="34" charset="-122"/>
                <a:cs typeface="Arial" pitchFamily="34" charset="-120"/>
              </a:rPr>
              <a:t>&amp; Digital Presence</a:t>
            </a:r>
            <a:endParaRPr lang="en-US" sz="4800" dirty="0"/>
          </a:p>
        </p:txBody>
      </p:sp>
      <p:sp>
        <p:nvSpPr>
          <p:cNvPr id="4" name="Shape 2"/>
          <p:cNvSpPr/>
          <p:nvPr/>
        </p:nvSpPr>
        <p:spPr>
          <a:xfrm>
            <a:off x="713232" y="3886200"/>
            <a:ext cx="5394960" cy="1051560"/>
          </a:xfrm>
          <a:prstGeom prst="roundRect">
            <a:avLst>
              <a:gd name="adj" fmla="val 7826"/>
            </a:avLst>
          </a:prstGeom>
          <a:solidFill>
            <a:srgbClr val="1D2A63"/>
          </a:solidFill>
          <a:ln w="12700">
            <a:solidFill>
              <a:srgbClr val="2E3D7F"/>
            </a:solidFill>
            <a:prstDash val="solid"/>
          </a:ln>
        </p:spPr>
      </p:sp>
      <p:sp>
        <p:nvSpPr>
          <p:cNvPr id="5" name="Text 3"/>
          <p:cNvSpPr/>
          <p:nvPr/>
        </p:nvSpPr>
        <p:spPr>
          <a:xfrm>
            <a:off x="960120" y="4041648"/>
            <a:ext cx="5029200" cy="77724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Godwin Agbane</a:t>
            </a:r>
            <a:endParaRPr lang="en-US" sz="1900" dirty="0"/>
          </a:p>
          <a:p>
            <a:pPr indent="0" marL="0">
              <a:buNone/>
            </a:pPr>
            <a:r>
              <a:rPr lang="en-US" sz="1350" dirty="0">
                <a:solidFill>
                  <a:srgbClr val="C9D4EE"/>
                </a:solidFill>
                <a:latin typeface="Arial" pitchFamily="34" charset="0"/>
                <a:ea typeface="Arial" pitchFamily="34" charset="-122"/>
                <a:cs typeface="Arial" pitchFamily="34" charset="-120"/>
              </a:rPr>
              <a:t>CEO, Innoedge Technologies</a:t>
            </a:r>
            <a:endParaRPr lang="en-US" sz="1900" dirty="0"/>
          </a:p>
        </p:txBody>
      </p:sp>
      <p:sp>
        <p:nvSpPr>
          <p:cNvPr id="6" name="Text 4"/>
          <p:cNvSpPr/>
          <p:nvPr/>
        </p:nvSpPr>
        <p:spPr>
          <a:xfrm>
            <a:off x="713232" y="5257800"/>
            <a:ext cx="8229600" cy="320040"/>
          </a:xfrm>
          <a:prstGeom prst="rect">
            <a:avLst/>
          </a:prstGeom>
          <a:noFill/>
          <a:ln/>
        </p:spPr>
        <p:txBody>
          <a:bodyPr wrap="square" lIns="0" tIns="0" rIns="0" bIns="0" rtlCol="0" anchor="ctr"/>
          <a:lstStyle/>
          <a:p>
            <a:pPr indent="0" marL="0">
              <a:buNone/>
            </a:pPr>
            <a:r>
              <a:rPr lang="en-US" sz="1400" dirty="0">
                <a:solidFill>
                  <a:srgbClr val="C9D4EE"/>
                </a:solidFill>
                <a:latin typeface="Calibri" pitchFamily="34" charset="0"/>
                <a:ea typeface="Calibri" pitchFamily="34" charset="-122"/>
                <a:cs typeface="Calibri" pitchFamily="34" charset="-120"/>
              </a:rPr>
              <a:t>Hawthorn Suites, Abuja  ·  Friday 21 August 2026  ·  10:00 AM</a:t>
            </a:r>
            <a:endParaRPr lang="en-US" sz="1400" dirty="0"/>
          </a:p>
        </p:txBody>
      </p:sp>
      <p:sp>
        <p:nvSpPr>
          <p:cNvPr id="7" name="Shape 5"/>
          <p:cNvSpPr/>
          <p:nvPr/>
        </p:nvSpPr>
        <p:spPr>
          <a:xfrm>
            <a:off x="9326880" y="3977640"/>
            <a:ext cx="777240" cy="777240"/>
          </a:xfrm>
          <a:prstGeom prst="ellipse">
            <a:avLst/>
          </a:prstGeom>
          <a:solidFill>
            <a:srgbClr val="35C1B1"/>
          </a:solidFill>
          <a:ln/>
        </p:spPr>
      </p:sp>
      <p:pic>
        <p:nvPicPr>
          <p:cNvPr id="8" name="Image 0" descr="icons/robot.png">    </p:cNvPr>
          <p:cNvPicPr>
            <a:picLocks noChangeAspect="1"/>
          </p:cNvPicPr>
          <p:nvPr/>
        </p:nvPicPr>
        <p:blipFill>
          <a:blip r:embed="rId2"/>
          <a:stretch>
            <a:fillRect/>
          </a:stretch>
        </p:blipFill>
        <p:spPr>
          <a:xfrm>
            <a:off x="9521190" y="4171950"/>
            <a:ext cx="388620" cy="388620"/>
          </a:xfrm>
          <a:prstGeom prst="rect">
            <a:avLst/>
          </a:prstGeom>
        </p:spPr>
      </p:pic>
      <p:sp>
        <p:nvSpPr>
          <p:cNvPr id="9" name="Shape 6"/>
          <p:cNvSpPr/>
          <p:nvPr/>
        </p:nvSpPr>
        <p:spPr>
          <a:xfrm>
            <a:off x="10287000" y="3977640"/>
            <a:ext cx="777240" cy="777240"/>
          </a:xfrm>
          <a:prstGeom prst="ellipse">
            <a:avLst/>
          </a:prstGeom>
          <a:solidFill>
            <a:srgbClr val="29A9E1"/>
          </a:solidFill>
          <a:ln/>
        </p:spPr>
      </p:sp>
      <p:pic>
        <p:nvPicPr>
          <p:cNvPr id="10" name="Image 1" descr="icons/palette.png">    </p:cNvPr>
          <p:cNvPicPr>
            <a:picLocks noChangeAspect="1"/>
          </p:cNvPicPr>
          <p:nvPr/>
        </p:nvPicPr>
        <p:blipFill>
          <a:blip r:embed="rId3"/>
          <a:stretch>
            <a:fillRect/>
          </a:stretch>
        </p:blipFill>
        <p:spPr>
          <a:xfrm>
            <a:off x="10481310" y="4171950"/>
            <a:ext cx="388620" cy="388620"/>
          </a:xfrm>
          <a:prstGeom prst="rect">
            <a:avLst/>
          </a:prstGeom>
        </p:spPr>
      </p:pic>
      <p:sp>
        <p:nvSpPr>
          <p:cNvPr id="11" name="Shape 7"/>
          <p:cNvSpPr/>
          <p:nvPr/>
        </p:nvSpPr>
        <p:spPr>
          <a:xfrm>
            <a:off x="11247120" y="3977640"/>
            <a:ext cx="777240" cy="777240"/>
          </a:xfrm>
          <a:prstGeom prst="ellipse">
            <a:avLst/>
          </a:prstGeom>
          <a:solidFill>
            <a:srgbClr val="F0C93C"/>
          </a:solidFill>
          <a:ln/>
        </p:spPr>
      </p:sp>
      <p:pic>
        <p:nvPicPr>
          <p:cNvPr id="12" name="Image 2" descr="icons/rocket_navy.png">    </p:cNvPr>
          <p:cNvPicPr>
            <a:picLocks noChangeAspect="1"/>
          </p:cNvPicPr>
          <p:nvPr/>
        </p:nvPicPr>
        <p:blipFill>
          <a:blip r:embed="rId4"/>
          <a:stretch>
            <a:fillRect/>
          </a:stretch>
        </p:blipFill>
        <p:spPr>
          <a:xfrm>
            <a:off x="11439144" y="4169664"/>
            <a:ext cx="393192" cy="3931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INTRODUCTION</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Your guide today</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600200"/>
            <a:ext cx="457200" cy="457200"/>
          </a:xfrm>
          <a:prstGeom prst="ellipse">
            <a:avLst/>
          </a:prstGeom>
          <a:solidFill>
            <a:srgbClr val="35C1B1"/>
          </a:solidFill>
          <a:ln/>
        </p:spPr>
      </p:sp>
      <p:pic>
        <p:nvPicPr>
          <p:cNvPr id="7" name="Image 0" descr="icons/briefcase.png">    </p:cNvPr>
          <p:cNvPicPr>
            <a:picLocks noChangeAspect="1"/>
          </p:cNvPicPr>
          <p:nvPr/>
        </p:nvPicPr>
        <p:blipFill>
          <a:blip r:embed="rId2"/>
          <a:stretch>
            <a:fillRect/>
          </a:stretch>
        </p:blipFill>
        <p:spPr>
          <a:xfrm>
            <a:off x="662940" y="1714500"/>
            <a:ext cx="228600" cy="228600"/>
          </a:xfrm>
          <a:prstGeom prst="rect">
            <a:avLst/>
          </a:prstGeom>
        </p:spPr>
      </p:pic>
      <p:sp>
        <p:nvSpPr>
          <p:cNvPr id="8" name="Text 4"/>
          <p:cNvSpPr/>
          <p:nvPr/>
        </p:nvSpPr>
        <p:spPr>
          <a:xfrm>
            <a:off x="1207008" y="1545336"/>
            <a:ext cx="546811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Senior engineer — 7+ years</a:t>
            </a:r>
            <a:endParaRPr lang="en-US" sz="1450" dirty="0"/>
          </a:p>
        </p:txBody>
      </p:sp>
      <p:sp>
        <p:nvSpPr>
          <p:cNvPr id="9" name="Text 5"/>
          <p:cNvSpPr/>
          <p:nvPr/>
        </p:nvSpPr>
        <p:spPr>
          <a:xfrm>
            <a:off x="1207008" y="1837944"/>
            <a:ext cx="5468112" cy="566928"/>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Distributed systems and fintech; national-scale identity infrastructure.</a:t>
            </a:r>
            <a:endParaRPr lang="en-US" sz="1200" dirty="0"/>
          </a:p>
        </p:txBody>
      </p:sp>
      <p:sp>
        <p:nvSpPr>
          <p:cNvPr id="10" name="Shape 6"/>
          <p:cNvSpPr/>
          <p:nvPr/>
        </p:nvSpPr>
        <p:spPr>
          <a:xfrm>
            <a:off x="548640" y="2715768"/>
            <a:ext cx="457200" cy="457200"/>
          </a:xfrm>
          <a:prstGeom prst="ellipse">
            <a:avLst/>
          </a:prstGeom>
          <a:solidFill>
            <a:srgbClr val="29A9E1"/>
          </a:solidFill>
          <a:ln/>
        </p:spPr>
      </p:sp>
      <p:pic>
        <p:nvPicPr>
          <p:cNvPr id="11" name="Image 1" descr="icons/rocket.png">    </p:cNvPr>
          <p:cNvPicPr>
            <a:picLocks noChangeAspect="1"/>
          </p:cNvPicPr>
          <p:nvPr/>
        </p:nvPicPr>
        <p:blipFill>
          <a:blip r:embed="rId3"/>
          <a:stretch>
            <a:fillRect/>
          </a:stretch>
        </p:blipFill>
        <p:spPr>
          <a:xfrm>
            <a:off x="662940" y="2830068"/>
            <a:ext cx="228600" cy="228600"/>
          </a:xfrm>
          <a:prstGeom prst="rect">
            <a:avLst/>
          </a:prstGeom>
        </p:spPr>
      </p:pic>
      <p:sp>
        <p:nvSpPr>
          <p:cNvPr id="12" name="Text 7"/>
          <p:cNvSpPr/>
          <p:nvPr/>
        </p:nvSpPr>
        <p:spPr>
          <a:xfrm>
            <a:off x="1207008" y="2660904"/>
            <a:ext cx="546811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Group CEO, Innoedge Technologies</a:t>
            </a:r>
            <a:endParaRPr lang="en-US" sz="1450" dirty="0"/>
          </a:p>
        </p:txBody>
      </p:sp>
      <p:sp>
        <p:nvSpPr>
          <p:cNvPr id="13" name="Text 8"/>
          <p:cNvSpPr/>
          <p:nvPr/>
        </p:nvSpPr>
        <p:spPr>
          <a:xfrm>
            <a:off x="1207008" y="2953512"/>
            <a:ext cx="5468112" cy="566928"/>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DapPay, Spendly, ExamPadi and a portfolio of Nigerian tech ventures.</a:t>
            </a:r>
            <a:endParaRPr lang="en-US" sz="1200" dirty="0"/>
          </a:p>
        </p:txBody>
      </p:sp>
      <p:sp>
        <p:nvSpPr>
          <p:cNvPr id="14" name="Shape 9"/>
          <p:cNvSpPr/>
          <p:nvPr/>
        </p:nvSpPr>
        <p:spPr>
          <a:xfrm>
            <a:off x="548640" y="3831336"/>
            <a:ext cx="457200" cy="457200"/>
          </a:xfrm>
          <a:prstGeom prst="ellipse">
            <a:avLst/>
          </a:prstGeom>
          <a:solidFill>
            <a:srgbClr val="151F4A"/>
          </a:solidFill>
          <a:ln/>
        </p:spPr>
      </p:sp>
      <p:pic>
        <p:nvPicPr>
          <p:cNvPr id="15" name="Image 2" descr="icons/robot.png">    </p:cNvPr>
          <p:cNvPicPr>
            <a:picLocks noChangeAspect="1"/>
          </p:cNvPicPr>
          <p:nvPr/>
        </p:nvPicPr>
        <p:blipFill>
          <a:blip r:embed="rId4"/>
          <a:stretch>
            <a:fillRect/>
          </a:stretch>
        </p:blipFill>
        <p:spPr>
          <a:xfrm>
            <a:off x="662940" y="3945636"/>
            <a:ext cx="228600" cy="228600"/>
          </a:xfrm>
          <a:prstGeom prst="rect">
            <a:avLst/>
          </a:prstGeom>
        </p:spPr>
      </p:pic>
      <p:sp>
        <p:nvSpPr>
          <p:cNvPr id="16" name="Text 10"/>
          <p:cNvSpPr/>
          <p:nvPr/>
        </p:nvSpPr>
        <p:spPr>
          <a:xfrm>
            <a:off x="1207008" y="3776472"/>
            <a:ext cx="546811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AI-native operator</a:t>
            </a:r>
            <a:endParaRPr lang="en-US" sz="1450" dirty="0"/>
          </a:p>
        </p:txBody>
      </p:sp>
      <p:sp>
        <p:nvSpPr>
          <p:cNvPr id="17" name="Text 11"/>
          <p:cNvSpPr/>
          <p:nvPr/>
        </p:nvSpPr>
        <p:spPr>
          <a:xfrm>
            <a:off x="1207008" y="4069080"/>
            <a:ext cx="5468112" cy="566928"/>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Runs engineering and business operations daily with AI agents and automation.</a:t>
            </a:r>
            <a:endParaRPr lang="en-US" sz="1200" dirty="0"/>
          </a:p>
        </p:txBody>
      </p:sp>
      <p:sp>
        <p:nvSpPr>
          <p:cNvPr id="18" name="Shape 12"/>
          <p:cNvSpPr/>
          <p:nvPr/>
        </p:nvSpPr>
        <p:spPr>
          <a:xfrm>
            <a:off x="548640" y="4946904"/>
            <a:ext cx="457200" cy="457200"/>
          </a:xfrm>
          <a:prstGeom prst="ellipse">
            <a:avLst/>
          </a:prstGeom>
          <a:solidFill>
            <a:srgbClr val="35C1B1"/>
          </a:solidFill>
          <a:ln/>
        </p:spPr>
      </p:sp>
      <p:pic>
        <p:nvPicPr>
          <p:cNvPr id="19" name="Image 3" descr="icons/handshake.png">    </p:cNvPr>
          <p:cNvPicPr>
            <a:picLocks noChangeAspect="1"/>
          </p:cNvPicPr>
          <p:nvPr/>
        </p:nvPicPr>
        <p:blipFill>
          <a:blip r:embed="rId5"/>
          <a:stretch>
            <a:fillRect/>
          </a:stretch>
        </p:blipFill>
        <p:spPr>
          <a:xfrm>
            <a:off x="662940" y="5061204"/>
            <a:ext cx="228600" cy="228600"/>
          </a:xfrm>
          <a:prstGeom prst="rect">
            <a:avLst/>
          </a:prstGeom>
        </p:spPr>
      </p:pic>
      <p:sp>
        <p:nvSpPr>
          <p:cNvPr id="20" name="Text 13"/>
          <p:cNvSpPr/>
          <p:nvPr/>
        </p:nvSpPr>
        <p:spPr>
          <a:xfrm>
            <a:off x="1207008" y="4892040"/>
            <a:ext cx="546811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Builder, not vendor</a:t>
            </a:r>
            <a:endParaRPr lang="en-US" sz="1450" dirty="0"/>
          </a:p>
        </p:txBody>
      </p:sp>
      <p:sp>
        <p:nvSpPr>
          <p:cNvPr id="21" name="Text 14"/>
          <p:cNvSpPr/>
          <p:nvPr/>
        </p:nvSpPr>
        <p:spPr>
          <a:xfrm>
            <a:off x="1207008" y="5184648"/>
            <a:ext cx="5468112" cy="566928"/>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Nothing today is sponsored — tools I actually use, free options first.</a:t>
            </a:r>
            <a:endParaRPr lang="en-US" sz="1200" dirty="0"/>
          </a:p>
        </p:txBody>
      </p:sp>
      <p:sp>
        <p:nvSpPr>
          <p:cNvPr id="22" name="Shape 15"/>
          <p:cNvSpPr/>
          <p:nvPr/>
        </p:nvSpPr>
        <p:spPr>
          <a:xfrm>
            <a:off x="6995160" y="1508760"/>
            <a:ext cx="4663440" cy="4434840"/>
          </a:xfrm>
          <a:prstGeom prst="roundRect">
            <a:avLst>
              <a:gd name="adj" fmla="val 1856"/>
            </a:avLst>
          </a:prstGeom>
          <a:solidFill>
            <a:srgbClr val="151F4A"/>
          </a:solidFill>
          <a:ln/>
        </p:spPr>
      </p:sp>
      <p:sp>
        <p:nvSpPr>
          <p:cNvPr id="23" name="Text 16"/>
          <p:cNvSpPr/>
          <p:nvPr/>
        </p:nvSpPr>
        <p:spPr>
          <a:xfrm>
            <a:off x="7315200" y="1828800"/>
            <a:ext cx="4023360" cy="274320"/>
          </a:xfrm>
          <a:prstGeom prst="rect">
            <a:avLst/>
          </a:prstGeom>
          <a:noFill/>
          <a:ln/>
        </p:spPr>
        <p:txBody>
          <a:bodyPr wrap="square" lIns="0" tIns="0" rIns="0" bIns="0" rtlCol="0" anchor="ctr"/>
          <a:lstStyle/>
          <a:p>
            <a:pPr indent="0" marL="0">
              <a:buNone/>
            </a:pPr>
            <a:r>
              <a:rPr lang="en-US" sz="1150" b="1" spc="200" kern="0" dirty="0">
                <a:solidFill>
                  <a:srgbClr val="F0C93C"/>
                </a:solidFill>
                <a:latin typeface="Arial" pitchFamily="34" charset="0"/>
                <a:ea typeface="Arial" pitchFamily="34" charset="-122"/>
                <a:cs typeface="Arial" pitchFamily="34" charset="-120"/>
              </a:rPr>
              <a:t>TODAY'S PROMISE</a:t>
            </a:r>
            <a:endParaRPr lang="en-US" sz="1150" dirty="0"/>
          </a:p>
        </p:txBody>
      </p:sp>
      <p:sp>
        <p:nvSpPr>
          <p:cNvPr id="24" name="Text 17"/>
          <p:cNvSpPr/>
          <p:nvPr/>
        </p:nvSpPr>
        <p:spPr>
          <a:xfrm>
            <a:off x="7315200" y="2240280"/>
            <a:ext cx="4069080" cy="2743200"/>
          </a:xfrm>
          <a:prstGeom prst="rect">
            <a:avLst/>
          </a:prstGeom>
          <a:noFill/>
          <a:ln/>
        </p:spPr>
        <p:txBody>
          <a:bodyPr wrap="square" lIns="0" tIns="0" rIns="0" bIns="0" rtlCol="0" anchor="ctr"/>
          <a:lstStyle/>
          <a:p>
            <a:pPr marL="177800" indent="-1778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prompt playbook you can use tomorrow</a:t>
            </a:r>
            <a:endParaRPr lang="en-US" sz="1450" dirty="0"/>
          </a:p>
          <a:p>
            <a:pPr marL="177800" indent="-1778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An AI toolbox mapped to branding, sales, leads and operations</a:t>
            </a:r>
            <a:endParaRPr lang="en-US" sz="1450" dirty="0"/>
          </a:p>
          <a:p>
            <a:pPr marL="177800" indent="-1778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personal website you can ship this week — for free</a:t>
            </a:r>
            <a:endParaRPr lang="en-US" sz="1450" dirty="0"/>
          </a:p>
          <a:p>
            <a:pPr marL="177800" indent="-177800">
              <a:spcAft>
                <a:spcPts val="1200"/>
              </a:spcAft>
              <a:buSzPct val="100000"/>
              <a:buChar char="•"/>
            </a:pPr>
            <a:r>
              <a:rPr lang="en-US" sz="1450" dirty="0">
                <a:solidFill>
                  <a:srgbClr val="FFFFFF"/>
                </a:solidFill>
                <a:latin typeface="Calibri" pitchFamily="34" charset="0"/>
                <a:ea typeface="Calibri" pitchFamily="34" charset="-122"/>
                <a:cs typeface="Calibri" pitchFamily="34" charset="-120"/>
              </a:rPr>
              <a:t>A 30-day plan to put it all to work</a:t>
            </a:r>
            <a:endParaRPr lang="en-US" sz="1450" dirty="0"/>
          </a:p>
        </p:txBody>
      </p:sp>
      <p:sp>
        <p:nvSpPr>
          <p:cNvPr id="25" name="Text 18"/>
          <p:cNvSpPr/>
          <p:nvPr/>
        </p:nvSpPr>
        <p:spPr>
          <a:xfrm>
            <a:off x="7315200" y="5349240"/>
            <a:ext cx="4023360" cy="365760"/>
          </a:xfrm>
          <a:prstGeom prst="rect">
            <a:avLst/>
          </a:prstGeom>
          <a:noFill/>
          <a:ln/>
        </p:spPr>
        <p:txBody>
          <a:bodyPr wrap="square" lIns="0" tIns="0" rIns="0" bIns="0" rtlCol="0" anchor="ctr"/>
          <a:lstStyle/>
          <a:p>
            <a:pPr indent="0" marL="0">
              <a:buNone/>
            </a:pPr>
            <a:r>
              <a:rPr lang="en-US" sz="1250" i="1" dirty="0">
                <a:solidFill>
                  <a:srgbClr val="C9D4EE"/>
                </a:solidFill>
                <a:latin typeface="Calibri" pitchFamily="34" charset="0"/>
                <a:ea typeface="Calibri" pitchFamily="34" charset="-122"/>
                <a:cs typeface="Calibri" pitchFamily="34" charset="-120"/>
              </a:rPr>
              <a:t>Slides + every link: scan the QR at the end.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ROADMAP</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Where we're going in the next hour</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3429000" cy="2103120"/>
          </a:xfrm>
          <a:prstGeom prst="roundRect">
            <a:avLst>
              <a:gd name="adj" fmla="val 3913"/>
            </a:avLst>
          </a:prstGeom>
          <a:solidFill>
            <a:srgbClr val="F5F8FC"/>
          </a:solidFill>
          <a:ln w="12700">
            <a:solidFill>
              <a:srgbClr val="E1E6F0"/>
            </a:solidFill>
            <a:prstDash val="solid"/>
          </a:ln>
        </p:spPr>
      </p:sp>
      <p:sp>
        <p:nvSpPr>
          <p:cNvPr id="7" name="Text 4"/>
          <p:cNvSpPr/>
          <p:nvPr/>
        </p:nvSpPr>
        <p:spPr>
          <a:xfrm>
            <a:off x="804672" y="1664208"/>
            <a:ext cx="1097280" cy="502920"/>
          </a:xfrm>
          <a:prstGeom prst="rect">
            <a:avLst/>
          </a:prstGeom>
          <a:noFill/>
          <a:ln/>
        </p:spPr>
        <p:txBody>
          <a:bodyPr wrap="square" lIns="0" tIns="0" rIns="0" bIns="0" rtlCol="0" anchor="ctr"/>
          <a:lstStyle/>
          <a:p>
            <a:pPr indent="0" marL="0">
              <a:buNone/>
            </a:pPr>
            <a:r>
              <a:rPr lang="en-US" sz="2600" b="1" dirty="0">
                <a:solidFill>
                  <a:srgbClr val="35C1B1"/>
                </a:solidFill>
                <a:latin typeface="Arial" pitchFamily="34" charset="0"/>
                <a:ea typeface="Arial" pitchFamily="34" charset="-122"/>
                <a:cs typeface="Arial" pitchFamily="34" charset="-120"/>
              </a:rPr>
              <a:t>01</a:t>
            </a:r>
            <a:endParaRPr lang="en-US" sz="2600" dirty="0"/>
          </a:p>
        </p:txBody>
      </p:sp>
      <p:sp>
        <p:nvSpPr>
          <p:cNvPr id="8" name="Text 5"/>
          <p:cNvSpPr/>
          <p:nvPr/>
        </p:nvSpPr>
        <p:spPr>
          <a:xfrm>
            <a:off x="804672" y="2240280"/>
            <a:ext cx="292608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The evolution</a:t>
            </a:r>
            <a:endParaRPr lang="en-US" sz="1550" dirty="0"/>
          </a:p>
        </p:txBody>
      </p:sp>
      <p:sp>
        <p:nvSpPr>
          <p:cNvPr id="9" name="Text 6"/>
          <p:cNvSpPr/>
          <p:nvPr/>
        </p:nvSpPr>
        <p:spPr>
          <a:xfrm>
            <a:off x="804672" y="2606040"/>
            <a:ext cx="2926080" cy="7772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How work, communication — and now intelligence — keep shifting.</a:t>
            </a:r>
            <a:endParaRPr lang="en-US" sz="1200" dirty="0"/>
          </a:p>
        </p:txBody>
      </p:sp>
      <p:sp>
        <p:nvSpPr>
          <p:cNvPr id="10" name="Shape 7"/>
          <p:cNvSpPr/>
          <p:nvPr/>
        </p:nvSpPr>
        <p:spPr>
          <a:xfrm>
            <a:off x="4379976" y="1463040"/>
            <a:ext cx="3429000" cy="2103120"/>
          </a:xfrm>
          <a:prstGeom prst="roundRect">
            <a:avLst>
              <a:gd name="adj" fmla="val 3913"/>
            </a:avLst>
          </a:prstGeom>
          <a:solidFill>
            <a:srgbClr val="F5F8FC"/>
          </a:solidFill>
          <a:ln w="12700">
            <a:solidFill>
              <a:srgbClr val="E1E6F0"/>
            </a:solidFill>
            <a:prstDash val="solid"/>
          </a:ln>
        </p:spPr>
      </p:sp>
      <p:sp>
        <p:nvSpPr>
          <p:cNvPr id="11" name="Text 8"/>
          <p:cNvSpPr/>
          <p:nvPr/>
        </p:nvSpPr>
        <p:spPr>
          <a:xfrm>
            <a:off x="4636008" y="1664208"/>
            <a:ext cx="1097280" cy="502920"/>
          </a:xfrm>
          <a:prstGeom prst="rect">
            <a:avLst/>
          </a:prstGeom>
          <a:noFill/>
          <a:ln/>
        </p:spPr>
        <p:txBody>
          <a:bodyPr wrap="square" lIns="0" tIns="0" rIns="0" bIns="0" rtlCol="0" anchor="ctr"/>
          <a:lstStyle/>
          <a:p>
            <a:pPr indent="0" marL="0">
              <a:buNone/>
            </a:pPr>
            <a:r>
              <a:rPr lang="en-US" sz="2600" b="1" dirty="0">
                <a:solidFill>
                  <a:srgbClr val="35C1B1"/>
                </a:solidFill>
                <a:latin typeface="Arial" pitchFamily="34" charset="0"/>
                <a:ea typeface="Arial" pitchFamily="34" charset="-122"/>
                <a:cs typeface="Arial" pitchFamily="34" charset="-120"/>
              </a:rPr>
              <a:t>02</a:t>
            </a:r>
            <a:endParaRPr lang="en-US" sz="2600" dirty="0"/>
          </a:p>
        </p:txBody>
      </p:sp>
      <p:sp>
        <p:nvSpPr>
          <p:cNvPr id="12" name="Text 9"/>
          <p:cNvSpPr/>
          <p:nvPr/>
        </p:nvSpPr>
        <p:spPr>
          <a:xfrm>
            <a:off x="4636008" y="2240280"/>
            <a:ext cx="292608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The big four assistants</a:t>
            </a:r>
            <a:endParaRPr lang="en-US" sz="1550" dirty="0"/>
          </a:p>
        </p:txBody>
      </p:sp>
      <p:sp>
        <p:nvSpPr>
          <p:cNvPr id="13" name="Text 10"/>
          <p:cNvSpPr/>
          <p:nvPr/>
        </p:nvSpPr>
        <p:spPr>
          <a:xfrm>
            <a:off x="4636008" y="2606040"/>
            <a:ext cx="2926080" cy="7772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Claude, ChatGPT, Gemini, Grok — what they cost and which to pick.</a:t>
            </a:r>
            <a:endParaRPr lang="en-US" sz="1200" dirty="0"/>
          </a:p>
        </p:txBody>
      </p:sp>
      <p:sp>
        <p:nvSpPr>
          <p:cNvPr id="14" name="Shape 11"/>
          <p:cNvSpPr/>
          <p:nvPr/>
        </p:nvSpPr>
        <p:spPr>
          <a:xfrm>
            <a:off x="8211312" y="1463040"/>
            <a:ext cx="3429000" cy="2103120"/>
          </a:xfrm>
          <a:prstGeom prst="roundRect">
            <a:avLst>
              <a:gd name="adj" fmla="val 3913"/>
            </a:avLst>
          </a:prstGeom>
          <a:solidFill>
            <a:srgbClr val="F5F8FC"/>
          </a:solidFill>
          <a:ln w="12700">
            <a:solidFill>
              <a:srgbClr val="E1E6F0"/>
            </a:solidFill>
            <a:prstDash val="solid"/>
          </a:ln>
        </p:spPr>
      </p:sp>
      <p:sp>
        <p:nvSpPr>
          <p:cNvPr id="15" name="Text 12"/>
          <p:cNvSpPr/>
          <p:nvPr/>
        </p:nvSpPr>
        <p:spPr>
          <a:xfrm>
            <a:off x="8467344" y="1664208"/>
            <a:ext cx="1097280" cy="502920"/>
          </a:xfrm>
          <a:prstGeom prst="rect">
            <a:avLst/>
          </a:prstGeom>
          <a:noFill/>
          <a:ln/>
        </p:spPr>
        <p:txBody>
          <a:bodyPr wrap="square" lIns="0" tIns="0" rIns="0" bIns="0" rtlCol="0" anchor="ctr"/>
          <a:lstStyle/>
          <a:p>
            <a:pPr indent="0" marL="0">
              <a:buNone/>
            </a:pPr>
            <a:r>
              <a:rPr lang="en-US" sz="2600" b="1" dirty="0">
                <a:solidFill>
                  <a:srgbClr val="35C1B1"/>
                </a:solidFill>
                <a:latin typeface="Arial" pitchFamily="34" charset="0"/>
                <a:ea typeface="Arial" pitchFamily="34" charset="-122"/>
                <a:cs typeface="Arial" pitchFamily="34" charset="-120"/>
              </a:rPr>
              <a:t>03</a:t>
            </a:r>
            <a:endParaRPr lang="en-US" sz="2600" dirty="0"/>
          </a:p>
        </p:txBody>
      </p:sp>
      <p:sp>
        <p:nvSpPr>
          <p:cNvPr id="16" name="Text 13"/>
          <p:cNvSpPr/>
          <p:nvPr/>
        </p:nvSpPr>
        <p:spPr>
          <a:xfrm>
            <a:off x="8467344" y="2240280"/>
            <a:ext cx="292608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Prompt engineering</a:t>
            </a:r>
            <a:endParaRPr lang="en-US" sz="1550" dirty="0"/>
          </a:p>
        </p:txBody>
      </p:sp>
      <p:sp>
        <p:nvSpPr>
          <p:cNvPr id="17" name="Text 14"/>
          <p:cNvSpPr/>
          <p:nvPr/>
        </p:nvSpPr>
        <p:spPr>
          <a:xfrm>
            <a:off x="8467344" y="2606040"/>
            <a:ext cx="2926080" cy="7772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Roles, right vs wrong prompts, and the ladder to agents &amp; workflows.</a:t>
            </a:r>
            <a:endParaRPr lang="en-US" sz="1200" dirty="0"/>
          </a:p>
        </p:txBody>
      </p:sp>
      <p:sp>
        <p:nvSpPr>
          <p:cNvPr id="18" name="Shape 15"/>
          <p:cNvSpPr/>
          <p:nvPr/>
        </p:nvSpPr>
        <p:spPr>
          <a:xfrm>
            <a:off x="548640" y="3794760"/>
            <a:ext cx="3429000" cy="2103120"/>
          </a:xfrm>
          <a:prstGeom prst="roundRect">
            <a:avLst>
              <a:gd name="adj" fmla="val 3913"/>
            </a:avLst>
          </a:prstGeom>
          <a:solidFill>
            <a:srgbClr val="F5F8FC"/>
          </a:solidFill>
          <a:ln w="12700">
            <a:solidFill>
              <a:srgbClr val="E1E6F0"/>
            </a:solidFill>
            <a:prstDash val="solid"/>
          </a:ln>
        </p:spPr>
      </p:sp>
      <p:sp>
        <p:nvSpPr>
          <p:cNvPr id="19" name="Text 16"/>
          <p:cNvSpPr/>
          <p:nvPr/>
        </p:nvSpPr>
        <p:spPr>
          <a:xfrm>
            <a:off x="804672" y="3995928"/>
            <a:ext cx="1097280" cy="502920"/>
          </a:xfrm>
          <a:prstGeom prst="rect">
            <a:avLst/>
          </a:prstGeom>
          <a:noFill/>
          <a:ln/>
        </p:spPr>
        <p:txBody>
          <a:bodyPr wrap="square" lIns="0" tIns="0" rIns="0" bIns="0" rtlCol="0" anchor="ctr"/>
          <a:lstStyle/>
          <a:p>
            <a:pPr indent="0" marL="0">
              <a:buNone/>
            </a:pPr>
            <a:r>
              <a:rPr lang="en-US" sz="2600" b="1" dirty="0">
                <a:solidFill>
                  <a:srgbClr val="35C1B1"/>
                </a:solidFill>
                <a:latin typeface="Arial" pitchFamily="34" charset="0"/>
                <a:ea typeface="Arial" pitchFamily="34" charset="-122"/>
                <a:cs typeface="Arial" pitchFamily="34" charset="-120"/>
              </a:rPr>
              <a:t>04</a:t>
            </a:r>
            <a:endParaRPr lang="en-US" sz="2600" dirty="0"/>
          </a:p>
        </p:txBody>
      </p:sp>
      <p:sp>
        <p:nvSpPr>
          <p:cNvPr id="20" name="Text 17"/>
          <p:cNvSpPr/>
          <p:nvPr/>
        </p:nvSpPr>
        <p:spPr>
          <a:xfrm>
            <a:off x="804672" y="4572000"/>
            <a:ext cx="292608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The business toolbox</a:t>
            </a:r>
            <a:endParaRPr lang="en-US" sz="1550" dirty="0"/>
          </a:p>
        </p:txBody>
      </p:sp>
      <p:sp>
        <p:nvSpPr>
          <p:cNvPr id="21" name="Text 18"/>
          <p:cNvSpPr/>
          <p:nvPr/>
        </p:nvSpPr>
        <p:spPr>
          <a:xfrm>
            <a:off x="804672" y="4937760"/>
            <a:ext cx="2926080" cy="7772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Branding, content, sales, research, lead gen and automation tools.</a:t>
            </a:r>
            <a:endParaRPr lang="en-US" sz="1200" dirty="0"/>
          </a:p>
        </p:txBody>
      </p:sp>
      <p:sp>
        <p:nvSpPr>
          <p:cNvPr id="22" name="Shape 19"/>
          <p:cNvSpPr/>
          <p:nvPr/>
        </p:nvSpPr>
        <p:spPr>
          <a:xfrm>
            <a:off x="4379976" y="3794760"/>
            <a:ext cx="3429000" cy="2103120"/>
          </a:xfrm>
          <a:prstGeom prst="roundRect">
            <a:avLst>
              <a:gd name="adj" fmla="val 3913"/>
            </a:avLst>
          </a:prstGeom>
          <a:solidFill>
            <a:srgbClr val="F5F8FC"/>
          </a:solidFill>
          <a:ln w="12700">
            <a:solidFill>
              <a:srgbClr val="E1E6F0"/>
            </a:solidFill>
            <a:prstDash val="solid"/>
          </a:ln>
        </p:spPr>
      </p:sp>
      <p:sp>
        <p:nvSpPr>
          <p:cNvPr id="23" name="Text 20"/>
          <p:cNvSpPr/>
          <p:nvPr/>
        </p:nvSpPr>
        <p:spPr>
          <a:xfrm>
            <a:off x="4636008" y="3995928"/>
            <a:ext cx="1097280" cy="502920"/>
          </a:xfrm>
          <a:prstGeom prst="rect">
            <a:avLst/>
          </a:prstGeom>
          <a:noFill/>
          <a:ln/>
        </p:spPr>
        <p:txBody>
          <a:bodyPr wrap="square" lIns="0" tIns="0" rIns="0" bIns="0" rtlCol="0" anchor="ctr"/>
          <a:lstStyle/>
          <a:p>
            <a:pPr indent="0" marL="0">
              <a:buNone/>
            </a:pPr>
            <a:r>
              <a:rPr lang="en-US" sz="2600" b="1" dirty="0">
                <a:solidFill>
                  <a:srgbClr val="35C1B1"/>
                </a:solidFill>
                <a:latin typeface="Arial" pitchFamily="34" charset="0"/>
                <a:ea typeface="Arial" pitchFamily="34" charset="-122"/>
                <a:cs typeface="Arial" pitchFamily="34" charset="-120"/>
              </a:rPr>
              <a:t>05</a:t>
            </a:r>
            <a:endParaRPr lang="en-US" sz="2600" dirty="0"/>
          </a:p>
        </p:txBody>
      </p:sp>
      <p:sp>
        <p:nvSpPr>
          <p:cNvPr id="24" name="Text 21"/>
          <p:cNvSpPr/>
          <p:nvPr/>
        </p:nvSpPr>
        <p:spPr>
          <a:xfrm>
            <a:off x="4636008" y="4572000"/>
            <a:ext cx="292608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Build &amp; ship</a:t>
            </a:r>
            <a:endParaRPr lang="en-US" sz="1550" dirty="0"/>
          </a:p>
        </p:txBody>
      </p:sp>
      <p:sp>
        <p:nvSpPr>
          <p:cNvPr id="25" name="Text 22"/>
          <p:cNvSpPr/>
          <p:nvPr/>
        </p:nvSpPr>
        <p:spPr>
          <a:xfrm>
            <a:off x="4636008" y="4937760"/>
            <a:ext cx="2926080" cy="7772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A personal website built with AI and hosted free — this week.</a:t>
            </a:r>
            <a:endParaRPr lang="en-US" sz="1200" dirty="0"/>
          </a:p>
        </p:txBody>
      </p:sp>
      <p:sp>
        <p:nvSpPr>
          <p:cNvPr id="26" name="Shape 23"/>
          <p:cNvSpPr/>
          <p:nvPr/>
        </p:nvSpPr>
        <p:spPr>
          <a:xfrm>
            <a:off x="8211312" y="3794760"/>
            <a:ext cx="3429000" cy="2103120"/>
          </a:xfrm>
          <a:prstGeom prst="roundRect">
            <a:avLst>
              <a:gd name="adj" fmla="val 3913"/>
            </a:avLst>
          </a:prstGeom>
          <a:solidFill>
            <a:srgbClr val="F5F8FC"/>
          </a:solidFill>
          <a:ln w="12700">
            <a:solidFill>
              <a:srgbClr val="E1E6F0"/>
            </a:solidFill>
            <a:prstDash val="solid"/>
          </a:ln>
        </p:spPr>
      </p:sp>
      <p:sp>
        <p:nvSpPr>
          <p:cNvPr id="27" name="Text 24"/>
          <p:cNvSpPr/>
          <p:nvPr/>
        </p:nvSpPr>
        <p:spPr>
          <a:xfrm>
            <a:off x="8467344" y="3995928"/>
            <a:ext cx="1097280" cy="502920"/>
          </a:xfrm>
          <a:prstGeom prst="rect">
            <a:avLst/>
          </a:prstGeom>
          <a:noFill/>
          <a:ln/>
        </p:spPr>
        <p:txBody>
          <a:bodyPr wrap="square" lIns="0" tIns="0" rIns="0" bIns="0" rtlCol="0" anchor="ctr"/>
          <a:lstStyle/>
          <a:p>
            <a:pPr indent="0" marL="0">
              <a:buNone/>
            </a:pPr>
            <a:r>
              <a:rPr lang="en-US" sz="2600" b="1" dirty="0">
                <a:solidFill>
                  <a:srgbClr val="35C1B1"/>
                </a:solidFill>
                <a:latin typeface="Arial" pitchFamily="34" charset="0"/>
                <a:ea typeface="Arial" pitchFamily="34" charset="-122"/>
                <a:cs typeface="Arial" pitchFamily="34" charset="-120"/>
              </a:rPr>
              <a:t>06</a:t>
            </a:r>
            <a:endParaRPr lang="en-US" sz="2600" dirty="0"/>
          </a:p>
        </p:txBody>
      </p:sp>
      <p:sp>
        <p:nvSpPr>
          <p:cNvPr id="28" name="Text 25"/>
          <p:cNvSpPr/>
          <p:nvPr/>
        </p:nvSpPr>
        <p:spPr>
          <a:xfrm>
            <a:off x="8467344" y="4572000"/>
            <a:ext cx="292608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Scale &amp; act</a:t>
            </a:r>
            <a:endParaRPr lang="en-US" sz="1550" dirty="0"/>
          </a:p>
        </p:txBody>
      </p:sp>
      <p:sp>
        <p:nvSpPr>
          <p:cNvPr id="29" name="Text 26"/>
          <p:cNvSpPr/>
          <p:nvPr/>
        </p:nvSpPr>
        <p:spPr>
          <a:xfrm>
            <a:off x="8467344" y="4937760"/>
            <a:ext cx="2926080" cy="7772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Scaling with AI, free vs paid, and your 30-day action plan.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914400"/>
            <a:ext cx="4114800" cy="1554480"/>
          </a:xfrm>
          <a:prstGeom prst="rect">
            <a:avLst/>
          </a:prstGeom>
          <a:noFill/>
          <a:ln/>
        </p:spPr>
        <p:txBody>
          <a:bodyPr wrap="square" lIns="0" tIns="0" rIns="0" bIns="0" rtlCol="0" anchor="ctr"/>
          <a:lstStyle/>
          <a:p>
            <a:pPr indent="0" marL="0">
              <a:buNone/>
            </a:pPr>
            <a:r>
              <a:rPr lang="en-US" sz="9200" b="1" dirty="0">
                <a:solidFill>
                  <a:srgbClr val="F0C93C"/>
                </a:solidFill>
                <a:latin typeface="Arial" pitchFamily="34" charset="0"/>
                <a:ea typeface="Arial" pitchFamily="34" charset="-122"/>
                <a:cs typeface="Arial" pitchFamily="34" charset="-120"/>
              </a:rPr>
              <a:t>01</a:t>
            </a:r>
            <a:endParaRPr lang="en-US" sz="9200" dirty="0"/>
          </a:p>
        </p:txBody>
      </p:sp>
      <p:sp>
        <p:nvSpPr>
          <p:cNvPr id="3" name="Text 1"/>
          <p:cNvSpPr/>
          <p:nvPr/>
        </p:nvSpPr>
        <p:spPr>
          <a:xfrm>
            <a:off x="685800" y="2788920"/>
            <a:ext cx="9692640" cy="12344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From letters to LLMs</a:t>
            </a:r>
            <a:endParaRPr lang="en-US" sz="3800" dirty="0"/>
          </a:p>
        </p:txBody>
      </p:sp>
      <p:sp>
        <p:nvSpPr>
          <p:cNvPr id="4" name="Text 2"/>
          <p:cNvSpPr/>
          <p:nvPr/>
        </p:nvSpPr>
        <p:spPr>
          <a:xfrm>
            <a:off x="685800" y="4114800"/>
            <a:ext cx="8412480" cy="868680"/>
          </a:xfrm>
          <a:prstGeom prst="rect">
            <a:avLst/>
          </a:prstGeom>
          <a:noFill/>
          <a:ln/>
        </p:spPr>
        <p:txBody>
          <a:bodyPr wrap="square" lIns="0" tIns="0" rIns="0" bIns="0" rtlCol="0" anchor="ctr"/>
          <a:lstStyle/>
          <a:p>
            <a:pPr indent="0" marL="0">
              <a:buNone/>
            </a:pPr>
            <a:r>
              <a:rPr lang="en-US" sz="1700" dirty="0">
                <a:solidFill>
                  <a:srgbClr val="C9D4EE"/>
                </a:solidFill>
                <a:latin typeface="Calibri" pitchFamily="34" charset="0"/>
                <a:ea typeface="Calibri" pitchFamily="34" charset="-122"/>
                <a:cs typeface="Calibri" pitchFamily="34" charset="-120"/>
              </a:rPr>
              <a:t>The evolution of work and communication — and why this moment is different.</a:t>
            </a:r>
            <a:endParaRPr lang="en-US" sz="1700" dirty="0"/>
          </a:p>
        </p:txBody>
      </p:sp>
      <p:sp>
        <p:nvSpPr>
          <p:cNvPr id="5" name="Shape 3"/>
          <p:cNvSpPr/>
          <p:nvPr/>
        </p:nvSpPr>
        <p:spPr>
          <a:xfrm>
            <a:off x="10378440" y="914400"/>
            <a:ext cx="1051560" cy="1051560"/>
          </a:xfrm>
          <a:prstGeom prst="ellipse">
            <a:avLst/>
          </a:prstGeom>
          <a:solidFill>
            <a:srgbClr val="35C1B1"/>
          </a:solidFill>
          <a:ln/>
        </p:spPr>
      </p:sp>
      <p:pic>
        <p:nvPicPr>
          <p:cNvPr id="6" name="Image 0" descr="icons/timeline.png">    </p:cNvPr>
          <p:cNvPicPr>
            <a:picLocks noChangeAspect="1"/>
          </p:cNvPicPr>
          <p:nvPr/>
        </p:nvPicPr>
        <p:blipFill>
          <a:blip r:embed="rId2"/>
          <a:stretch>
            <a:fillRect/>
          </a:stretch>
        </p:blipFill>
        <p:spPr>
          <a:xfrm>
            <a:off x="10641330" y="1177290"/>
            <a:ext cx="525780" cy="5257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EVOLUTION OF WORK &amp; COMMUNICATION</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Every era collapsed distance — and time</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868680" y="3401568"/>
            <a:ext cx="10469880" cy="0"/>
          </a:xfrm>
          <a:prstGeom prst="line">
            <a:avLst/>
          </a:prstGeom>
          <a:noFill/>
          <a:ln w="31750">
            <a:solidFill>
              <a:srgbClr val="E1E6F0"/>
            </a:solidFill>
            <a:prstDash val="solid"/>
          </a:ln>
        </p:spPr>
      </p:sp>
      <p:sp>
        <p:nvSpPr>
          <p:cNvPr id="7" name="Text 4"/>
          <p:cNvSpPr/>
          <p:nvPr/>
        </p:nvSpPr>
        <p:spPr>
          <a:xfrm>
            <a:off x="429768" y="2331720"/>
            <a:ext cx="1554480" cy="274320"/>
          </a:xfrm>
          <a:prstGeom prst="rect">
            <a:avLst/>
          </a:prstGeom>
          <a:noFill/>
          <a:ln/>
        </p:spPr>
        <p:txBody>
          <a:bodyPr wrap="square" lIns="0" tIns="0" rIns="0" bIns="0" rtlCol="0" anchor="ctr"/>
          <a:lstStyle/>
          <a:p>
            <a:pPr algn="ctr" indent="0" marL="0">
              <a:buNone/>
            </a:pPr>
            <a:r>
              <a:rPr lang="en-US" sz="1400" b="1" dirty="0">
                <a:solidFill>
                  <a:srgbClr val="29A9E1"/>
                </a:solidFill>
                <a:latin typeface="Arial" pitchFamily="34" charset="0"/>
                <a:ea typeface="Arial" pitchFamily="34" charset="-122"/>
                <a:cs typeface="Arial" pitchFamily="34" charset="-120"/>
              </a:rPr>
              <a:t>1800s</a:t>
            </a:r>
            <a:endParaRPr lang="en-US" sz="1400" dirty="0"/>
          </a:p>
        </p:txBody>
      </p:sp>
      <p:sp>
        <p:nvSpPr>
          <p:cNvPr id="8" name="Shape 5"/>
          <p:cNvSpPr/>
          <p:nvPr/>
        </p:nvSpPr>
        <p:spPr>
          <a:xfrm>
            <a:off x="868680" y="3063240"/>
            <a:ext cx="676656" cy="676656"/>
          </a:xfrm>
          <a:prstGeom prst="ellipse">
            <a:avLst/>
          </a:prstGeom>
          <a:solidFill>
            <a:srgbClr val="151F4A"/>
          </a:solidFill>
          <a:ln/>
        </p:spPr>
      </p:sp>
      <p:pic>
        <p:nvPicPr>
          <p:cNvPr id="9" name="Image 0" descr="icons/letter.png">    </p:cNvPr>
          <p:cNvPicPr>
            <a:picLocks noChangeAspect="1"/>
          </p:cNvPicPr>
          <p:nvPr/>
        </p:nvPicPr>
        <p:blipFill>
          <a:blip r:embed="rId2"/>
          <a:stretch>
            <a:fillRect/>
          </a:stretch>
        </p:blipFill>
        <p:spPr>
          <a:xfrm>
            <a:off x="1037844" y="3232404"/>
            <a:ext cx="338328" cy="338328"/>
          </a:xfrm>
          <a:prstGeom prst="rect">
            <a:avLst/>
          </a:prstGeom>
        </p:spPr>
      </p:pic>
      <p:sp>
        <p:nvSpPr>
          <p:cNvPr id="10" name="Text 6"/>
          <p:cNvSpPr/>
          <p:nvPr/>
        </p:nvSpPr>
        <p:spPr>
          <a:xfrm>
            <a:off x="274320" y="3977640"/>
            <a:ext cx="1865376" cy="548640"/>
          </a:xfrm>
          <a:prstGeom prst="rect">
            <a:avLst/>
          </a:prstGeom>
          <a:noFill/>
          <a:ln/>
        </p:spPr>
        <p:txBody>
          <a:bodyPr wrap="square" lIns="0" tIns="0" rIns="0" bIns="0" rtlCol="0" anchor="ctr"/>
          <a:lstStyle/>
          <a:p>
            <a:pPr algn="ctr" indent="0" marL="0">
              <a:buNone/>
            </a:pPr>
            <a:r>
              <a:rPr lang="en-US" sz="1300" b="1" dirty="0">
                <a:solidFill>
                  <a:srgbClr val="151F4A"/>
                </a:solidFill>
                <a:latin typeface="Arial" pitchFamily="34" charset="0"/>
                <a:ea typeface="Arial" pitchFamily="34" charset="-122"/>
                <a:cs typeface="Arial" pitchFamily="34" charset="-120"/>
              </a:rPr>
              <a:t>Letters &amp; telegraph</a:t>
            </a:r>
            <a:endParaRPr lang="en-US" sz="1300" dirty="0"/>
          </a:p>
        </p:txBody>
      </p:sp>
      <p:sp>
        <p:nvSpPr>
          <p:cNvPr id="11" name="Text 7"/>
          <p:cNvSpPr/>
          <p:nvPr/>
        </p:nvSpPr>
        <p:spPr>
          <a:xfrm>
            <a:off x="274320" y="4526280"/>
            <a:ext cx="1865376" cy="59436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Weeks to reach a customer</a:t>
            </a:r>
            <a:endParaRPr lang="en-US" sz="1100" dirty="0"/>
          </a:p>
        </p:txBody>
      </p:sp>
      <p:sp>
        <p:nvSpPr>
          <p:cNvPr id="12" name="Text 8"/>
          <p:cNvSpPr/>
          <p:nvPr/>
        </p:nvSpPr>
        <p:spPr>
          <a:xfrm>
            <a:off x="2386584" y="2331720"/>
            <a:ext cx="1554480" cy="274320"/>
          </a:xfrm>
          <a:prstGeom prst="rect">
            <a:avLst/>
          </a:prstGeom>
          <a:noFill/>
          <a:ln/>
        </p:spPr>
        <p:txBody>
          <a:bodyPr wrap="square" lIns="0" tIns="0" rIns="0" bIns="0" rtlCol="0" anchor="ctr"/>
          <a:lstStyle/>
          <a:p>
            <a:pPr algn="ctr" indent="0" marL="0">
              <a:buNone/>
            </a:pPr>
            <a:r>
              <a:rPr lang="en-US" sz="1400" b="1" dirty="0">
                <a:solidFill>
                  <a:srgbClr val="29A9E1"/>
                </a:solidFill>
                <a:latin typeface="Arial" pitchFamily="34" charset="0"/>
                <a:ea typeface="Arial" pitchFamily="34" charset="-122"/>
                <a:cs typeface="Arial" pitchFamily="34" charset="-120"/>
              </a:rPr>
              <a:t>1900s</a:t>
            </a:r>
            <a:endParaRPr lang="en-US" sz="1400" dirty="0"/>
          </a:p>
        </p:txBody>
      </p:sp>
      <p:sp>
        <p:nvSpPr>
          <p:cNvPr id="13" name="Shape 9"/>
          <p:cNvSpPr/>
          <p:nvPr/>
        </p:nvSpPr>
        <p:spPr>
          <a:xfrm>
            <a:off x="2825496" y="3063240"/>
            <a:ext cx="676656" cy="676656"/>
          </a:xfrm>
          <a:prstGeom prst="ellipse">
            <a:avLst/>
          </a:prstGeom>
          <a:solidFill>
            <a:srgbClr val="151F4A"/>
          </a:solidFill>
          <a:ln/>
        </p:spPr>
      </p:sp>
      <p:pic>
        <p:nvPicPr>
          <p:cNvPr id="14" name="Image 1" descr="icons/phone.png">    </p:cNvPr>
          <p:cNvPicPr>
            <a:picLocks noChangeAspect="1"/>
          </p:cNvPicPr>
          <p:nvPr/>
        </p:nvPicPr>
        <p:blipFill>
          <a:blip r:embed="rId3"/>
          <a:stretch>
            <a:fillRect/>
          </a:stretch>
        </p:blipFill>
        <p:spPr>
          <a:xfrm>
            <a:off x="2994660" y="3232404"/>
            <a:ext cx="338328" cy="338328"/>
          </a:xfrm>
          <a:prstGeom prst="rect">
            <a:avLst/>
          </a:prstGeom>
        </p:spPr>
      </p:pic>
      <p:sp>
        <p:nvSpPr>
          <p:cNvPr id="15" name="Text 10"/>
          <p:cNvSpPr/>
          <p:nvPr/>
        </p:nvSpPr>
        <p:spPr>
          <a:xfrm>
            <a:off x="2231136" y="3977640"/>
            <a:ext cx="1865376" cy="548640"/>
          </a:xfrm>
          <a:prstGeom prst="rect">
            <a:avLst/>
          </a:prstGeom>
          <a:noFill/>
          <a:ln/>
        </p:spPr>
        <p:txBody>
          <a:bodyPr wrap="square" lIns="0" tIns="0" rIns="0" bIns="0" rtlCol="0" anchor="ctr"/>
          <a:lstStyle/>
          <a:p>
            <a:pPr algn="ctr" indent="0" marL="0">
              <a:buNone/>
            </a:pPr>
            <a:r>
              <a:rPr lang="en-US" sz="1300" b="1" dirty="0">
                <a:solidFill>
                  <a:srgbClr val="151F4A"/>
                </a:solidFill>
                <a:latin typeface="Arial" pitchFamily="34" charset="0"/>
                <a:ea typeface="Arial" pitchFamily="34" charset="-122"/>
                <a:cs typeface="Arial" pitchFamily="34" charset="-120"/>
              </a:rPr>
              <a:t>Telephone &amp; fax</a:t>
            </a:r>
            <a:endParaRPr lang="en-US" sz="1300" dirty="0"/>
          </a:p>
        </p:txBody>
      </p:sp>
      <p:sp>
        <p:nvSpPr>
          <p:cNvPr id="16" name="Text 11"/>
          <p:cNvSpPr/>
          <p:nvPr/>
        </p:nvSpPr>
        <p:spPr>
          <a:xfrm>
            <a:off x="2231136" y="4526280"/>
            <a:ext cx="1865376" cy="59436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Same-day business</a:t>
            </a:r>
            <a:endParaRPr lang="en-US" sz="1100" dirty="0"/>
          </a:p>
        </p:txBody>
      </p:sp>
      <p:sp>
        <p:nvSpPr>
          <p:cNvPr id="17" name="Text 12"/>
          <p:cNvSpPr/>
          <p:nvPr/>
        </p:nvSpPr>
        <p:spPr>
          <a:xfrm>
            <a:off x="4343400" y="2331720"/>
            <a:ext cx="1554480" cy="274320"/>
          </a:xfrm>
          <a:prstGeom prst="rect">
            <a:avLst/>
          </a:prstGeom>
          <a:noFill/>
          <a:ln/>
        </p:spPr>
        <p:txBody>
          <a:bodyPr wrap="square" lIns="0" tIns="0" rIns="0" bIns="0" rtlCol="0" anchor="ctr"/>
          <a:lstStyle/>
          <a:p>
            <a:pPr algn="ctr" indent="0" marL="0">
              <a:buNone/>
            </a:pPr>
            <a:r>
              <a:rPr lang="en-US" sz="1400" b="1" dirty="0">
                <a:solidFill>
                  <a:srgbClr val="29A9E1"/>
                </a:solidFill>
                <a:latin typeface="Arial" pitchFamily="34" charset="0"/>
                <a:ea typeface="Arial" pitchFamily="34" charset="-122"/>
                <a:cs typeface="Arial" pitchFamily="34" charset="-120"/>
              </a:rPr>
              <a:t>1990s</a:t>
            </a:r>
            <a:endParaRPr lang="en-US" sz="1400" dirty="0"/>
          </a:p>
        </p:txBody>
      </p:sp>
      <p:sp>
        <p:nvSpPr>
          <p:cNvPr id="18" name="Shape 13"/>
          <p:cNvSpPr/>
          <p:nvPr/>
        </p:nvSpPr>
        <p:spPr>
          <a:xfrm>
            <a:off x="4782312" y="3063240"/>
            <a:ext cx="676656" cy="676656"/>
          </a:xfrm>
          <a:prstGeom prst="ellipse">
            <a:avLst/>
          </a:prstGeom>
          <a:solidFill>
            <a:srgbClr val="151F4A"/>
          </a:solidFill>
          <a:ln/>
        </p:spPr>
      </p:sp>
      <p:pic>
        <p:nvPicPr>
          <p:cNvPr id="19" name="Image 2" descr="icons/globe.png">    </p:cNvPr>
          <p:cNvPicPr>
            <a:picLocks noChangeAspect="1"/>
          </p:cNvPicPr>
          <p:nvPr/>
        </p:nvPicPr>
        <p:blipFill>
          <a:blip r:embed="rId4"/>
          <a:stretch>
            <a:fillRect/>
          </a:stretch>
        </p:blipFill>
        <p:spPr>
          <a:xfrm>
            <a:off x="4951476" y="3232404"/>
            <a:ext cx="338328" cy="338328"/>
          </a:xfrm>
          <a:prstGeom prst="rect">
            <a:avLst/>
          </a:prstGeom>
        </p:spPr>
      </p:pic>
      <p:sp>
        <p:nvSpPr>
          <p:cNvPr id="20" name="Text 14"/>
          <p:cNvSpPr/>
          <p:nvPr/>
        </p:nvSpPr>
        <p:spPr>
          <a:xfrm>
            <a:off x="4187952" y="3977640"/>
            <a:ext cx="1865376" cy="548640"/>
          </a:xfrm>
          <a:prstGeom prst="rect">
            <a:avLst/>
          </a:prstGeom>
          <a:noFill/>
          <a:ln/>
        </p:spPr>
        <p:txBody>
          <a:bodyPr wrap="square" lIns="0" tIns="0" rIns="0" bIns="0" rtlCol="0" anchor="ctr"/>
          <a:lstStyle/>
          <a:p>
            <a:pPr algn="ctr" indent="0" marL="0">
              <a:buNone/>
            </a:pPr>
            <a:r>
              <a:rPr lang="en-US" sz="1300" b="1" dirty="0">
                <a:solidFill>
                  <a:srgbClr val="151F4A"/>
                </a:solidFill>
                <a:latin typeface="Arial" pitchFamily="34" charset="0"/>
                <a:ea typeface="Arial" pitchFamily="34" charset="-122"/>
                <a:cs typeface="Arial" pitchFamily="34" charset="-120"/>
              </a:rPr>
              <a:t>Email &amp; the web</a:t>
            </a:r>
            <a:endParaRPr lang="en-US" sz="1300" dirty="0"/>
          </a:p>
        </p:txBody>
      </p:sp>
      <p:sp>
        <p:nvSpPr>
          <p:cNvPr id="21" name="Text 15"/>
          <p:cNvSpPr/>
          <p:nvPr/>
        </p:nvSpPr>
        <p:spPr>
          <a:xfrm>
            <a:off x="4187952" y="4526280"/>
            <a:ext cx="1865376" cy="59436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Global reach begins</a:t>
            </a:r>
            <a:endParaRPr lang="en-US" sz="1100" dirty="0"/>
          </a:p>
        </p:txBody>
      </p:sp>
      <p:sp>
        <p:nvSpPr>
          <p:cNvPr id="22" name="Text 16"/>
          <p:cNvSpPr/>
          <p:nvPr/>
        </p:nvSpPr>
        <p:spPr>
          <a:xfrm>
            <a:off x="6300216" y="2331720"/>
            <a:ext cx="1554480" cy="274320"/>
          </a:xfrm>
          <a:prstGeom prst="rect">
            <a:avLst/>
          </a:prstGeom>
          <a:noFill/>
          <a:ln/>
        </p:spPr>
        <p:txBody>
          <a:bodyPr wrap="square" lIns="0" tIns="0" rIns="0" bIns="0" rtlCol="0" anchor="ctr"/>
          <a:lstStyle/>
          <a:p>
            <a:pPr algn="ctr" indent="0" marL="0">
              <a:buNone/>
            </a:pPr>
            <a:r>
              <a:rPr lang="en-US" sz="1400" b="1" dirty="0">
                <a:solidFill>
                  <a:srgbClr val="29A9E1"/>
                </a:solidFill>
                <a:latin typeface="Arial" pitchFamily="34" charset="0"/>
                <a:ea typeface="Arial" pitchFamily="34" charset="-122"/>
                <a:cs typeface="Arial" pitchFamily="34" charset="-120"/>
              </a:rPr>
              <a:t>2000s</a:t>
            </a:r>
            <a:endParaRPr lang="en-US" sz="1400" dirty="0"/>
          </a:p>
        </p:txBody>
      </p:sp>
      <p:sp>
        <p:nvSpPr>
          <p:cNvPr id="23" name="Shape 17"/>
          <p:cNvSpPr/>
          <p:nvPr/>
        </p:nvSpPr>
        <p:spPr>
          <a:xfrm>
            <a:off x="6739128" y="3063240"/>
            <a:ext cx="676656" cy="676656"/>
          </a:xfrm>
          <a:prstGeom prst="ellipse">
            <a:avLst/>
          </a:prstGeom>
          <a:solidFill>
            <a:srgbClr val="151F4A"/>
          </a:solidFill>
          <a:ln/>
        </p:spPr>
      </p:sp>
      <p:pic>
        <p:nvPicPr>
          <p:cNvPr id="24" name="Image 3" descr="icons/mobile.png">    </p:cNvPr>
          <p:cNvPicPr>
            <a:picLocks noChangeAspect="1"/>
          </p:cNvPicPr>
          <p:nvPr/>
        </p:nvPicPr>
        <p:blipFill>
          <a:blip r:embed="rId5"/>
          <a:stretch>
            <a:fillRect/>
          </a:stretch>
        </p:blipFill>
        <p:spPr>
          <a:xfrm>
            <a:off x="6908292" y="3232404"/>
            <a:ext cx="338328" cy="338328"/>
          </a:xfrm>
          <a:prstGeom prst="rect">
            <a:avLst/>
          </a:prstGeom>
        </p:spPr>
      </p:pic>
      <p:sp>
        <p:nvSpPr>
          <p:cNvPr id="25" name="Text 18"/>
          <p:cNvSpPr/>
          <p:nvPr/>
        </p:nvSpPr>
        <p:spPr>
          <a:xfrm>
            <a:off x="6144768" y="3977640"/>
            <a:ext cx="1865376" cy="548640"/>
          </a:xfrm>
          <a:prstGeom prst="rect">
            <a:avLst/>
          </a:prstGeom>
          <a:noFill/>
          <a:ln/>
        </p:spPr>
        <p:txBody>
          <a:bodyPr wrap="square" lIns="0" tIns="0" rIns="0" bIns="0" rtlCol="0" anchor="ctr"/>
          <a:lstStyle/>
          <a:p>
            <a:pPr algn="ctr" indent="0" marL="0">
              <a:buNone/>
            </a:pPr>
            <a:r>
              <a:rPr lang="en-US" sz="1300" b="1" dirty="0">
                <a:solidFill>
                  <a:srgbClr val="151F4A"/>
                </a:solidFill>
                <a:latin typeface="Arial" pitchFamily="34" charset="0"/>
                <a:ea typeface="Arial" pitchFamily="34" charset="-122"/>
                <a:cs typeface="Arial" pitchFamily="34" charset="-120"/>
              </a:rPr>
              <a:t>Mobile &amp; social</a:t>
            </a:r>
            <a:endParaRPr lang="en-US" sz="1300" dirty="0"/>
          </a:p>
        </p:txBody>
      </p:sp>
      <p:sp>
        <p:nvSpPr>
          <p:cNvPr id="26" name="Text 19"/>
          <p:cNvSpPr/>
          <p:nvPr/>
        </p:nvSpPr>
        <p:spPr>
          <a:xfrm>
            <a:off x="6144768" y="4526280"/>
            <a:ext cx="1865376" cy="59436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Everyone is reachable</a:t>
            </a:r>
            <a:endParaRPr lang="en-US" sz="1100" dirty="0"/>
          </a:p>
        </p:txBody>
      </p:sp>
      <p:sp>
        <p:nvSpPr>
          <p:cNvPr id="27" name="Text 20"/>
          <p:cNvSpPr/>
          <p:nvPr/>
        </p:nvSpPr>
        <p:spPr>
          <a:xfrm>
            <a:off x="8257032" y="2331720"/>
            <a:ext cx="1554480" cy="274320"/>
          </a:xfrm>
          <a:prstGeom prst="rect">
            <a:avLst/>
          </a:prstGeom>
          <a:noFill/>
          <a:ln/>
        </p:spPr>
        <p:txBody>
          <a:bodyPr wrap="square" lIns="0" tIns="0" rIns="0" bIns="0" rtlCol="0" anchor="ctr"/>
          <a:lstStyle/>
          <a:p>
            <a:pPr algn="ctr" indent="0" marL="0">
              <a:buNone/>
            </a:pPr>
            <a:r>
              <a:rPr lang="en-US" sz="1400" b="1" dirty="0">
                <a:solidFill>
                  <a:srgbClr val="29A9E1"/>
                </a:solidFill>
                <a:latin typeface="Arial" pitchFamily="34" charset="0"/>
                <a:ea typeface="Arial" pitchFamily="34" charset="-122"/>
                <a:cs typeface="Arial" pitchFamily="34" charset="-120"/>
              </a:rPr>
              <a:t>2010s</a:t>
            </a:r>
            <a:endParaRPr lang="en-US" sz="1400" dirty="0"/>
          </a:p>
        </p:txBody>
      </p:sp>
      <p:sp>
        <p:nvSpPr>
          <p:cNvPr id="28" name="Shape 21"/>
          <p:cNvSpPr/>
          <p:nvPr/>
        </p:nvSpPr>
        <p:spPr>
          <a:xfrm>
            <a:off x="8695944" y="3063240"/>
            <a:ext cx="676656" cy="676656"/>
          </a:xfrm>
          <a:prstGeom prst="ellipse">
            <a:avLst/>
          </a:prstGeom>
          <a:solidFill>
            <a:srgbClr val="151F4A"/>
          </a:solidFill>
          <a:ln/>
        </p:spPr>
      </p:sp>
      <p:pic>
        <p:nvPicPr>
          <p:cNvPr id="29" name="Image 4" descr="icons/cloud.png">    </p:cNvPr>
          <p:cNvPicPr>
            <a:picLocks noChangeAspect="1"/>
          </p:cNvPicPr>
          <p:nvPr/>
        </p:nvPicPr>
        <p:blipFill>
          <a:blip r:embed="rId6"/>
          <a:stretch>
            <a:fillRect/>
          </a:stretch>
        </p:blipFill>
        <p:spPr>
          <a:xfrm>
            <a:off x="8865108" y="3232404"/>
            <a:ext cx="338328" cy="338328"/>
          </a:xfrm>
          <a:prstGeom prst="rect">
            <a:avLst/>
          </a:prstGeom>
        </p:spPr>
      </p:pic>
      <p:sp>
        <p:nvSpPr>
          <p:cNvPr id="30" name="Text 22"/>
          <p:cNvSpPr/>
          <p:nvPr/>
        </p:nvSpPr>
        <p:spPr>
          <a:xfrm>
            <a:off x="8101584" y="3977640"/>
            <a:ext cx="1865376" cy="548640"/>
          </a:xfrm>
          <a:prstGeom prst="rect">
            <a:avLst/>
          </a:prstGeom>
          <a:noFill/>
          <a:ln/>
        </p:spPr>
        <p:txBody>
          <a:bodyPr wrap="square" lIns="0" tIns="0" rIns="0" bIns="0" rtlCol="0" anchor="ctr"/>
          <a:lstStyle/>
          <a:p>
            <a:pPr algn="ctr" indent="0" marL="0">
              <a:buNone/>
            </a:pPr>
            <a:r>
              <a:rPr lang="en-US" sz="1300" b="1" dirty="0">
                <a:solidFill>
                  <a:srgbClr val="151F4A"/>
                </a:solidFill>
                <a:latin typeface="Arial" pitchFamily="34" charset="0"/>
                <a:ea typeface="Arial" pitchFamily="34" charset="-122"/>
                <a:cs typeface="Arial" pitchFamily="34" charset="-120"/>
              </a:rPr>
              <a:t>Cloud &amp; remote work</a:t>
            </a:r>
            <a:endParaRPr lang="en-US" sz="1300" dirty="0"/>
          </a:p>
        </p:txBody>
      </p:sp>
      <p:sp>
        <p:nvSpPr>
          <p:cNvPr id="31" name="Text 23"/>
          <p:cNvSpPr/>
          <p:nvPr/>
        </p:nvSpPr>
        <p:spPr>
          <a:xfrm>
            <a:off x="8101584" y="4526280"/>
            <a:ext cx="1865376" cy="59436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Work from anywhere</a:t>
            </a:r>
            <a:endParaRPr lang="en-US" sz="1100" dirty="0"/>
          </a:p>
        </p:txBody>
      </p:sp>
      <p:sp>
        <p:nvSpPr>
          <p:cNvPr id="32" name="Text 24"/>
          <p:cNvSpPr/>
          <p:nvPr/>
        </p:nvSpPr>
        <p:spPr>
          <a:xfrm>
            <a:off x="10213848" y="2331720"/>
            <a:ext cx="1554480" cy="274320"/>
          </a:xfrm>
          <a:prstGeom prst="rect">
            <a:avLst/>
          </a:prstGeom>
          <a:noFill/>
          <a:ln/>
        </p:spPr>
        <p:txBody>
          <a:bodyPr wrap="square" lIns="0" tIns="0" rIns="0" bIns="0" rtlCol="0" anchor="ctr"/>
          <a:lstStyle/>
          <a:p>
            <a:pPr algn="ctr" indent="0" marL="0">
              <a:buNone/>
            </a:pPr>
            <a:r>
              <a:rPr lang="en-US" sz="1400" b="1" dirty="0">
                <a:solidFill>
                  <a:srgbClr val="29A9E1"/>
                </a:solidFill>
                <a:latin typeface="Arial" pitchFamily="34" charset="0"/>
                <a:ea typeface="Arial" pitchFamily="34" charset="-122"/>
                <a:cs typeface="Arial" pitchFamily="34" charset="-120"/>
              </a:rPr>
              <a:t>2020s</a:t>
            </a:r>
            <a:endParaRPr lang="en-US" sz="1400" dirty="0"/>
          </a:p>
        </p:txBody>
      </p:sp>
      <p:sp>
        <p:nvSpPr>
          <p:cNvPr id="33" name="Shape 25"/>
          <p:cNvSpPr/>
          <p:nvPr/>
        </p:nvSpPr>
        <p:spPr>
          <a:xfrm>
            <a:off x="10652760" y="3063240"/>
            <a:ext cx="676656" cy="676656"/>
          </a:xfrm>
          <a:prstGeom prst="ellipse">
            <a:avLst/>
          </a:prstGeom>
          <a:solidFill>
            <a:srgbClr val="F0C93C"/>
          </a:solidFill>
          <a:ln/>
        </p:spPr>
      </p:sp>
      <p:pic>
        <p:nvPicPr>
          <p:cNvPr id="34" name="Image 5" descr="icons/robot.png">    </p:cNvPr>
          <p:cNvPicPr>
            <a:picLocks noChangeAspect="1"/>
          </p:cNvPicPr>
          <p:nvPr/>
        </p:nvPicPr>
        <p:blipFill>
          <a:blip r:embed="rId7"/>
          <a:stretch>
            <a:fillRect/>
          </a:stretch>
        </p:blipFill>
        <p:spPr>
          <a:xfrm>
            <a:off x="10821924" y="3232404"/>
            <a:ext cx="338328" cy="338328"/>
          </a:xfrm>
          <a:prstGeom prst="rect">
            <a:avLst/>
          </a:prstGeom>
        </p:spPr>
      </p:pic>
      <p:sp>
        <p:nvSpPr>
          <p:cNvPr id="35" name="Text 26"/>
          <p:cNvSpPr/>
          <p:nvPr/>
        </p:nvSpPr>
        <p:spPr>
          <a:xfrm>
            <a:off x="10058400" y="3977640"/>
            <a:ext cx="1865376" cy="548640"/>
          </a:xfrm>
          <a:prstGeom prst="rect">
            <a:avLst/>
          </a:prstGeom>
          <a:noFill/>
          <a:ln/>
        </p:spPr>
        <p:txBody>
          <a:bodyPr wrap="square" lIns="0" tIns="0" rIns="0" bIns="0" rtlCol="0" anchor="ctr"/>
          <a:lstStyle/>
          <a:p>
            <a:pPr algn="ctr" indent="0" marL="0">
              <a:buNone/>
            </a:pPr>
            <a:r>
              <a:rPr lang="en-US" sz="1300" b="1" dirty="0">
                <a:solidFill>
                  <a:srgbClr val="151F4A"/>
                </a:solidFill>
                <a:latin typeface="Arial" pitchFamily="34" charset="0"/>
                <a:ea typeface="Arial" pitchFamily="34" charset="-122"/>
                <a:cs typeface="Arial" pitchFamily="34" charset="-120"/>
              </a:rPr>
              <a:t>AI &amp; agents</a:t>
            </a:r>
            <a:endParaRPr lang="en-US" sz="1300" dirty="0"/>
          </a:p>
        </p:txBody>
      </p:sp>
      <p:sp>
        <p:nvSpPr>
          <p:cNvPr id="36" name="Text 27"/>
          <p:cNvSpPr/>
          <p:nvPr/>
        </p:nvSpPr>
        <p:spPr>
          <a:xfrm>
            <a:off x="10058400" y="4526280"/>
            <a:ext cx="1865376" cy="59436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Work delegated to software</a:t>
            </a:r>
            <a:endParaRPr lang="en-US" sz="1100" dirty="0"/>
          </a:p>
        </p:txBody>
      </p:sp>
      <p:sp>
        <p:nvSpPr>
          <p:cNvPr id="37" name="Text 28"/>
          <p:cNvSpPr/>
          <p:nvPr/>
        </p:nvSpPr>
        <p:spPr>
          <a:xfrm>
            <a:off x="548640" y="5623560"/>
            <a:ext cx="11064240" cy="365760"/>
          </a:xfrm>
          <a:prstGeom prst="rect">
            <a:avLst/>
          </a:prstGeom>
          <a:noFill/>
          <a:ln/>
        </p:spPr>
        <p:txBody>
          <a:bodyPr wrap="square" lIns="0" tIns="0" rIns="0" bIns="0" rtlCol="0" anchor="ctr"/>
          <a:lstStyle/>
          <a:p>
            <a:pPr algn="ctr" indent="0" marL="0">
              <a:buNone/>
            </a:pPr>
            <a:r>
              <a:rPr lang="en-US" sz="1500" i="1" dirty="0">
                <a:solidFill>
                  <a:srgbClr val="232A3E"/>
                </a:solidFill>
                <a:latin typeface="Calibri" pitchFamily="34" charset="0"/>
                <a:ea typeface="Calibri" pitchFamily="34" charset="-122"/>
                <a:cs typeface="Calibri" pitchFamily="34" charset="-120"/>
              </a:rPr>
              <a:t>The gap that keeps shrinking: idea  →  audience  →  income.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THE PATTERN</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Every shift minted new winners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6492240" cy="4480560"/>
          </a:xfrm>
          <a:prstGeom prst="roundRect">
            <a:avLst>
              <a:gd name="adj" fmla="val 1837"/>
            </a:avLst>
          </a:prstGeom>
          <a:solidFill>
            <a:srgbClr val="F5F8FC"/>
          </a:solidFill>
          <a:ln w="12700">
            <a:solidFill>
              <a:srgbClr val="E1E6F0"/>
            </a:solidFill>
            <a:prstDash val="solid"/>
          </a:ln>
        </p:spPr>
      </p:sp>
      <p:sp>
        <p:nvSpPr>
          <p:cNvPr id="7" name="Shape 4"/>
          <p:cNvSpPr/>
          <p:nvPr/>
        </p:nvSpPr>
        <p:spPr>
          <a:xfrm>
            <a:off x="868680" y="1783080"/>
            <a:ext cx="457200" cy="457200"/>
          </a:xfrm>
          <a:prstGeom prst="ellipse">
            <a:avLst/>
          </a:prstGeom>
          <a:solidFill>
            <a:srgbClr val="151F4A"/>
          </a:solidFill>
          <a:ln/>
        </p:spPr>
      </p:sp>
      <p:pic>
        <p:nvPicPr>
          <p:cNvPr id="8" name="Image 0" descr="icons/globe.png">    </p:cNvPr>
          <p:cNvPicPr>
            <a:picLocks noChangeAspect="1"/>
          </p:cNvPicPr>
          <p:nvPr/>
        </p:nvPicPr>
        <p:blipFill>
          <a:blip r:embed="rId2"/>
          <a:stretch>
            <a:fillRect/>
          </a:stretch>
        </p:blipFill>
        <p:spPr>
          <a:xfrm>
            <a:off x="982980" y="1897380"/>
            <a:ext cx="228600" cy="228600"/>
          </a:xfrm>
          <a:prstGeom prst="rect">
            <a:avLst/>
          </a:prstGeom>
        </p:spPr>
      </p:pic>
      <p:sp>
        <p:nvSpPr>
          <p:cNvPr id="9" name="Text 5"/>
          <p:cNvSpPr/>
          <p:nvPr/>
        </p:nvSpPr>
        <p:spPr>
          <a:xfrm>
            <a:off x="1527048" y="1728216"/>
            <a:ext cx="528523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1990s — first businesses online</a:t>
            </a:r>
            <a:endParaRPr lang="en-US" sz="1450" dirty="0"/>
          </a:p>
        </p:txBody>
      </p:sp>
      <p:sp>
        <p:nvSpPr>
          <p:cNvPr id="10" name="Text 6"/>
          <p:cNvSpPr/>
          <p:nvPr/>
        </p:nvSpPr>
        <p:spPr>
          <a:xfrm>
            <a:off x="1527048" y="2020824"/>
            <a:ext cx="5285232" cy="50292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Owned search results while rivals printed flyers.</a:t>
            </a:r>
            <a:endParaRPr lang="en-US" sz="1200" dirty="0"/>
          </a:p>
        </p:txBody>
      </p:sp>
      <p:sp>
        <p:nvSpPr>
          <p:cNvPr id="11" name="Shape 7"/>
          <p:cNvSpPr/>
          <p:nvPr/>
        </p:nvSpPr>
        <p:spPr>
          <a:xfrm>
            <a:off x="868680" y="2834640"/>
            <a:ext cx="457200" cy="457200"/>
          </a:xfrm>
          <a:prstGeom prst="ellipse">
            <a:avLst/>
          </a:prstGeom>
          <a:solidFill>
            <a:srgbClr val="29A9E1"/>
          </a:solidFill>
          <a:ln/>
        </p:spPr>
      </p:sp>
      <p:pic>
        <p:nvPicPr>
          <p:cNvPr id="12" name="Image 1" descr="icons/mobile.png">    </p:cNvPr>
          <p:cNvPicPr>
            <a:picLocks noChangeAspect="1"/>
          </p:cNvPicPr>
          <p:nvPr/>
        </p:nvPicPr>
        <p:blipFill>
          <a:blip r:embed="rId3"/>
          <a:stretch>
            <a:fillRect/>
          </a:stretch>
        </p:blipFill>
        <p:spPr>
          <a:xfrm>
            <a:off x="982980" y="2948940"/>
            <a:ext cx="228600" cy="228600"/>
          </a:xfrm>
          <a:prstGeom prst="rect">
            <a:avLst/>
          </a:prstGeom>
        </p:spPr>
      </p:pic>
      <p:sp>
        <p:nvSpPr>
          <p:cNvPr id="13" name="Text 8"/>
          <p:cNvSpPr/>
          <p:nvPr/>
        </p:nvSpPr>
        <p:spPr>
          <a:xfrm>
            <a:off x="1527048" y="2779776"/>
            <a:ext cx="528523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2000s — first brands on social</a:t>
            </a:r>
            <a:endParaRPr lang="en-US" sz="1450" dirty="0"/>
          </a:p>
        </p:txBody>
      </p:sp>
      <p:sp>
        <p:nvSpPr>
          <p:cNvPr id="14" name="Text 9"/>
          <p:cNvSpPr/>
          <p:nvPr/>
        </p:nvSpPr>
        <p:spPr>
          <a:xfrm>
            <a:off x="1527048" y="3072384"/>
            <a:ext cx="5285232" cy="50292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Owned the feed and built audiences for free.</a:t>
            </a:r>
            <a:endParaRPr lang="en-US" sz="1200" dirty="0"/>
          </a:p>
        </p:txBody>
      </p:sp>
      <p:sp>
        <p:nvSpPr>
          <p:cNvPr id="15" name="Shape 10"/>
          <p:cNvSpPr/>
          <p:nvPr/>
        </p:nvSpPr>
        <p:spPr>
          <a:xfrm>
            <a:off x="868680" y="3886200"/>
            <a:ext cx="457200" cy="457200"/>
          </a:xfrm>
          <a:prstGeom prst="ellipse">
            <a:avLst/>
          </a:prstGeom>
          <a:solidFill>
            <a:srgbClr val="35C1B1"/>
          </a:solidFill>
          <a:ln/>
        </p:spPr>
      </p:sp>
      <p:pic>
        <p:nvPicPr>
          <p:cNvPr id="16" name="Image 2" descr="icons/robot.png">    </p:cNvPr>
          <p:cNvPicPr>
            <a:picLocks noChangeAspect="1"/>
          </p:cNvPicPr>
          <p:nvPr/>
        </p:nvPicPr>
        <p:blipFill>
          <a:blip r:embed="rId4"/>
          <a:stretch>
            <a:fillRect/>
          </a:stretch>
        </p:blipFill>
        <p:spPr>
          <a:xfrm>
            <a:off x="982980" y="4000500"/>
            <a:ext cx="228600" cy="228600"/>
          </a:xfrm>
          <a:prstGeom prst="rect">
            <a:avLst/>
          </a:prstGeom>
        </p:spPr>
      </p:pic>
      <p:sp>
        <p:nvSpPr>
          <p:cNvPr id="17" name="Text 11"/>
          <p:cNvSpPr/>
          <p:nvPr/>
        </p:nvSpPr>
        <p:spPr>
          <a:xfrm>
            <a:off x="1527048" y="3831336"/>
            <a:ext cx="528523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Today — first AI-powered operators</a:t>
            </a:r>
            <a:endParaRPr lang="en-US" sz="1450" dirty="0"/>
          </a:p>
        </p:txBody>
      </p:sp>
      <p:sp>
        <p:nvSpPr>
          <p:cNvPr id="18" name="Text 12"/>
          <p:cNvSpPr/>
          <p:nvPr/>
        </p:nvSpPr>
        <p:spPr>
          <a:xfrm>
            <a:off x="1527048" y="4123944"/>
            <a:ext cx="5285232" cy="50292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Own speed: more output, more presence, same 24 hours.</a:t>
            </a:r>
            <a:endParaRPr lang="en-US" sz="1200" dirty="0"/>
          </a:p>
        </p:txBody>
      </p:sp>
      <p:sp>
        <p:nvSpPr>
          <p:cNvPr id="19" name="Text 13"/>
          <p:cNvSpPr/>
          <p:nvPr/>
        </p:nvSpPr>
        <p:spPr>
          <a:xfrm>
            <a:off x="868680" y="5029200"/>
            <a:ext cx="5852160" cy="640080"/>
          </a:xfrm>
          <a:prstGeom prst="rect">
            <a:avLst/>
          </a:prstGeom>
          <a:noFill/>
          <a:ln/>
        </p:spPr>
        <p:txBody>
          <a:bodyPr wrap="square" lIns="0" tIns="0" rIns="0" bIns="0" rtlCol="0" anchor="ctr"/>
          <a:lstStyle/>
          <a:p>
            <a:pPr indent="0" marL="0">
              <a:buNone/>
            </a:pPr>
            <a:r>
              <a:rPr lang="en-US" sz="1400" i="1" dirty="0">
                <a:solidFill>
                  <a:srgbClr val="232A3E"/>
                </a:solidFill>
                <a:latin typeface="Calibri" pitchFamily="34" charset="0"/>
                <a:ea typeface="Calibri" pitchFamily="34" charset="-122"/>
                <a:cs typeface="Calibri" pitchFamily="34" charset="-120"/>
              </a:rPr>
              <a:t>The winners weren't the most talented. They adopted earliest and stayed consistent.</a:t>
            </a:r>
            <a:endParaRPr lang="en-US" sz="1400" dirty="0"/>
          </a:p>
        </p:txBody>
      </p:sp>
      <p:sp>
        <p:nvSpPr>
          <p:cNvPr id="20" name="Shape 14"/>
          <p:cNvSpPr/>
          <p:nvPr/>
        </p:nvSpPr>
        <p:spPr>
          <a:xfrm>
            <a:off x="7315200" y="1463040"/>
            <a:ext cx="4343400" cy="2148840"/>
          </a:xfrm>
          <a:prstGeom prst="roundRect">
            <a:avLst>
              <a:gd name="adj" fmla="val 3830"/>
            </a:avLst>
          </a:prstGeom>
          <a:solidFill>
            <a:srgbClr val="EAF5FC"/>
          </a:solidFill>
          <a:ln/>
        </p:spPr>
      </p:sp>
      <p:sp>
        <p:nvSpPr>
          <p:cNvPr id="21" name="Text 15"/>
          <p:cNvSpPr/>
          <p:nvPr/>
        </p:nvSpPr>
        <p:spPr>
          <a:xfrm>
            <a:off x="7589520" y="1691640"/>
            <a:ext cx="3749040" cy="822960"/>
          </a:xfrm>
          <a:prstGeom prst="rect">
            <a:avLst/>
          </a:prstGeom>
          <a:noFill/>
          <a:ln/>
        </p:spPr>
        <p:txBody>
          <a:bodyPr wrap="square" lIns="0" tIns="0" rIns="0" bIns="0" rtlCol="0" anchor="ctr"/>
          <a:lstStyle/>
          <a:p>
            <a:pPr indent="0" marL="0">
              <a:buNone/>
            </a:pPr>
            <a:r>
              <a:rPr lang="en-US" sz="5400" b="1" dirty="0">
                <a:solidFill>
                  <a:srgbClr val="151F4A"/>
                </a:solidFill>
                <a:latin typeface="Arial" pitchFamily="34" charset="0"/>
                <a:ea typeface="Arial" pitchFamily="34" charset="-122"/>
                <a:cs typeface="Arial" pitchFamily="34" charset="-120"/>
              </a:rPr>
              <a:t>58%</a:t>
            </a:r>
            <a:endParaRPr lang="en-US" sz="5400" dirty="0"/>
          </a:p>
        </p:txBody>
      </p:sp>
      <p:sp>
        <p:nvSpPr>
          <p:cNvPr id="22" name="Text 16"/>
          <p:cNvSpPr/>
          <p:nvPr/>
        </p:nvSpPr>
        <p:spPr>
          <a:xfrm>
            <a:off x="7589520" y="2606040"/>
            <a:ext cx="3794760" cy="59436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of U.S. small businesses used generative AI in 2025 — up from 40% in 2024.</a:t>
            </a:r>
            <a:endParaRPr lang="en-US" sz="1250" dirty="0"/>
          </a:p>
        </p:txBody>
      </p:sp>
      <p:sp>
        <p:nvSpPr>
          <p:cNvPr id="23" name="Text 17"/>
          <p:cNvSpPr/>
          <p:nvPr/>
        </p:nvSpPr>
        <p:spPr>
          <a:xfrm>
            <a:off x="7589520" y="3246120"/>
            <a:ext cx="3749040" cy="274320"/>
          </a:xfrm>
          <a:prstGeom prst="rect">
            <a:avLst/>
          </a:prstGeom>
          <a:noFill/>
          <a:ln/>
        </p:spPr>
        <p:txBody>
          <a:bodyPr wrap="square" lIns="0" tIns="0" rIns="0" bIns="0" rtlCol="0" anchor="ctr"/>
          <a:lstStyle/>
          <a:p>
            <a:pPr indent="0" marL="0">
              <a:buNone/>
            </a:pPr>
            <a:r>
              <a:rPr lang="en-US" sz="1000" dirty="0">
                <a:solidFill>
                  <a:srgbClr val="68708A"/>
                </a:solidFill>
                <a:latin typeface="Calibri" pitchFamily="34" charset="0"/>
                <a:ea typeface="Calibri" pitchFamily="34" charset="-122"/>
                <a:cs typeface="Calibri" pitchFamily="34" charset="-120"/>
              </a:rPr>
              <a:t>U.S. Chamber of Commerce, 2025</a:t>
            </a:r>
            <a:endParaRPr lang="en-US" sz="1000" dirty="0"/>
          </a:p>
        </p:txBody>
      </p:sp>
      <p:sp>
        <p:nvSpPr>
          <p:cNvPr id="24" name="Shape 18"/>
          <p:cNvSpPr/>
          <p:nvPr/>
        </p:nvSpPr>
        <p:spPr>
          <a:xfrm>
            <a:off x="7315200" y="3794760"/>
            <a:ext cx="4343400" cy="2148840"/>
          </a:xfrm>
          <a:prstGeom prst="roundRect">
            <a:avLst>
              <a:gd name="adj" fmla="val 3830"/>
            </a:avLst>
          </a:prstGeom>
          <a:solidFill>
            <a:srgbClr val="EAF6F4"/>
          </a:solidFill>
          <a:ln/>
        </p:spPr>
      </p:sp>
      <p:sp>
        <p:nvSpPr>
          <p:cNvPr id="25" name="Text 19"/>
          <p:cNvSpPr/>
          <p:nvPr/>
        </p:nvSpPr>
        <p:spPr>
          <a:xfrm>
            <a:off x="7589520" y="4023360"/>
            <a:ext cx="3749040" cy="822960"/>
          </a:xfrm>
          <a:prstGeom prst="rect">
            <a:avLst/>
          </a:prstGeom>
          <a:noFill/>
          <a:ln/>
        </p:spPr>
        <p:txBody>
          <a:bodyPr wrap="square" lIns="0" tIns="0" rIns="0" bIns="0" rtlCol="0" anchor="ctr"/>
          <a:lstStyle/>
          <a:p>
            <a:pPr indent="0" marL="0">
              <a:buNone/>
            </a:pPr>
            <a:r>
              <a:rPr lang="en-US" sz="5400" b="1" dirty="0">
                <a:solidFill>
                  <a:srgbClr val="151F4A"/>
                </a:solidFill>
                <a:latin typeface="Arial" pitchFamily="34" charset="0"/>
                <a:ea typeface="Arial" pitchFamily="34" charset="-122"/>
                <a:cs typeface="Arial" pitchFamily="34" charset="-120"/>
              </a:rPr>
              <a:t>83%</a:t>
            </a:r>
            <a:endParaRPr lang="en-US" sz="5400" dirty="0"/>
          </a:p>
        </p:txBody>
      </p:sp>
      <p:sp>
        <p:nvSpPr>
          <p:cNvPr id="26" name="Text 20"/>
          <p:cNvSpPr/>
          <p:nvPr/>
        </p:nvSpPr>
        <p:spPr>
          <a:xfrm>
            <a:off x="7589520" y="4937760"/>
            <a:ext cx="3794760" cy="5486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of growing small businesses are already experimenting with AI.</a:t>
            </a:r>
            <a:endParaRPr lang="en-US" sz="1250" dirty="0"/>
          </a:p>
        </p:txBody>
      </p:sp>
      <p:sp>
        <p:nvSpPr>
          <p:cNvPr id="27" name="Text 21"/>
          <p:cNvSpPr/>
          <p:nvPr/>
        </p:nvSpPr>
        <p:spPr>
          <a:xfrm>
            <a:off x="7589520" y="5532120"/>
            <a:ext cx="3749040" cy="274320"/>
          </a:xfrm>
          <a:prstGeom prst="rect">
            <a:avLst/>
          </a:prstGeom>
          <a:noFill/>
          <a:ln/>
        </p:spPr>
        <p:txBody>
          <a:bodyPr wrap="square" lIns="0" tIns="0" rIns="0" bIns="0" rtlCol="0" anchor="ctr"/>
          <a:lstStyle/>
          <a:p>
            <a:pPr indent="0" marL="0">
              <a:buNone/>
            </a:pPr>
            <a:r>
              <a:rPr lang="en-US" sz="1000" dirty="0">
                <a:solidFill>
                  <a:srgbClr val="68708A"/>
                </a:solidFill>
                <a:latin typeface="Calibri" pitchFamily="34" charset="0"/>
                <a:ea typeface="Calibri" pitchFamily="34" charset="-122"/>
                <a:cs typeface="Calibri" pitchFamily="34" charset="-120"/>
              </a:rPr>
              <a:t>Salesforce SMB Trends Report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EVOLUTION OF AI</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AI's journey: from rules to coworkers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868680" y="3401568"/>
            <a:ext cx="10469880" cy="0"/>
          </a:xfrm>
          <a:prstGeom prst="line">
            <a:avLst/>
          </a:prstGeom>
          <a:noFill/>
          <a:ln w="31750">
            <a:solidFill>
              <a:srgbClr val="E1E6F0"/>
            </a:solidFill>
            <a:prstDash val="solid"/>
          </a:ln>
        </p:spPr>
      </p:sp>
      <p:sp>
        <p:nvSpPr>
          <p:cNvPr id="7" name="Text 4"/>
          <p:cNvSpPr/>
          <p:nvPr/>
        </p:nvSpPr>
        <p:spPr>
          <a:xfrm>
            <a:off x="338328" y="2331720"/>
            <a:ext cx="1737360" cy="274320"/>
          </a:xfrm>
          <a:prstGeom prst="rect">
            <a:avLst/>
          </a:prstGeom>
          <a:noFill/>
          <a:ln/>
        </p:spPr>
        <p:txBody>
          <a:bodyPr wrap="square" lIns="0" tIns="0" rIns="0" bIns="0" rtlCol="0" anchor="ctr"/>
          <a:lstStyle/>
          <a:p>
            <a:pPr algn="ctr" indent="0" marL="0">
              <a:buNone/>
            </a:pPr>
            <a:r>
              <a:rPr lang="en-US" sz="1350" b="1" dirty="0">
                <a:solidFill>
                  <a:srgbClr val="29A9E1"/>
                </a:solidFill>
                <a:latin typeface="Arial" pitchFamily="34" charset="0"/>
                <a:ea typeface="Arial" pitchFamily="34" charset="-122"/>
                <a:cs typeface="Arial" pitchFamily="34" charset="-120"/>
              </a:rPr>
              <a:t>1950s–80s</a:t>
            </a:r>
            <a:endParaRPr lang="en-US" sz="1350" dirty="0"/>
          </a:p>
        </p:txBody>
      </p:sp>
      <p:sp>
        <p:nvSpPr>
          <p:cNvPr id="8" name="Shape 5"/>
          <p:cNvSpPr/>
          <p:nvPr/>
        </p:nvSpPr>
        <p:spPr>
          <a:xfrm>
            <a:off x="868680" y="3063240"/>
            <a:ext cx="676656" cy="676656"/>
          </a:xfrm>
          <a:prstGeom prst="ellipse">
            <a:avLst/>
          </a:prstGeom>
          <a:solidFill>
            <a:srgbClr val="151F4A"/>
          </a:solidFill>
          <a:ln/>
        </p:spPr>
      </p:sp>
      <p:pic>
        <p:nvPicPr>
          <p:cNvPr id="9" name="Image 0" descr="icons/gears.png">    </p:cNvPr>
          <p:cNvPicPr>
            <a:picLocks noChangeAspect="1"/>
          </p:cNvPicPr>
          <p:nvPr/>
        </p:nvPicPr>
        <p:blipFill>
          <a:blip r:embed="rId2"/>
          <a:stretch>
            <a:fillRect/>
          </a:stretch>
        </p:blipFill>
        <p:spPr>
          <a:xfrm>
            <a:off x="1037844" y="3232404"/>
            <a:ext cx="338328" cy="338328"/>
          </a:xfrm>
          <a:prstGeom prst="rect">
            <a:avLst/>
          </a:prstGeom>
        </p:spPr>
      </p:pic>
      <p:sp>
        <p:nvSpPr>
          <p:cNvPr id="10" name="Text 6"/>
          <p:cNvSpPr/>
          <p:nvPr/>
        </p:nvSpPr>
        <p:spPr>
          <a:xfrm>
            <a:off x="246888" y="3977640"/>
            <a:ext cx="1920240" cy="548640"/>
          </a:xfrm>
          <a:prstGeom prst="rect">
            <a:avLst/>
          </a:prstGeom>
          <a:noFill/>
          <a:ln/>
        </p:spPr>
        <p:txBody>
          <a:bodyPr wrap="square" lIns="0" tIns="0" rIns="0" bIns="0" rtlCol="0" anchor="ctr"/>
          <a:lstStyle/>
          <a:p>
            <a:pPr algn="ctr" indent="0" marL="0">
              <a:buNone/>
            </a:pPr>
            <a:r>
              <a:rPr lang="en-US" sz="1250" b="1" dirty="0">
                <a:solidFill>
                  <a:srgbClr val="151F4A"/>
                </a:solidFill>
                <a:latin typeface="Arial" pitchFamily="34" charset="0"/>
                <a:ea typeface="Arial" pitchFamily="34" charset="-122"/>
                <a:cs typeface="Arial" pitchFamily="34" charset="-120"/>
              </a:rPr>
              <a:t>Rules &amp; expert systems</a:t>
            </a:r>
            <a:endParaRPr lang="en-US" sz="1250" dirty="0"/>
          </a:p>
        </p:txBody>
      </p:sp>
      <p:sp>
        <p:nvSpPr>
          <p:cNvPr id="11" name="Text 7"/>
          <p:cNvSpPr/>
          <p:nvPr/>
        </p:nvSpPr>
        <p:spPr>
          <a:xfrm>
            <a:off x="274320" y="4526280"/>
            <a:ext cx="1865376" cy="54864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Hand-written logic</a:t>
            </a:r>
            <a:endParaRPr lang="en-US" sz="1100" dirty="0"/>
          </a:p>
        </p:txBody>
      </p:sp>
      <p:sp>
        <p:nvSpPr>
          <p:cNvPr id="12" name="Text 8"/>
          <p:cNvSpPr/>
          <p:nvPr/>
        </p:nvSpPr>
        <p:spPr>
          <a:xfrm>
            <a:off x="2295144" y="2331720"/>
            <a:ext cx="1737360" cy="274320"/>
          </a:xfrm>
          <a:prstGeom prst="rect">
            <a:avLst/>
          </a:prstGeom>
          <a:noFill/>
          <a:ln/>
        </p:spPr>
        <p:txBody>
          <a:bodyPr wrap="square" lIns="0" tIns="0" rIns="0" bIns="0" rtlCol="0" anchor="ctr"/>
          <a:lstStyle/>
          <a:p>
            <a:pPr algn="ctr" indent="0" marL="0">
              <a:buNone/>
            </a:pPr>
            <a:r>
              <a:rPr lang="en-US" sz="1350" b="1" dirty="0">
                <a:solidFill>
                  <a:srgbClr val="29A9E1"/>
                </a:solidFill>
                <a:latin typeface="Arial" pitchFamily="34" charset="0"/>
                <a:ea typeface="Arial" pitchFamily="34" charset="-122"/>
                <a:cs typeface="Arial" pitchFamily="34" charset="-120"/>
              </a:rPr>
              <a:t>1990s–2000s</a:t>
            </a:r>
            <a:endParaRPr lang="en-US" sz="1350" dirty="0"/>
          </a:p>
        </p:txBody>
      </p:sp>
      <p:sp>
        <p:nvSpPr>
          <p:cNvPr id="13" name="Shape 9"/>
          <p:cNvSpPr/>
          <p:nvPr/>
        </p:nvSpPr>
        <p:spPr>
          <a:xfrm>
            <a:off x="2825496" y="3063240"/>
            <a:ext cx="676656" cy="676656"/>
          </a:xfrm>
          <a:prstGeom prst="ellipse">
            <a:avLst/>
          </a:prstGeom>
          <a:solidFill>
            <a:srgbClr val="151F4A"/>
          </a:solidFill>
          <a:ln/>
        </p:spPr>
      </p:sp>
      <p:pic>
        <p:nvPicPr>
          <p:cNvPr id="14" name="Image 1" descr="icons/chart.png">    </p:cNvPr>
          <p:cNvPicPr>
            <a:picLocks noChangeAspect="1"/>
          </p:cNvPicPr>
          <p:nvPr/>
        </p:nvPicPr>
        <p:blipFill>
          <a:blip r:embed="rId3"/>
          <a:stretch>
            <a:fillRect/>
          </a:stretch>
        </p:blipFill>
        <p:spPr>
          <a:xfrm>
            <a:off x="2994660" y="3232404"/>
            <a:ext cx="338328" cy="338328"/>
          </a:xfrm>
          <a:prstGeom prst="rect">
            <a:avLst/>
          </a:prstGeom>
        </p:spPr>
      </p:pic>
      <p:sp>
        <p:nvSpPr>
          <p:cNvPr id="15" name="Text 10"/>
          <p:cNvSpPr/>
          <p:nvPr/>
        </p:nvSpPr>
        <p:spPr>
          <a:xfrm>
            <a:off x="2203704" y="3977640"/>
            <a:ext cx="1920240" cy="548640"/>
          </a:xfrm>
          <a:prstGeom prst="rect">
            <a:avLst/>
          </a:prstGeom>
          <a:noFill/>
          <a:ln/>
        </p:spPr>
        <p:txBody>
          <a:bodyPr wrap="square" lIns="0" tIns="0" rIns="0" bIns="0" rtlCol="0" anchor="ctr"/>
          <a:lstStyle/>
          <a:p>
            <a:pPr algn="ctr" indent="0" marL="0">
              <a:buNone/>
            </a:pPr>
            <a:r>
              <a:rPr lang="en-US" sz="1250" b="1" dirty="0">
                <a:solidFill>
                  <a:srgbClr val="151F4A"/>
                </a:solidFill>
                <a:latin typeface="Arial" pitchFamily="34" charset="0"/>
                <a:ea typeface="Arial" pitchFamily="34" charset="-122"/>
                <a:cs typeface="Arial" pitchFamily="34" charset="-120"/>
              </a:rPr>
              <a:t>Machine learning</a:t>
            </a:r>
            <a:endParaRPr lang="en-US" sz="1250" dirty="0"/>
          </a:p>
        </p:txBody>
      </p:sp>
      <p:sp>
        <p:nvSpPr>
          <p:cNvPr id="16" name="Text 11"/>
          <p:cNvSpPr/>
          <p:nvPr/>
        </p:nvSpPr>
        <p:spPr>
          <a:xfrm>
            <a:off x="2231136" y="4526280"/>
            <a:ext cx="1865376" cy="54864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Learning from data</a:t>
            </a:r>
            <a:endParaRPr lang="en-US" sz="1100" dirty="0"/>
          </a:p>
        </p:txBody>
      </p:sp>
      <p:sp>
        <p:nvSpPr>
          <p:cNvPr id="17" name="Text 12"/>
          <p:cNvSpPr/>
          <p:nvPr/>
        </p:nvSpPr>
        <p:spPr>
          <a:xfrm>
            <a:off x="4251960" y="2331720"/>
            <a:ext cx="1737360" cy="274320"/>
          </a:xfrm>
          <a:prstGeom prst="rect">
            <a:avLst/>
          </a:prstGeom>
          <a:noFill/>
          <a:ln/>
        </p:spPr>
        <p:txBody>
          <a:bodyPr wrap="square" lIns="0" tIns="0" rIns="0" bIns="0" rtlCol="0" anchor="ctr"/>
          <a:lstStyle/>
          <a:p>
            <a:pPr algn="ctr" indent="0" marL="0">
              <a:buNone/>
            </a:pPr>
            <a:r>
              <a:rPr lang="en-US" sz="1350" b="1" dirty="0">
                <a:solidFill>
                  <a:srgbClr val="29A9E1"/>
                </a:solidFill>
                <a:latin typeface="Arial" pitchFamily="34" charset="0"/>
                <a:ea typeface="Arial" pitchFamily="34" charset="-122"/>
                <a:cs typeface="Arial" pitchFamily="34" charset="-120"/>
              </a:rPr>
              <a:t>2012</a:t>
            </a:r>
            <a:endParaRPr lang="en-US" sz="1350" dirty="0"/>
          </a:p>
        </p:txBody>
      </p:sp>
      <p:sp>
        <p:nvSpPr>
          <p:cNvPr id="18" name="Shape 13"/>
          <p:cNvSpPr/>
          <p:nvPr/>
        </p:nvSpPr>
        <p:spPr>
          <a:xfrm>
            <a:off x="4782312" y="3063240"/>
            <a:ext cx="676656" cy="676656"/>
          </a:xfrm>
          <a:prstGeom prst="ellipse">
            <a:avLst/>
          </a:prstGeom>
          <a:solidFill>
            <a:srgbClr val="151F4A"/>
          </a:solidFill>
          <a:ln/>
        </p:spPr>
      </p:sp>
      <p:pic>
        <p:nvPicPr>
          <p:cNvPr id="19" name="Image 2" descr="icons/brain.png">    </p:cNvPr>
          <p:cNvPicPr>
            <a:picLocks noChangeAspect="1"/>
          </p:cNvPicPr>
          <p:nvPr/>
        </p:nvPicPr>
        <p:blipFill>
          <a:blip r:embed="rId4"/>
          <a:stretch>
            <a:fillRect/>
          </a:stretch>
        </p:blipFill>
        <p:spPr>
          <a:xfrm>
            <a:off x="4951476" y="3232404"/>
            <a:ext cx="338328" cy="338328"/>
          </a:xfrm>
          <a:prstGeom prst="rect">
            <a:avLst/>
          </a:prstGeom>
        </p:spPr>
      </p:pic>
      <p:sp>
        <p:nvSpPr>
          <p:cNvPr id="20" name="Text 14"/>
          <p:cNvSpPr/>
          <p:nvPr/>
        </p:nvSpPr>
        <p:spPr>
          <a:xfrm>
            <a:off x="4160520" y="3977640"/>
            <a:ext cx="1920240" cy="548640"/>
          </a:xfrm>
          <a:prstGeom prst="rect">
            <a:avLst/>
          </a:prstGeom>
          <a:noFill/>
          <a:ln/>
        </p:spPr>
        <p:txBody>
          <a:bodyPr wrap="square" lIns="0" tIns="0" rIns="0" bIns="0" rtlCol="0" anchor="ctr"/>
          <a:lstStyle/>
          <a:p>
            <a:pPr algn="ctr" indent="0" marL="0">
              <a:buNone/>
            </a:pPr>
            <a:r>
              <a:rPr lang="en-US" sz="1250" b="1" dirty="0">
                <a:solidFill>
                  <a:srgbClr val="151F4A"/>
                </a:solidFill>
                <a:latin typeface="Arial" pitchFamily="34" charset="0"/>
                <a:ea typeface="Arial" pitchFamily="34" charset="-122"/>
                <a:cs typeface="Arial" pitchFamily="34" charset="-120"/>
              </a:rPr>
              <a:t>Deep learning</a:t>
            </a:r>
            <a:endParaRPr lang="en-US" sz="1250" dirty="0"/>
          </a:p>
        </p:txBody>
      </p:sp>
      <p:sp>
        <p:nvSpPr>
          <p:cNvPr id="21" name="Text 15"/>
          <p:cNvSpPr/>
          <p:nvPr/>
        </p:nvSpPr>
        <p:spPr>
          <a:xfrm>
            <a:off x="4187952" y="4526280"/>
            <a:ext cx="1865376" cy="54864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AI sees and hears</a:t>
            </a:r>
            <a:endParaRPr lang="en-US" sz="1100" dirty="0"/>
          </a:p>
        </p:txBody>
      </p:sp>
      <p:sp>
        <p:nvSpPr>
          <p:cNvPr id="22" name="Text 16"/>
          <p:cNvSpPr/>
          <p:nvPr/>
        </p:nvSpPr>
        <p:spPr>
          <a:xfrm>
            <a:off x="6208776" y="2331720"/>
            <a:ext cx="1737360" cy="274320"/>
          </a:xfrm>
          <a:prstGeom prst="rect">
            <a:avLst/>
          </a:prstGeom>
          <a:noFill/>
          <a:ln/>
        </p:spPr>
        <p:txBody>
          <a:bodyPr wrap="square" lIns="0" tIns="0" rIns="0" bIns="0" rtlCol="0" anchor="ctr"/>
          <a:lstStyle/>
          <a:p>
            <a:pPr algn="ctr" indent="0" marL="0">
              <a:buNone/>
            </a:pPr>
            <a:r>
              <a:rPr lang="en-US" sz="1350" b="1" dirty="0">
                <a:solidFill>
                  <a:srgbClr val="29A9E1"/>
                </a:solidFill>
                <a:latin typeface="Arial" pitchFamily="34" charset="0"/>
                <a:ea typeface="Arial" pitchFamily="34" charset="-122"/>
                <a:cs typeface="Arial" pitchFamily="34" charset="-120"/>
              </a:rPr>
              <a:t>2017</a:t>
            </a:r>
            <a:endParaRPr lang="en-US" sz="1350" dirty="0"/>
          </a:p>
        </p:txBody>
      </p:sp>
      <p:sp>
        <p:nvSpPr>
          <p:cNvPr id="23" name="Shape 17"/>
          <p:cNvSpPr/>
          <p:nvPr/>
        </p:nvSpPr>
        <p:spPr>
          <a:xfrm>
            <a:off x="6739128" y="3063240"/>
            <a:ext cx="676656" cy="676656"/>
          </a:xfrm>
          <a:prstGeom prst="ellipse">
            <a:avLst/>
          </a:prstGeom>
          <a:solidFill>
            <a:srgbClr val="151F4A"/>
          </a:solidFill>
          <a:ln/>
        </p:spPr>
      </p:sp>
      <p:pic>
        <p:nvPicPr>
          <p:cNvPr id="24" name="Image 3" descr="icons/diagram.png">    </p:cNvPr>
          <p:cNvPicPr>
            <a:picLocks noChangeAspect="1"/>
          </p:cNvPicPr>
          <p:nvPr/>
        </p:nvPicPr>
        <p:blipFill>
          <a:blip r:embed="rId5"/>
          <a:stretch>
            <a:fillRect/>
          </a:stretch>
        </p:blipFill>
        <p:spPr>
          <a:xfrm>
            <a:off x="6908292" y="3232404"/>
            <a:ext cx="338328" cy="338328"/>
          </a:xfrm>
          <a:prstGeom prst="rect">
            <a:avLst/>
          </a:prstGeom>
        </p:spPr>
      </p:pic>
      <p:sp>
        <p:nvSpPr>
          <p:cNvPr id="25" name="Text 18"/>
          <p:cNvSpPr/>
          <p:nvPr/>
        </p:nvSpPr>
        <p:spPr>
          <a:xfrm>
            <a:off x="6117336" y="3977640"/>
            <a:ext cx="1920240" cy="548640"/>
          </a:xfrm>
          <a:prstGeom prst="rect">
            <a:avLst/>
          </a:prstGeom>
          <a:noFill/>
          <a:ln/>
        </p:spPr>
        <p:txBody>
          <a:bodyPr wrap="square" lIns="0" tIns="0" rIns="0" bIns="0" rtlCol="0" anchor="ctr"/>
          <a:lstStyle/>
          <a:p>
            <a:pPr algn="ctr" indent="0" marL="0">
              <a:buNone/>
            </a:pPr>
            <a:r>
              <a:rPr lang="en-US" sz="1250" b="1" dirty="0">
                <a:solidFill>
                  <a:srgbClr val="151F4A"/>
                </a:solidFill>
                <a:latin typeface="Arial" pitchFamily="34" charset="0"/>
                <a:ea typeface="Arial" pitchFamily="34" charset="-122"/>
                <a:cs typeface="Arial" pitchFamily="34" charset="-120"/>
              </a:rPr>
              <a:t>Transformers</a:t>
            </a:r>
            <a:endParaRPr lang="en-US" sz="1250" dirty="0"/>
          </a:p>
        </p:txBody>
      </p:sp>
      <p:sp>
        <p:nvSpPr>
          <p:cNvPr id="26" name="Text 19"/>
          <p:cNvSpPr/>
          <p:nvPr/>
        </p:nvSpPr>
        <p:spPr>
          <a:xfrm>
            <a:off x="6144768" y="4526280"/>
            <a:ext cx="1865376" cy="54864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The 'T' in GPT</a:t>
            </a:r>
            <a:endParaRPr lang="en-US" sz="1100" dirty="0"/>
          </a:p>
        </p:txBody>
      </p:sp>
      <p:sp>
        <p:nvSpPr>
          <p:cNvPr id="27" name="Text 20"/>
          <p:cNvSpPr/>
          <p:nvPr/>
        </p:nvSpPr>
        <p:spPr>
          <a:xfrm>
            <a:off x="8165592" y="2331720"/>
            <a:ext cx="1737360" cy="274320"/>
          </a:xfrm>
          <a:prstGeom prst="rect">
            <a:avLst/>
          </a:prstGeom>
          <a:noFill/>
          <a:ln/>
        </p:spPr>
        <p:txBody>
          <a:bodyPr wrap="square" lIns="0" tIns="0" rIns="0" bIns="0" rtlCol="0" anchor="ctr"/>
          <a:lstStyle/>
          <a:p>
            <a:pPr algn="ctr" indent="0" marL="0">
              <a:buNone/>
            </a:pPr>
            <a:r>
              <a:rPr lang="en-US" sz="1350" b="1" dirty="0">
                <a:solidFill>
                  <a:srgbClr val="29A9E1"/>
                </a:solidFill>
                <a:latin typeface="Arial" pitchFamily="34" charset="0"/>
                <a:ea typeface="Arial" pitchFamily="34" charset="-122"/>
                <a:cs typeface="Arial" pitchFamily="34" charset="-120"/>
              </a:rPr>
              <a:t>2022</a:t>
            </a:r>
            <a:endParaRPr lang="en-US" sz="1350" dirty="0"/>
          </a:p>
        </p:txBody>
      </p:sp>
      <p:sp>
        <p:nvSpPr>
          <p:cNvPr id="28" name="Shape 21"/>
          <p:cNvSpPr/>
          <p:nvPr/>
        </p:nvSpPr>
        <p:spPr>
          <a:xfrm>
            <a:off x="8695944" y="3063240"/>
            <a:ext cx="676656" cy="676656"/>
          </a:xfrm>
          <a:prstGeom prst="ellipse">
            <a:avLst/>
          </a:prstGeom>
          <a:solidFill>
            <a:srgbClr val="151F4A"/>
          </a:solidFill>
          <a:ln/>
        </p:spPr>
      </p:sp>
      <p:pic>
        <p:nvPicPr>
          <p:cNvPr id="29" name="Image 4" descr="icons/comments.png">    </p:cNvPr>
          <p:cNvPicPr>
            <a:picLocks noChangeAspect="1"/>
          </p:cNvPicPr>
          <p:nvPr/>
        </p:nvPicPr>
        <p:blipFill>
          <a:blip r:embed="rId6"/>
          <a:stretch>
            <a:fillRect/>
          </a:stretch>
        </p:blipFill>
        <p:spPr>
          <a:xfrm>
            <a:off x="8865108" y="3232404"/>
            <a:ext cx="338328" cy="338328"/>
          </a:xfrm>
          <a:prstGeom prst="rect">
            <a:avLst/>
          </a:prstGeom>
        </p:spPr>
      </p:pic>
      <p:sp>
        <p:nvSpPr>
          <p:cNvPr id="30" name="Text 22"/>
          <p:cNvSpPr/>
          <p:nvPr/>
        </p:nvSpPr>
        <p:spPr>
          <a:xfrm>
            <a:off x="8074152" y="3977640"/>
            <a:ext cx="1920240" cy="548640"/>
          </a:xfrm>
          <a:prstGeom prst="rect">
            <a:avLst/>
          </a:prstGeom>
          <a:noFill/>
          <a:ln/>
        </p:spPr>
        <p:txBody>
          <a:bodyPr wrap="square" lIns="0" tIns="0" rIns="0" bIns="0" rtlCol="0" anchor="ctr"/>
          <a:lstStyle/>
          <a:p>
            <a:pPr algn="ctr" indent="0" marL="0">
              <a:buNone/>
            </a:pPr>
            <a:r>
              <a:rPr lang="en-US" sz="1250" b="1" dirty="0">
                <a:solidFill>
                  <a:srgbClr val="151F4A"/>
                </a:solidFill>
                <a:latin typeface="Arial" pitchFamily="34" charset="0"/>
                <a:ea typeface="Arial" pitchFamily="34" charset="-122"/>
                <a:cs typeface="Arial" pitchFamily="34" charset="-120"/>
              </a:rPr>
              <a:t>The ChatGPT moment</a:t>
            </a:r>
            <a:endParaRPr lang="en-US" sz="1250" dirty="0"/>
          </a:p>
        </p:txBody>
      </p:sp>
      <p:sp>
        <p:nvSpPr>
          <p:cNvPr id="31" name="Text 23"/>
          <p:cNvSpPr/>
          <p:nvPr/>
        </p:nvSpPr>
        <p:spPr>
          <a:xfrm>
            <a:off x="8101584" y="4526280"/>
            <a:ext cx="1865376" cy="54864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AI goes mainstream</a:t>
            </a:r>
            <a:endParaRPr lang="en-US" sz="1100" dirty="0"/>
          </a:p>
        </p:txBody>
      </p:sp>
      <p:sp>
        <p:nvSpPr>
          <p:cNvPr id="32" name="Text 24"/>
          <p:cNvSpPr/>
          <p:nvPr/>
        </p:nvSpPr>
        <p:spPr>
          <a:xfrm>
            <a:off x="10122408" y="2331720"/>
            <a:ext cx="1737360" cy="274320"/>
          </a:xfrm>
          <a:prstGeom prst="rect">
            <a:avLst/>
          </a:prstGeom>
          <a:noFill/>
          <a:ln/>
        </p:spPr>
        <p:txBody>
          <a:bodyPr wrap="square" lIns="0" tIns="0" rIns="0" bIns="0" rtlCol="0" anchor="ctr"/>
          <a:lstStyle/>
          <a:p>
            <a:pPr algn="ctr" indent="0" marL="0">
              <a:buNone/>
            </a:pPr>
            <a:r>
              <a:rPr lang="en-US" sz="1350" b="1" dirty="0">
                <a:solidFill>
                  <a:srgbClr val="29A9E1"/>
                </a:solidFill>
                <a:latin typeface="Arial" pitchFamily="34" charset="0"/>
                <a:ea typeface="Arial" pitchFamily="34" charset="-122"/>
                <a:cs typeface="Arial" pitchFamily="34" charset="-120"/>
              </a:rPr>
              <a:t>2025–26</a:t>
            </a:r>
            <a:endParaRPr lang="en-US" sz="1350" dirty="0"/>
          </a:p>
        </p:txBody>
      </p:sp>
      <p:sp>
        <p:nvSpPr>
          <p:cNvPr id="33" name="Shape 25"/>
          <p:cNvSpPr/>
          <p:nvPr/>
        </p:nvSpPr>
        <p:spPr>
          <a:xfrm>
            <a:off x="10652760" y="3063240"/>
            <a:ext cx="676656" cy="676656"/>
          </a:xfrm>
          <a:prstGeom prst="ellipse">
            <a:avLst/>
          </a:prstGeom>
          <a:solidFill>
            <a:srgbClr val="F0C93C"/>
          </a:solidFill>
          <a:ln/>
        </p:spPr>
      </p:sp>
      <p:pic>
        <p:nvPicPr>
          <p:cNvPr id="34" name="Image 5" descr="icons/robot.png">    </p:cNvPr>
          <p:cNvPicPr>
            <a:picLocks noChangeAspect="1"/>
          </p:cNvPicPr>
          <p:nvPr/>
        </p:nvPicPr>
        <p:blipFill>
          <a:blip r:embed="rId7"/>
          <a:stretch>
            <a:fillRect/>
          </a:stretch>
        </p:blipFill>
        <p:spPr>
          <a:xfrm>
            <a:off x="10821924" y="3232404"/>
            <a:ext cx="338328" cy="338328"/>
          </a:xfrm>
          <a:prstGeom prst="rect">
            <a:avLst/>
          </a:prstGeom>
        </p:spPr>
      </p:pic>
      <p:sp>
        <p:nvSpPr>
          <p:cNvPr id="35" name="Text 26"/>
          <p:cNvSpPr/>
          <p:nvPr/>
        </p:nvSpPr>
        <p:spPr>
          <a:xfrm>
            <a:off x="10030968" y="3977640"/>
            <a:ext cx="1920240" cy="548640"/>
          </a:xfrm>
          <a:prstGeom prst="rect">
            <a:avLst/>
          </a:prstGeom>
          <a:noFill/>
          <a:ln/>
        </p:spPr>
        <p:txBody>
          <a:bodyPr wrap="square" lIns="0" tIns="0" rIns="0" bIns="0" rtlCol="0" anchor="ctr"/>
          <a:lstStyle/>
          <a:p>
            <a:pPr algn="ctr" indent="0" marL="0">
              <a:buNone/>
            </a:pPr>
            <a:r>
              <a:rPr lang="en-US" sz="1250" b="1" dirty="0">
                <a:solidFill>
                  <a:srgbClr val="151F4A"/>
                </a:solidFill>
                <a:latin typeface="Arial" pitchFamily="34" charset="0"/>
                <a:ea typeface="Arial" pitchFamily="34" charset="-122"/>
                <a:cs typeface="Arial" pitchFamily="34" charset="-120"/>
              </a:rPr>
              <a:t>Agentic AI</a:t>
            </a:r>
            <a:endParaRPr lang="en-US" sz="1250" dirty="0"/>
          </a:p>
        </p:txBody>
      </p:sp>
      <p:sp>
        <p:nvSpPr>
          <p:cNvPr id="36" name="Text 27"/>
          <p:cNvSpPr/>
          <p:nvPr/>
        </p:nvSpPr>
        <p:spPr>
          <a:xfrm>
            <a:off x="10058400" y="4526280"/>
            <a:ext cx="1865376" cy="54864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AI that does the work</a:t>
            </a:r>
            <a:endParaRPr lang="en-US" sz="1100" dirty="0"/>
          </a:p>
        </p:txBody>
      </p:sp>
      <p:sp>
        <p:nvSpPr>
          <p:cNvPr id="37" name="Text 28"/>
          <p:cNvSpPr/>
          <p:nvPr/>
        </p:nvSpPr>
        <p:spPr>
          <a:xfrm>
            <a:off x="548640" y="5623560"/>
            <a:ext cx="11064240" cy="365760"/>
          </a:xfrm>
          <a:prstGeom prst="rect">
            <a:avLst/>
          </a:prstGeom>
          <a:noFill/>
          <a:ln/>
        </p:spPr>
        <p:txBody>
          <a:bodyPr wrap="square" lIns="0" tIns="0" rIns="0" bIns="0" rtlCol="0" anchor="ctr"/>
          <a:lstStyle/>
          <a:p>
            <a:pPr algn="ctr" indent="0" marL="0">
              <a:buNone/>
            </a:pPr>
            <a:r>
              <a:rPr lang="en-US" sz="1500" i="1" dirty="0">
                <a:solidFill>
                  <a:srgbClr val="232A3E"/>
                </a:solidFill>
                <a:latin typeface="Calibri" pitchFamily="34" charset="0"/>
                <a:ea typeface="Calibri" pitchFamily="34" charset="-122"/>
                <a:cs typeface="Calibri" pitchFamily="34" charset="-120"/>
              </a:rPr>
              <a:t>70 years to get here.  The last 4 changed everything.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WHERE WE ARE NOW</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2026: AI doesn't just answer — it works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17320"/>
            <a:ext cx="3611880" cy="2331720"/>
          </a:xfrm>
          <a:prstGeom prst="roundRect">
            <a:avLst>
              <a:gd name="adj" fmla="val 3529"/>
            </a:avLst>
          </a:prstGeom>
          <a:solidFill>
            <a:srgbClr val="F5F8FC"/>
          </a:solidFill>
          <a:ln w="12700">
            <a:solidFill>
              <a:srgbClr val="E1E6F0"/>
            </a:solidFill>
            <a:prstDash val="solid"/>
          </a:ln>
        </p:spPr>
      </p:sp>
      <p:sp>
        <p:nvSpPr>
          <p:cNvPr id="7" name="Shape 4"/>
          <p:cNvSpPr/>
          <p:nvPr/>
        </p:nvSpPr>
        <p:spPr>
          <a:xfrm>
            <a:off x="822960" y="1691640"/>
            <a:ext cx="502920" cy="502920"/>
          </a:xfrm>
          <a:prstGeom prst="ellipse">
            <a:avLst/>
          </a:prstGeom>
          <a:solidFill>
            <a:srgbClr val="29A9E1"/>
          </a:solidFill>
          <a:ln/>
        </p:spPr>
      </p:sp>
      <p:pic>
        <p:nvPicPr>
          <p:cNvPr id="8" name="Image 0" descr="icons/comments.png">    </p:cNvPr>
          <p:cNvPicPr>
            <a:picLocks noChangeAspect="1"/>
          </p:cNvPicPr>
          <p:nvPr/>
        </p:nvPicPr>
        <p:blipFill>
          <a:blip r:embed="rId2"/>
          <a:stretch>
            <a:fillRect/>
          </a:stretch>
        </p:blipFill>
        <p:spPr>
          <a:xfrm>
            <a:off x="948690" y="1817370"/>
            <a:ext cx="251460" cy="251460"/>
          </a:xfrm>
          <a:prstGeom prst="rect">
            <a:avLst/>
          </a:prstGeom>
        </p:spPr>
      </p:pic>
      <p:sp>
        <p:nvSpPr>
          <p:cNvPr id="9" name="Text 5"/>
          <p:cNvSpPr/>
          <p:nvPr/>
        </p:nvSpPr>
        <p:spPr>
          <a:xfrm>
            <a:off x="822960" y="2331720"/>
            <a:ext cx="310896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Chatbot  →  Agent</a:t>
            </a:r>
            <a:endParaRPr lang="en-US" sz="1550" dirty="0"/>
          </a:p>
        </p:txBody>
      </p:sp>
      <p:sp>
        <p:nvSpPr>
          <p:cNvPr id="10" name="Text 6"/>
          <p:cNvSpPr/>
          <p:nvPr/>
        </p:nvSpPr>
        <p:spPr>
          <a:xfrm>
            <a:off x="822960" y="2697480"/>
            <a:ext cx="3108960" cy="91440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It no longer just chats. Give it a goal and tools, and it plans, browses, and executes multi-step work.</a:t>
            </a:r>
            <a:endParaRPr lang="en-US" sz="1200" dirty="0"/>
          </a:p>
        </p:txBody>
      </p:sp>
      <p:sp>
        <p:nvSpPr>
          <p:cNvPr id="11" name="Shape 7"/>
          <p:cNvSpPr/>
          <p:nvPr/>
        </p:nvSpPr>
        <p:spPr>
          <a:xfrm>
            <a:off x="4379976" y="1417320"/>
            <a:ext cx="3611880" cy="2331720"/>
          </a:xfrm>
          <a:prstGeom prst="roundRect">
            <a:avLst>
              <a:gd name="adj" fmla="val 3529"/>
            </a:avLst>
          </a:prstGeom>
          <a:solidFill>
            <a:srgbClr val="F5F8FC"/>
          </a:solidFill>
          <a:ln w="12700">
            <a:solidFill>
              <a:srgbClr val="E1E6F0"/>
            </a:solidFill>
            <a:prstDash val="solid"/>
          </a:ln>
        </p:spPr>
      </p:sp>
      <p:sp>
        <p:nvSpPr>
          <p:cNvPr id="12" name="Shape 8"/>
          <p:cNvSpPr/>
          <p:nvPr/>
        </p:nvSpPr>
        <p:spPr>
          <a:xfrm>
            <a:off x="4654296" y="1691640"/>
            <a:ext cx="502920" cy="502920"/>
          </a:xfrm>
          <a:prstGeom prst="ellipse">
            <a:avLst/>
          </a:prstGeom>
          <a:solidFill>
            <a:srgbClr val="35C1B1"/>
          </a:solidFill>
          <a:ln/>
        </p:spPr>
      </p:sp>
      <p:pic>
        <p:nvPicPr>
          <p:cNvPr id="13" name="Image 1" descr="icons/pen.png">    </p:cNvPr>
          <p:cNvPicPr>
            <a:picLocks noChangeAspect="1"/>
          </p:cNvPicPr>
          <p:nvPr/>
        </p:nvPicPr>
        <p:blipFill>
          <a:blip r:embed="rId3"/>
          <a:stretch>
            <a:fillRect/>
          </a:stretch>
        </p:blipFill>
        <p:spPr>
          <a:xfrm>
            <a:off x="4780026" y="1817370"/>
            <a:ext cx="251460" cy="251460"/>
          </a:xfrm>
          <a:prstGeom prst="rect">
            <a:avLst/>
          </a:prstGeom>
        </p:spPr>
      </p:pic>
      <p:sp>
        <p:nvSpPr>
          <p:cNvPr id="14" name="Text 9"/>
          <p:cNvSpPr/>
          <p:nvPr/>
        </p:nvSpPr>
        <p:spPr>
          <a:xfrm>
            <a:off x="4654296" y="2331720"/>
            <a:ext cx="310896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Answers  →  Deliverables</a:t>
            </a:r>
            <a:endParaRPr lang="en-US" sz="1550" dirty="0"/>
          </a:p>
        </p:txBody>
      </p:sp>
      <p:sp>
        <p:nvSpPr>
          <p:cNvPr id="15" name="Text 10"/>
          <p:cNvSpPr/>
          <p:nvPr/>
        </p:nvSpPr>
        <p:spPr>
          <a:xfrm>
            <a:off x="4654296" y="2697480"/>
            <a:ext cx="3108960" cy="91440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Spreadsheets, decks, documents, websites — real files you can send, not text you copy-paste.</a:t>
            </a:r>
            <a:endParaRPr lang="en-US" sz="1200" dirty="0"/>
          </a:p>
        </p:txBody>
      </p:sp>
      <p:sp>
        <p:nvSpPr>
          <p:cNvPr id="16" name="Shape 11"/>
          <p:cNvSpPr/>
          <p:nvPr/>
        </p:nvSpPr>
        <p:spPr>
          <a:xfrm>
            <a:off x="8211312" y="1417320"/>
            <a:ext cx="3611880" cy="2331720"/>
          </a:xfrm>
          <a:prstGeom prst="roundRect">
            <a:avLst>
              <a:gd name="adj" fmla="val 3529"/>
            </a:avLst>
          </a:prstGeom>
          <a:solidFill>
            <a:srgbClr val="F5F8FC"/>
          </a:solidFill>
          <a:ln w="12700">
            <a:solidFill>
              <a:srgbClr val="E1E6F0"/>
            </a:solidFill>
            <a:prstDash val="solid"/>
          </a:ln>
        </p:spPr>
      </p:sp>
      <p:sp>
        <p:nvSpPr>
          <p:cNvPr id="17" name="Shape 12"/>
          <p:cNvSpPr/>
          <p:nvPr/>
        </p:nvSpPr>
        <p:spPr>
          <a:xfrm>
            <a:off x="8485632" y="1691640"/>
            <a:ext cx="502920" cy="502920"/>
          </a:xfrm>
          <a:prstGeom prst="ellipse">
            <a:avLst/>
          </a:prstGeom>
          <a:solidFill>
            <a:srgbClr val="151F4A"/>
          </a:solidFill>
          <a:ln/>
        </p:spPr>
      </p:sp>
      <p:pic>
        <p:nvPicPr>
          <p:cNvPr id="18" name="Image 2" descr="icons/plug.png">    </p:cNvPr>
          <p:cNvPicPr>
            <a:picLocks noChangeAspect="1"/>
          </p:cNvPicPr>
          <p:nvPr/>
        </p:nvPicPr>
        <p:blipFill>
          <a:blip r:embed="rId4"/>
          <a:stretch>
            <a:fillRect/>
          </a:stretch>
        </p:blipFill>
        <p:spPr>
          <a:xfrm>
            <a:off x="8611362" y="1817370"/>
            <a:ext cx="251460" cy="251460"/>
          </a:xfrm>
          <a:prstGeom prst="rect">
            <a:avLst/>
          </a:prstGeom>
        </p:spPr>
      </p:pic>
      <p:sp>
        <p:nvSpPr>
          <p:cNvPr id="19" name="Text 13"/>
          <p:cNvSpPr/>
          <p:nvPr/>
        </p:nvSpPr>
        <p:spPr>
          <a:xfrm>
            <a:off x="8485632" y="2331720"/>
            <a:ext cx="310896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Isolated  →  Connected</a:t>
            </a:r>
            <a:endParaRPr lang="en-US" sz="1550" dirty="0"/>
          </a:p>
        </p:txBody>
      </p:sp>
      <p:sp>
        <p:nvSpPr>
          <p:cNvPr id="20" name="Text 14"/>
          <p:cNvSpPr/>
          <p:nvPr/>
        </p:nvSpPr>
        <p:spPr>
          <a:xfrm>
            <a:off x="8485632" y="2697480"/>
            <a:ext cx="3108960" cy="91440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AI now plugs into Gmail, WhatsApp, Slack, Notion, your CRM — it works inside your business.</a:t>
            </a:r>
            <a:endParaRPr lang="en-US" sz="1200" dirty="0"/>
          </a:p>
        </p:txBody>
      </p:sp>
      <p:sp>
        <p:nvSpPr>
          <p:cNvPr id="21" name="Shape 15"/>
          <p:cNvSpPr/>
          <p:nvPr/>
        </p:nvSpPr>
        <p:spPr>
          <a:xfrm>
            <a:off x="548640" y="4023360"/>
            <a:ext cx="11109960" cy="1965960"/>
          </a:xfrm>
          <a:prstGeom prst="roundRect">
            <a:avLst>
              <a:gd name="adj" fmla="val 4186"/>
            </a:avLst>
          </a:prstGeom>
          <a:solidFill>
            <a:srgbClr val="151F4A"/>
          </a:solidFill>
          <a:ln/>
        </p:spPr>
      </p:sp>
      <p:sp>
        <p:nvSpPr>
          <p:cNvPr id="22" name="Text 16"/>
          <p:cNvSpPr/>
          <p:nvPr/>
        </p:nvSpPr>
        <p:spPr>
          <a:xfrm>
            <a:off x="868680" y="4279392"/>
            <a:ext cx="5486400" cy="274320"/>
          </a:xfrm>
          <a:prstGeom prst="rect">
            <a:avLst/>
          </a:prstGeom>
          <a:noFill/>
          <a:ln/>
        </p:spPr>
        <p:txBody>
          <a:bodyPr wrap="square" lIns="0" tIns="0" rIns="0" bIns="0" rtlCol="0" anchor="ctr"/>
          <a:lstStyle/>
          <a:p>
            <a:pPr indent="0" marL="0">
              <a:buNone/>
            </a:pPr>
            <a:r>
              <a:rPr lang="en-US" sz="1150" b="1" spc="200" kern="0" dirty="0">
                <a:solidFill>
                  <a:srgbClr val="F0C93C"/>
                </a:solidFill>
                <a:latin typeface="Arial" pitchFamily="34" charset="0"/>
                <a:ea typeface="Arial" pitchFamily="34" charset="-122"/>
                <a:cs typeface="Arial" pitchFamily="34" charset="-120"/>
              </a:rPr>
              <a:t>RIGHT HERE IN NIGERIA</a:t>
            </a:r>
            <a:endParaRPr lang="en-US" sz="1150" dirty="0"/>
          </a:p>
        </p:txBody>
      </p:sp>
      <p:sp>
        <p:nvSpPr>
          <p:cNvPr id="23" name="Text 17"/>
          <p:cNvSpPr/>
          <p:nvPr/>
        </p:nvSpPr>
        <p:spPr>
          <a:xfrm>
            <a:off x="868680" y="4617720"/>
            <a:ext cx="10424160" cy="36576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Google AI Plus now prices in naira: </a:t>
            </a:r>
            <a:pPr indent="0" marL="0">
              <a:buNone/>
            </a:pPr>
            <a:r>
              <a:rPr lang="en-US" sz="1450" b="1" dirty="0">
                <a:solidFill>
                  <a:srgbClr val="F0C93C"/>
                </a:solidFill>
                <a:latin typeface="Calibri" pitchFamily="34" charset="0"/>
                <a:ea typeface="Calibri" pitchFamily="34" charset="-122"/>
                <a:cs typeface="Calibri" pitchFamily="34" charset="-120"/>
              </a:rPr>
              <a:t>₦7,450/month</a:t>
            </a:r>
            <a:pPr indent="0" marL="0">
              <a:buNone/>
            </a:pPr>
            <a:r>
              <a:rPr lang="en-US" sz="1450" dirty="0">
                <a:solidFill>
                  <a:srgbClr val="FFFFFF"/>
                </a:solidFill>
                <a:latin typeface="Calibri" pitchFamily="34" charset="0"/>
                <a:ea typeface="Calibri" pitchFamily="34" charset="-122"/>
                <a:cs typeface="Calibri" pitchFamily="34" charset="-120"/>
              </a:rPr>
              <a:t> — Gemini Pro, Veo video, Flow, NotebookLM and 200 GB storage.</a:t>
            </a:r>
            <a:endParaRPr lang="en-US" sz="1450" dirty="0"/>
          </a:p>
        </p:txBody>
      </p:sp>
      <p:sp>
        <p:nvSpPr>
          <p:cNvPr id="24" name="Text 18"/>
          <p:cNvSpPr/>
          <p:nvPr/>
        </p:nvSpPr>
        <p:spPr>
          <a:xfrm>
            <a:off x="868680" y="5074920"/>
            <a:ext cx="10424160" cy="5486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Nigerian students: </a:t>
            </a:r>
            <a:pPr indent="0" marL="0">
              <a:buNone/>
            </a:pPr>
            <a:r>
              <a:rPr lang="en-US" sz="1450" b="1" dirty="0">
                <a:solidFill>
                  <a:srgbClr val="F0C93C"/>
                </a:solidFill>
                <a:latin typeface="Calibri" pitchFamily="34" charset="0"/>
                <a:ea typeface="Calibri" pitchFamily="34" charset="-122"/>
                <a:cs typeface="Calibri" pitchFamily="34" charset="-120"/>
              </a:rPr>
              <a:t>12 months free</a:t>
            </a:r>
            <a:pPr indent="0" marL="0">
              <a:buNone/>
            </a:pPr>
            <a:r>
              <a:rPr lang="en-US" sz="1450" dirty="0">
                <a:solidFill>
                  <a:srgbClr val="FFFFFF"/>
                </a:solidFill>
                <a:latin typeface="Calibri" pitchFamily="34" charset="0"/>
                <a:ea typeface="Calibri" pitchFamily="34" charset="-122"/>
                <a:cs typeface="Calibri" pitchFamily="34" charset="-120"/>
              </a:rPr>
              <a:t> (announced August 2026).   Access is solved — the edge now is knowing how to use it.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914400"/>
            <a:ext cx="4114800" cy="1554480"/>
          </a:xfrm>
          <a:prstGeom prst="rect">
            <a:avLst/>
          </a:prstGeom>
          <a:noFill/>
          <a:ln/>
        </p:spPr>
        <p:txBody>
          <a:bodyPr wrap="square" lIns="0" tIns="0" rIns="0" bIns="0" rtlCol="0" anchor="ctr"/>
          <a:lstStyle/>
          <a:p>
            <a:pPr indent="0" marL="0">
              <a:buNone/>
            </a:pPr>
            <a:r>
              <a:rPr lang="en-US" sz="9200" b="1" dirty="0">
                <a:solidFill>
                  <a:srgbClr val="F0C93C"/>
                </a:solidFill>
                <a:latin typeface="Arial" pitchFamily="34" charset="0"/>
                <a:ea typeface="Arial" pitchFamily="34" charset="-122"/>
                <a:cs typeface="Arial" pitchFamily="34" charset="-120"/>
              </a:rPr>
              <a:t>02</a:t>
            </a:r>
            <a:endParaRPr lang="en-US" sz="9200" dirty="0"/>
          </a:p>
        </p:txBody>
      </p:sp>
      <p:sp>
        <p:nvSpPr>
          <p:cNvPr id="3" name="Text 1"/>
          <p:cNvSpPr/>
          <p:nvPr/>
        </p:nvSpPr>
        <p:spPr>
          <a:xfrm>
            <a:off x="685800" y="2788920"/>
            <a:ext cx="9692640" cy="12344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AI workforce: the big four</a:t>
            </a:r>
            <a:endParaRPr lang="en-US" sz="3800" dirty="0"/>
          </a:p>
        </p:txBody>
      </p:sp>
      <p:sp>
        <p:nvSpPr>
          <p:cNvPr id="4" name="Text 2"/>
          <p:cNvSpPr/>
          <p:nvPr/>
        </p:nvSpPr>
        <p:spPr>
          <a:xfrm>
            <a:off x="685800" y="4114800"/>
            <a:ext cx="8412480" cy="868680"/>
          </a:xfrm>
          <a:prstGeom prst="rect">
            <a:avLst/>
          </a:prstGeom>
          <a:noFill/>
          <a:ln/>
        </p:spPr>
        <p:txBody>
          <a:bodyPr wrap="square" lIns="0" tIns="0" rIns="0" bIns="0" rtlCol="0" anchor="ctr"/>
          <a:lstStyle/>
          <a:p>
            <a:pPr indent="0" marL="0">
              <a:buNone/>
            </a:pPr>
            <a:r>
              <a:rPr lang="en-US" sz="1700" dirty="0">
                <a:solidFill>
                  <a:srgbClr val="C9D4EE"/>
                </a:solidFill>
                <a:latin typeface="Calibri" pitchFamily="34" charset="0"/>
                <a:ea typeface="Calibri" pitchFamily="34" charset="-122"/>
                <a:cs typeface="Calibri" pitchFamily="34" charset="-120"/>
              </a:rPr>
              <a:t>Claude · ChatGPT · Gemini · Grok — what they do, what they cost, which to pick.</a:t>
            </a:r>
            <a:endParaRPr lang="en-US" sz="1700" dirty="0"/>
          </a:p>
        </p:txBody>
      </p:sp>
      <p:sp>
        <p:nvSpPr>
          <p:cNvPr id="5" name="Shape 3"/>
          <p:cNvSpPr/>
          <p:nvPr/>
        </p:nvSpPr>
        <p:spPr>
          <a:xfrm>
            <a:off x="10378440" y="914400"/>
            <a:ext cx="1051560" cy="1051560"/>
          </a:xfrm>
          <a:prstGeom prst="ellipse">
            <a:avLst/>
          </a:prstGeom>
          <a:solidFill>
            <a:srgbClr val="35C1B1"/>
          </a:solidFill>
          <a:ln/>
        </p:spPr>
      </p:sp>
      <p:pic>
        <p:nvPicPr>
          <p:cNvPr id="6" name="Image 0" descr="icons/robot.png">    </p:cNvPr>
          <p:cNvPicPr>
            <a:picLocks noChangeAspect="1"/>
          </p:cNvPicPr>
          <p:nvPr/>
        </p:nvPicPr>
        <p:blipFill>
          <a:blip r:embed="rId2"/>
          <a:stretch>
            <a:fillRect/>
          </a:stretch>
        </p:blipFill>
        <p:spPr>
          <a:xfrm>
            <a:off x="10641330" y="1177290"/>
            <a:ext cx="525780" cy="5257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THE ASSISTANTS · AUGUST 2026</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The big four at a glance</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17320"/>
            <a:ext cx="2743200" cy="4572000"/>
          </a:xfrm>
          <a:prstGeom prst="roundRect">
            <a:avLst>
              <a:gd name="adj" fmla="val 3000"/>
            </a:avLst>
          </a:prstGeom>
          <a:solidFill>
            <a:srgbClr val="F5F8FC"/>
          </a:solidFill>
          <a:ln w="12700">
            <a:solidFill>
              <a:srgbClr val="E1E6F0"/>
            </a:solidFill>
            <a:prstDash val="solid"/>
          </a:ln>
        </p:spPr>
      </p:sp>
      <p:sp>
        <p:nvSpPr>
          <p:cNvPr id="7" name="Shape 4"/>
          <p:cNvSpPr/>
          <p:nvPr/>
        </p:nvSpPr>
        <p:spPr>
          <a:xfrm>
            <a:off x="777240" y="1645920"/>
            <a:ext cx="502920" cy="502920"/>
          </a:xfrm>
          <a:prstGeom prst="ellipse">
            <a:avLst/>
          </a:prstGeom>
          <a:solidFill>
            <a:srgbClr val="35C1B1"/>
          </a:solidFill>
          <a:ln/>
        </p:spPr>
      </p:sp>
      <p:pic>
        <p:nvPicPr>
          <p:cNvPr id="8" name="Image 0" descr="icons/robot.png">    </p:cNvPr>
          <p:cNvPicPr>
            <a:picLocks noChangeAspect="1"/>
          </p:cNvPicPr>
          <p:nvPr/>
        </p:nvPicPr>
        <p:blipFill>
          <a:blip r:embed="rId2"/>
          <a:stretch>
            <a:fillRect/>
          </a:stretch>
        </p:blipFill>
        <p:spPr>
          <a:xfrm>
            <a:off x="902970" y="1771650"/>
            <a:ext cx="251460" cy="251460"/>
          </a:xfrm>
          <a:prstGeom prst="rect">
            <a:avLst/>
          </a:prstGeom>
        </p:spPr>
      </p:pic>
      <p:sp>
        <p:nvSpPr>
          <p:cNvPr id="9" name="Text 5"/>
          <p:cNvSpPr/>
          <p:nvPr/>
        </p:nvSpPr>
        <p:spPr>
          <a:xfrm>
            <a:off x="1417320" y="1682496"/>
            <a:ext cx="1828800" cy="292608"/>
          </a:xfrm>
          <a:prstGeom prst="rect">
            <a:avLst/>
          </a:prstGeom>
          <a:noFill/>
          <a:ln/>
        </p:spPr>
        <p:txBody>
          <a:bodyPr wrap="square" lIns="0" tIns="0" rIns="0" bIns="0" rtlCol="0" anchor="ctr"/>
          <a:lstStyle/>
          <a:p>
            <a:pPr indent="0" marL="0">
              <a:buNone/>
            </a:pPr>
            <a:r>
              <a:rPr lang="en-US" sz="1700" b="1" dirty="0">
                <a:solidFill>
                  <a:srgbClr val="151F4A"/>
                </a:solidFill>
                <a:latin typeface="Arial" pitchFamily="34" charset="0"/>
                <a:ea typeface="Arial" pitchFamily="34" charset="-122"/>
                <a:cs typeface="Arial" pitchFamily="34" charset="-120"/>
              </a:rPr>
              <a:t>Claude</a:t>
            </a:r>
            <a:endParaRPr lang="en-US" sz="1700" dirty="0"/>
          </a:p>
        </p:txBody>
      </p:sp>
      <p:sp>
        <p:nvSpPr>
          <p:cNvPr id="10" name="Text 6"/>
          <p:cNvSpPr/>
          <p:nvPr/>
        </p:nvSpPr>
        <p:spPr>
          <a:xfrm>
            <a:off x="1417320" y="1975104"/>
            <a:ext cx="1828800" cy="237744"/>
          </a:xfrm>
          <a:prstGeom prst="rect">
            <a:avLst/>
          </a:prstGeom>
          <a:noFill/>
          <a:ln/>
        </p:spPr>
        <p:txBody>
          <a:bodyPr wrap="square" lIns="0" tIns="0" rIns="0" bIns="0" rtlCol="0" anchor="ctr"/>
          <a:lstStyle/>
          <a:p>
            <a:pPr indent="0" marL="0">
              <a:buNone/>
            </a:pPr>
            <a:r>
              <a:rPr lang="en-US" sz="1050" dirty="0">
                <a:solidFill>
                  <a:srgbClr val="68708A"/>
                </a:solidFill>
                <a:latin typeface="Calibri" pitchFamily="34" charset="0"/>
                <a:ea typeface="Calibri" pitchFamily="34" charset="-122"/>
                <a:cs typeface="Calibri" pitchFamily="34" charset="-120"/>
              </a:rPr>
              <a:t>Anthropic · Fable 5</a:t>
            </a:r>
            <a:endParaRPr lang="en-US" sz="1050" dirty="0"/>
          </a:p>
        </p:txBody>
      </p:sp>
      <p:sp>
        <p:nvSpPr>
          <p:cNvPr id="11" name="Text 7"/>
          <p:cNvSpPr/>
          <p:nvPr/>
        </p:nvSpPr>
        <p:spPr>
          <a:xfrm>
            <a:off x="777240" y="2377440"/>
            <a:ext cx="2286000" cy="2468880"/>
          </a:xfrm>
          <a:prstGeom prst="rect">
            <a:avLst/>
          </a:prstGeom>
          <a:noFill/>
          <a:ln/>
        </p:spPr>
        <p:txBody>
          <a:bodyPr wrap="square" lIns="0" tIns="0" rIns="0" bIns="0" rtlCol="0" anchor="ctr"/>
          <a:lstStyle/>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Turns work into real files: Excel, PowerPoint, Word</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Agents: Claude Code &amp; Cowork do multi-step work</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Projects + memory learn your brand voice</a:t>
            </a:r>
            <a:endParaRPr lang="en-US" sz="1150" dirty="0"/>
          </a:p>
        </p:txBody>
      </p:sp>
      <p:sp>
        <p:nvSpPr>
          <p:cNvPr id="12" name="Shape 8"/>
          <p:cNvSpPr/>
          <p:nvPr/>
        </p:nvSpPr>
        <p:spPr>
          <a:xfrm>
            <a:off x="777240" y="5349240"/>
            <a:ext cx="2286000" cy="0"/>
          </a:xfrm>
          <a:prstGeom prst="line">
            <a:avLst/>
          </a:prstGeom>
          <a:noFill/>
          <a:ln w="12700">
            <a:solidFill>
              <a:srgbClr val="E1E6F0"/>
            </a:solidFill>
            <a:prstDash val="solid"/>
          </a:ln>
        </p:spPr>
      </p:sp>
      <p:sp>
        <p:nvSpPr>
          <p:cNvPr id="13" name="Text 9"/>
          <p:cNvSpPr/>
          <p:nvPr/>
        </p:nvSpPr>
        <p:spPr>
          <a:xfrm>
            <a:off x="777240" y="5468112"/>
            <a:ext cx="2286000" cy="411480"/>
          </a:xfrm>
          <a:prstGeom prst="rect">
            <a:avLst/>
          </a:prstGeom>
          <a:noFill/>
          <a:ln/>
        </p:spPr>
        <p:txBody>
          <a:bodyPr wrap="square" lIns="0" tIns="0" rIns="0" bIns="0" rtlCol="0" anchor="ctr"/>
          <a:lstStyle/>
          <a:p>
            <a:pPr indent="0" marL="0">
              <a:buNone/>
            </a:pPr>
            <a:r>
              <a:rPr lang="en-US" sz="1050" b="1" dirty="0">
                <a:solidFill>
                  <a:srgbClr val="151F4A"/>
                </a:solidFill>
                <a:latin typeface="Arial" pitchFamily="34" charset="0"/>
                <a:ea typeface="Arial" pitchFamily="34" charset="-122"/>
                <a:cs typeface="Arial" pitchFamily="34" charset="-120"/>
              </a:rPr>
              <a:t>Free  ·  Pro $20  ·  Max $100+</a:t>
            </a:r>
            <a:endParaRPr lang="en-US" sz="1050" dirty="0"/>
          </a:p>
        </p:txBody>
      </p:sp>
      <p:sp>
        <p:nvSpPr>
          <p:cNvPr id="14" name="Shape 10"/>
          <p:cNvSpPr/>
          <p:nvPr/>
        </p:nvSpPr>
        <p:spPr>
          <a:xfrm>
            <a:off x="3465576" y="1417320"/>
            <a:ext cx="2743200" cy="4572000"/>
          </a:xfrm>
          <a:prstGeom prst="roundRect">
            <a:avLst>
              <a:gd name="adj" fmla="val 3000"/>
            </a:avLst>
          </a:prstGeom>
          <a:solidFill>
            <a:srgbClr val="F5F8FC"/>
          </a:solidFill>
          <a:ln w="12700">
            <a:solidFill>
              <a:srgbClr val="E1E6F0"/>
            </a:solidFill>
            <a:prstDash val="solid"/>
          </a:ln>
        </p:spPr>
      </p:sp>
      <p:sp>
        <p:nvSpPr>
          <p:cNvPr id="15" name="Shape 11"/>
          <p:cNvSpPr/>
          <p:nvPr/>
        </p:nvSpPr>
        <p:spPr>
          <a:xfrm>
            <a:off x="3694176" y="1645920"/>
            <a:ext cx="502920" cy="502920"/>
          </a:xfrm>
          <a:prstGeom prst="ellipse">
            <a:avLst/>
          </a:prstGeom>
          <a:solidFill>
            <a:srgbClr val="29A9E1"/>
          </a:solidFill>
          <a:ln/>
        </p:spPr>
      </p:sp>
      <p:pic>
        <p:nvPicPr>
          <p:cNvPr id="16" name="Image 1" descr="icons/comments.png">    </p:cNvPr>
          <p:cNvPicPr>
            <a:picLocks noChangeAspect="1"/>
          </p:cNvPicPr>
          <p:nvPr/>
        </p:nvPicPr>
        <p:blipFill>
          <a:blip r:embed="rId3"/>
          <a:stretch>
            <a:fillRect/>
          </a:stretch>
        </p:blipFill>
        <p:spPr>
          <a:xfrm>
            <a:off x="3819906" y="1771650"/>
            <a:ext cx="251460" cy="251460"/>
          </a:xfrm>
          <a:prstGeom prst="rect">
            <a:avLst/>
          </a:prstGeom>
        </p:spPr>
      </p:pic>
      <p:sp>
        <p:nvSpPr>
          <p:cNvPr id="17" name="Text 12"/>
          <p:cNvSpPr/>
          <p:nvPr/>
        </p:nvSpPr>
        <p:spPr>
          <a:xfrm>
            <a:off x="4334256" y="1682496"/>
            <a:ext cx="1828800" cy="292608"/>
          </a:xfrm>
          <a:prstGeom prst="rect">
            <a:avLst/>
          </a:prstGeom>
          <a:noFill/>
          <a:ln/>
        </p:spPr>
        <p:txBody>
          <a:bodyPr wrap="square" lIns="0" tIns="0" rIns="0" bIns="0" rtlCol="0" anchor="ctr"/>
          <a:lstStyle/>
          <a:p>
            <a:pPr indent="0" marL="0">
              <a:buNone/>
            </a:pPr>
            <a:r>
              <a:rPr lang="en-US" sz="1700" b="1" dirty="0">
                <a:solidFill>
                  <a:srgbClr val="151F4A"/>
                </a:solidFill>
                <a:latin typeface="Arial" pitchFamily="34" charset="0"/>
                <a:ea typeface="Arial" pitchFamily="34" charset="-122"/>
                <a:cs typeface="Arial" pitchFamily="34" charset="-120"/>
              </a:rPr>
              <a:t>ChatGPT</a:t>
            </a:r>
            <a:endParaRPr lang="en-US" sz="1700" dirty="0"/>
          </a:p>
        </p:txBody>
      </p:sp>
      <p:sp>
        <p:nvSpPr>
          <p:cNvPr id="18" name="Text 13"/>
          <p:cNvSpPr/>
          <p:nvPr/>
        </p:nvSpPr>
        <p:spPr>
          <a:xfrm>
            <a:off x="4334256" y="1975104"/>
            <a:ext cx="1828800" cy="237744"/>
          </a:xfrm>
          <a:prstGeom prst="rect">
            <a:avLst/>
          </a:prstGeom>
          <a:noFill/>
          <a:ln/>
        </p:spPr>
        <p:txBody>
          <a:bodyPr wrap="square" lIns="0" tIns="0" rIns="0" bIns="0" rtlCol="0" anchor="ctr"/>
          <a:lstStyle/>
          <a:p>
            <a:pPr indent="0" marL="0">
              <a:buNone/>
            </a:pPr>
            <a:r>
              <a:rPr lang="en-US" sz="1050" dirty="0">
                <a:solidFill>
                  <a:srgbClr val="68708A"/>
                </a:solidFill>
                <a:latin typeface="Calibri" pitchFamily="34" charset="0"/>
                <a:ea typeface="Calibri" pitchFamily="34" charset="-122"/>
                <a:cs typeface="Calibri" pitchFamily="34" charset="-120"/>
              </a:rPr>
              <a:t>OpenAI · GPT-5.6</a:t>
            </a:r>
            <a:endParaRPr lang="en-US" sz="1050" dirty="0"/>
          </a:p>
        </p:txBody>
      </p:sp>
      <p:sp>
        <p:nvSpPr>
          <p:cNvPr id="19" name="Text 14"/>
          <p:cNvSpPr/>
          <p:nvPr/>
        </p:nvSpPr>
        <p:spPr>
          <a:xfrm>
            <a:off x="3694176" y="2377440"/>
            <a:ext cx="2286000" cy="2468880"/>
          </a:xfrm>
          <a:prstGeom prst="rect">
            <a:avLst/>
          </a:prstGeom>
          <a:noFill/>
          <a:ln/>
        </p:spPr>
        <p:txBody>
          <a:bodyPr wrap="square" lIns="0" tIns="0" rIns="0" bIns="0" rtlCol="0" anchor="ctr"/>
          <a:lstStyle/>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Agent Mode browses, clicks and acts for you</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Custom GPTs — package &amp; share your know-how</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Deep Research writes cited reports</a:t>
            </a:r>
            <a:endParaRPr lang="en-US" sz="1150" dirty="0"/>
          </a:p>
        </p:txBody>
      </p:sp>
      <p:sp>
        <p:nvSpPr>
          <p:cNvPr id="20" name="Shape 15"/>
          <p:cNvSpPr/>
          <p:nvPr/>
        </p:nvSpPr>
        <p:spPr>
          <a:xfrm>
            <a:off x="3694176" y="5349240"/>
            <a:ext cx="2286000" cy="0"/>
          </a:xfrm>
          <a:prstGeom prst="line">
            <a:avLst/>
          </a:prstGeom>
          <a:noFill/>
          <a:ln w="12700">
            <a:solidFill>
              <a:srgbClr val="E1E6F0"/>
            </a:solidFill>
            <a:prstDash val="solid"/>
          </a:ln>
        </p:spPr>
      </p:sp>
      <p:sp>
        <p:nvSpPr>
          <p:cNvPr id="21" name="Text 16"/>
          <p:cNvSpPr/>
          <p:nvPr/>
        </p:nvSpPr>
        <p:spPr>
          <a:xfrm>
            <a:off x="3694176" y="5468112"/>
            <a:ext cx="2286000" cy="411480"/>
          </a:xfrm>
          <a:prstGeom prst="rect">
            <a:avLst/>
          </a:prstGeom>
          <a:noFill/>
          <a:ln/>
        </p:spPr>
        <p:txBody>
          <a:bodyPr wrap="square" lIns="0" tIns="0" rIns="0" bIns="0" rtlCol="0" anchor="ctr"/>
          <a:lstStyle/>
          <a:p>
            <a:pPr indent="0" marL="0">
              <a:buNone/>
            </a:pPr>
            <a:r>
              <a:rPr lang="en-US" sz="1050" b="1" dirty="0">
                <a:solidFill>
                  <a:srgbClr val="151F4A"/>
                </a:solidFill>
                <a:latin typeface="Arial" pitchFamily="34" charset="0"/>
                <a:ea typeface="Arial" pitchFamily="34" charset="-122"/>
                <a:cs typeface="Arial" pitchFamily="34" charset="-120"/>
              </a:rPr>
              <a:t>Free  ·  Go ~$8  ·  Plus $20</a:t>
            </a:r>
            <a:endParaRPr lang="en-US" sz="1050" dirty="0"/>
          </a:p>
        </p:txBody>
      </p:sp>
      <p:sp>
        <p:nvSpPr>
          <p:cNvPr id="22" name="Shape 17"/>
          <p:cNvSpPr/>
          <p:nvPr/>
        </p:nvSpPr>
        <p:spPr>
          <a:xfrm>
            <a:off x="6382512" y="1417320"/>
            <a:ext cx="2743200" cy="4572000"/>
          </a:xfrm>
          <a:prstGeom prst="roundRect">
            <a:avLst>
              <a:gd name="adj" fmla="val 3000"/>
            </a:avLst>
          </a:prstGeom>
          <a:solidFill>
            <a:srgbClr val="F5F8FC"/>
          </a:solidFill>
          <a:ln w="12700">
            <a:solidFill>
              <a:srgbClr val="E1E6F0"/>
            </a:solidFill>
            <a:prstDash val="solid"/>
          </a:ln>
        </p:spPr>
      </p:sp>
      <p:sp>
        <p:nvSpPr>
          <p:cNvPr id="23" name="Shape 18"/>
          <p:cNvSpPr/>
          <p:nvPr/>
        </p:nvSpPr>
        <p:spPr>
          <a:xfrm>
            <a:off x="6611112" y="1645920"/>
            <a:ext cx="502920" cy="502920"/>
          </a:xfrm>
          <a:prstGeom prst="ellipse">
            <a:avLst/>
          </a:prstGeom>
          <a:solidFill>
            <a:srgbClr val="151F4A"/>
          </a:solidFill>
          <a:ln/>
        </p:spPr>
      </p:sp>
      <p:pic>
        <p:nvPicPr>
          <p:cNvPr id="24" name="Image 2" descr="icons/star.png">    </p:cNvPr>
          <p:cNvPicPr>
            <a:picLocks noChangeAspect="1"/>
          </p:cNvPicPr>
          <p:nvPr/>
        </p:nvPicPr>
        <p:blipFill>
          <a:blip r:embed="rId4"/>
          <a:stretch>
            <a:fillRect/>
          </a:stretch>
        </p:blipFill>
        <p:spPr>
          <a:xfrm>
            <a:off x="6736842" y="1771650"/>
            <a:ext cx="251460" cy="251460"/>
          </a:xfrm>
          <a:prstGeom prst="rect">
            <a:avLst/>
          </a:prstGeom>
        </p:spPr>
      </p:pic>
      <p:sp>
        <p:nvSpPr>
          <p:cNvPr id="25" name="Text 19"/>
          <p:cNvSpPr/>
          <p:nvPr/>
        </p:nvSpPr>
        <p:spPr>
          <a:xfrm>
            <a:off x="7251192" y="1682496"/>
            <a:ext cx="1828800" cy="292608"/>
          </a:xfrm>
          <a:prstGeom prst="rect">
            <a:avLst/>
          </a:prstGeom>
          <a:noFill/>
          <a:ln/>
        </p:spPr>
        <p:txBody>
          <a:bodyPr wrap="square" lIns="0" tIns="0" rIns="0" bIns="0" rtlCol="0" anchor="ctr"/>
          <a:lstStyle/>
          <a:p>
            <a:pPr indent="0" marL="0">
              <a:buNone/>
            </a:pPr>
            <a:r>
              <a:rPr lang="en-US" sz="1700" b="1" dirty="0">
                <a:solidFill>
                  <a:srgbClr val="151F4A"/>
                </a:solidFill>
                <a:latin typeface="Arial" pitchFamily="34" charset="0"/>
                <a:ea typeface="Arial" pitchFamily="34" charset="-122"/>
                <a:cs typeface="Arial" pitchFamily="34" charset="-120"/>
              </a:rPr>
              <a:t>Gemini</a:t>
            </a:r>
            <a:endParaRPr lang="en-US" sz="1700" dirty="0"/>
          </a:p>
        </p:txBody>
      </p:sp>
      <p:sp>
        <p:nvSpPr>
          <p:cNvPr id="26" name="Text 20"/>
          <p:cNvSpPr/>
          <p:nvPr/>
        </p:nvSpPr>
        <p:spPr>
          <a:xfrm>
            <a:off x="7251192" y="1975104"/>
            <a:ext cx="1828800" cy="237744"/>
          </a:xfrm>
          <a:prstGeom prst="rect">
            <a:avLst/>
          </a:prstGeom>
          <a:noFill/>
          <a:ln/>
        </p:spPr>
        <p:txBody>
          <a:bodyPr wrap="square" lIns="0" tIns="0" rIns="0" bIns="0" rtlCol="0" anchor="ctr"/>
          <a:lstStyle/>
          <a:p>
            <a:pPr indent="0" marL="0">
              <a:buNone/>
            </a:pPr>
            <a:r>
              <a:rPr lang="en-US" sz="1050" dirty="0">
                <a:solidFill>
                  <a:srgbClr val="68708A"/>
                </a:solidFill>
                <a:latin typeface="Calibri" pitchFamily="34" charset="0"/>
                <a:ea typeface="Calibri" pitchFamily="34" charset="-122"/>
                <a:cs typeface="Calibri" pitchFamily="34" charset="-120"/>
              </a:rPr>
              <a:t>Google · 3.1 Pro</a:t>
            </a:r>
            <a:endParaRPr lang="en-US" sz="1050" dirty="0"/>
          </a:p>
        </p:txBody>
      </p:sp>
      <p:sp>
        <p:nvSpPr>
          <p:cNvPr id="27" name="Text 21"/>
          <p:cNvSpPr/>
          <p:nvPr/>
        </p:nvSpPr>
        <p:spPr>
          <a:xfrm>
            <a:off x="6611112" y="2377440"/>
            <a:ext cx="2286000" cy="2468880"/>
          </a:xfrm>
          <a:prstGeom prst="rect">
            <a:avLst/>
          </a:prstGeom>
          <a:noFill/>
          <a:ln/>
        </p:spPr>
        <p:txBody>
          <a:bodyPr wrap="square" lIns="0" tIns="0" rIns="0" bIns="0" rtlCol="0" anchor="ctr"/>
          <a:lstStyle/>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Lives inside Gmail, Docs, Drive, Meet</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Bundles NotebookLM + Veo video + Flow</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Cheapest paid tier — ₦7,450/mo in Nigeria</a:t>
            </a:r>
            <a:endParaRPr lang="en-US" sz="1150" dirty="0"/>
          </a:p>
        </p:txBody>
      </p:sp>
      <p:sp>
        <p:nvSpPr>
          <p:cNvPr id="28" name="Shape 22"/>
          <p:cNvSpPr/>
          <p:nvPr/>
        </p:nvSpPr>
        <p:spPr>
          <a:xfrm>
            <a:off x="6611112" y="5349240"/>
            <a:ext cx="2286000" cy="0"/>
          </a:xfrm>
          <a:prstGeom prst="line">
            <a:avLst/>
          </a:prstGeom>
          <a:noFill/>
          <a:ln w="12700">
            <a:solidFill>
              <a:srgbClr val="E1E6F0"/>
            </a:solidFill>
            <a:prstDash val="solid"/>
          </a:ln>
        </p:spPr>
      </p:sp>
      <p:sp>
        <p:nvSpPr>
          <p:cNvPr id="29" name="Text 23"/>
          <p:cNvSpPr/>
          <p:nvPr/>
        </p:nvSpPr>
        <p:spPr>
          <a:xfrm>
            <a:off x="6611112" y="5468112"/>
            <a:ext cx="2286000" cy="411480"/>
          </a:xfrm>
          <a:prstGeom prst="rect">
            <a:avLst/>
          </a:prstGeom>
          <a:noFill/>
          <a:ln/>
        </p:spPr>
        <p:txBody>
          <a:bodyPr wrap="square" lIns="0" tIns="0" rIns="0" bIns="0" rtlCol="0" anchor="ctr"/>
          <a:lstStyle/>
          <a:p>
            <a:pPr indent="0" marL="0">
              <a:buNone/>
            </a:pPr>
            <a:r>
              <a:rPr lang="en-US" sz="1050" b="1" dirty="0">
                <a:solidFill>
                  <a:srgbClr val="151F4A"/>
                </a:solidFill>
                <a:latin typeface="Arial" pitchFamily="34" charset="0"/>
                <a:ea typeface="Arial" pitchFamily="34" charset="-122"/>
                <a:cs typeface="Arial" pitchFamily="34" charset="-120"/>
              </a:rPr>
              <a:t>Free  ·  Plus $4.99  ·  Pro $19.99</a:t>
            </a:r>
            <a:endParaRPr lang="en-US" sz="1050" dirty="0"/>
          </a:p>
        </p:txBody>
      </p:sp>
      <p:sp>
        <p:nvSpPr>
          <p:cNvPr id="30" name="Shape 24"/>
          <p:cNvSpPr/>
          <p:nvPr/>
        </p:nvSpPr>
        <p:spPr>
          <a:xfrm>
            <a:off x="9299448" y="1417320"/>
            <a:ext cx="2743200" cy="4572000"/>
          </a:xfrm>
          <a:prstGeom prst="roundRect">
            <a:avLst>
              <a:gd name="adj" fmla="val 3000"/>
            </a:avLst>
          </a:prstGeom>
          <a:solidFill>
            <a:srgbClr val="F5F8FC"/>
          </a:solidFill>
          <a:ln w="12700">
            <a:solidFill>
              <a:srgbClr val="E1E6F0"/>
            </a:solidFill>
            <a:prstDash val="solid"/>
          </a:ln>
        </p:spPr>
      </p:sp>
      <p:sp>
        <p:nvSpPr>
          <p:cNvPr id="31" name="Shape 25"/>
          <p:cNvSpPr/>
          <p:nvPr/>
        </p:nvSpPr>
        <p:spPr>
          <a:xfrm>
            <a:off x="9528048" y="1645920"/>
            <a:ext cx="502920" cy="502920"/>
          </a:xfrm>
          <a:prstGeom prst="ellipse">
            <a:avLst/>
          </a:prstGeom>
          <a:solidFill>
            <a:srgbClr val="F0C93C"/>
          </a:solidFill>
          <a:ln/>
        </p:spPr>
      </p:sp>
      <p:pic>
        <p:nvPicPr>
          <p:cNvPr id="32" name="Image 3" descr="icons/bolt.png">    </p:cNvPr>
          <p:cNvPicPr>
            <a:picLocks noChangeAspect="1"/>
          </p:cNvPicPr>
          <p:nvPr/>
        </p:nvPicPr>
        <p:blipFill>
          <a:blip r:embed="rId5"/>
          <a:stretch>
            <a:fillRect/>
          </a:stretch>
        </p:blipFill>
        <p:spPr>
          <a:xfrm>
            <a:off x="9653778" y="1771650"/>
            <a:ext cx="251460" cy="251460"/>
          </a:xfrm>
          <a:prstGeom prst="rect">
            <a:avLst/>
          </a:prstGeom>
        </p:spPr>
      </p:pic>
      <p:sp>
        <p:nvSpPr>
          <p:cNvPr id="33" name="Text 26"/>
          <p:cNvSpPr/>
          <p:nvPr/>
        </p:nvSpPr>
        <p:spPr>
          <a:xfrm>
            <a:off x="10168128" y="1682496"/>
            <a:ext cx="1828800" cy="292608"/>
          </a:xfrm>
          <a:prstGeom prst="rect">
            <a:avLst/>
          </a:prstGeom>
          <a:noFill/>
          <a:ln/>
        </p:spPr>
        <p:txBody>
          <a:bodyPr wrap="square" lIns="0" tIns="0" rIns="0" bIns="0" rtlCol="0" anchor="ctr"/>
          <a:lstStyle/>
          <a:p>
            <a:pPr indent="0" marL="0">
              <a:buNone/>
            </a:pPr>
            <a:r>
              <a:rPr lang="en-US" sz="1700" b="1" dirty="0">
                <a:solidFill>
                  <a:srgbClr val="151F4A"/>
                </a:solidFill>
                <a:latin typeface="Arial" pitchFamily="34" charset="0"/>
                <a:ea typeface="Arial" pitchFamily="34" charset="-122"/>
                <a:cs typeface="Arial" pitchFamily="34" charset="-120"/>
              </a:rPr>
              <a:t>Grok</a:t>
            </a:r>
            <a:endParaRPr lang="en-US" sz="1700" dirty="0"/>
          </a:p>
        </p:txBody>
      </p:sp>
      <p:sp>
        <p:nvSpPr>
          <p:cNvPr id="34" name="Text 27"/>
          <p:cNvSpPr/>
          <p:nvPr/>
        </p:nvSpPr>
        <p:spPr>
          <a:xfrm>
            <a:off x="10168128" y="1975104"/>
            <a:ext cx="1828800" cy="237744"/>
          </a:xfrm>
          <a:prstGeom prst="rect">
            <a:avLst/>
          </a:prstGeom>
          <a:noFill/>
          <a:ln/>
        </p:spPr>
        <p:txBody>
          <a:bodyPr wrap="square" lIns="0" tIns="0" rIns="0" bIns="0" rtlCol="0" anchor="ctr"/>
          <a:lstStyle/>
          <a:p>
            <a:pPr indent="0" marL="0">
              <a:buNone/>
            </a:pPr>
            <a:r>
              <a:rPr lang="en-US" sz="1050" dirty="0">
                <a:solidFill>
                  <a:srgbClr val="68708A"/>
                </a:solidFill>
                <a:latin typeface="Calibri" pitchFamily="34" charset="0"/>
                <a:ea typeface="Calibri" pitchFamily="34" charset="-122"/>
                <a:cs typeface="Calibri" pitchFamily="34" charset="-120"/>
              </a:rPr>
              <a:t>xAI · Grok 4.5</a:t>
            </a:r>
            <a:endParaRPr lang="en-US" sz="1050" dirty="0"/>
          </a:p>
        </p:txBody>
      </p:sp>
      <p:sp>
        <p:nvSpPr>
          <p:cNvPr id="35" name="Text 28"/>
          <p:cNvSpPr/>
          <p:nvPr/>
        </p:nvSpPr>
        <p:spPr>
          <a:xfrm>
            <a:off x="9528048" y="2377440"/>
            <a:ext cx="2286000" cy="2468880"/>
          </a:xfrm>
          <a:prstGeom prst="rect">
            <a:avLst/>
          </a:prstGeom>
          <a:noFill/>
          <a:ln/>
        </p:spPr>
        <p:txBody>
          <a:bodyPr wrap="square" lIns="0" tIns="0" rIns="0" bIns="0" rtlCol="0" anchor="ctr"/>
          <a:lstStyle/>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Real-time pulse of X — trends as they happen</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DeepSearch for live web research</a:t>
            </a:r>
            <a:endParaRPr lang="en-US" sz="1150" dirty="0"/>
          </a:p>
          <a:p>
            <a:pPr marL="127000" indent="-127000">
              <a:spcAft>
                <a:spcPts val="800"/>
              </a:spcAft>
              <a:buSzPct val="100000"/>
              <a:buChar char="•"/>
            </a:pPr>
            <a:r>
              <a:rPr lang="en-US" sz="1150" dirty="0">
                <a:solidFill>
                  <a:srgbClr val="232A3E"/>
                </a:solidFill>
                <a:latin typeface="Calibri" pitchFamily="34" charset="0"/>
                <a:ea typeface="Calibri" pitchFamily="34" charset="-122"/>
                <a:cs typeface="Calibri" pitchFamily="34" charset="-120"/>
              </a:rPr>
              <a:t>Grok Imagine for images &amp; video</a:t>
            </a:r>
            <a:endParaRPr lang="en-US" sz="1150" dirty="0"/>
          </a:p>
        </p:txBody>
      </p:sp>
      <p:sp>
        <p:nvSpPr>
          <p:cNvPr id="36" name="Shape 29"/>
          <p:cNvSpPr/>
          <p:nvPr/>
        </p:nvSpPr>
        <p:spPr>
          <a:xfrm>
            <a:off x="9528048" y="5349240"/>
            <a:ext cx="2286000" cy="0"/>
          </a:xfrm>
          <a:prstGeom prst="line">
            <a:avLst/>
          </a:prstGeom>
          <a:noFill/>
          <a:ln w="12700">
            <a:solidFill>
              <a:srgbClr val="E1E6F0"/>
            </a:solidFill>
            <a:prstDash val="solid"/>
          </a:ln>
        </p:spPr>
      </p:sp>
      <p:sp>
        <p:nvSpPr>
          <p:cNvPr id="37" name="Text 30"/>
          <p:cNvSpPr/>
          <p:nvPr/>
        </p:nvSpPr>
        <p:spPr>
          <a:xfrm>
            <a:off x="9528048" y="5468112"/>
            <a:ext cx="2286000" cy="411480"/>
          </a:xfrm>
          <a:prstGeom prst="rect">
            <a:avLst/>
          </a:prstGeom>
          <a:noFill/>
          <a:ln/>
        </p:spPr>
        <p:txBody>
          <a:bodyPr wrap="square" lIns="0" tIns="0" rIns="0" bIns="0" rtlCol="0" anchor="ctr"/>
          <a:lstStyle/>
          <a:p>
            <a:pPr indent="0" marL="0">
              <a:buNone/>
            </a:pPr>
            <a:r>
              <a:rPr lang="en-US" sz="1050" b="1" dirty="0">
                <a:solidFill>
                  <a:srgbClr val="151F4A"/>
                </a:solidFill>
                <a:latin typeface="Arial" pitchFamily="34" charset="0"/>
                <a:ea typeface="Arial" pitchFamily="34" charset="-122"/>
                <a:cs typeface="Arial" pitchFamily="34" charset="-120"/>
              </a:rPr>
              <a:t>Free  ·  X Premium $8  ·  SuperGrok $30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CHOOSING</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Which one should you pick?</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08760"/>
            <a:ext cx="457200" cy="457200"/>
          </a:xfrm>
          <a:prstGeom prst="ellipse">
            <a:avLst/>
          </a:prstGeom>
          <a:solidFill>
            <a:srgbClr val="151F4A"/>
          </a:solidFill>
          <a:ln/>
        </p:spPr>
      </p:sp>
      <p:pic>
        <p:nvPicPr>
          <p:cNvPr id="7" name="Image 0" descr="icons/star.png">    </p:cNvPr>
          <p:cNvPicPr>
            <a:picLocks noChangeAspect="1"/>
          </p:cNvPicPr>
          <p:nvPr/>
        </p:nvPicPr>
        <p:blipFill>
          <a:blip r:embed="rId2"/>
          <a:stretch>
            <a:fillRect/>
          </a:stretch>
        </p:blipFill>
        <p:spPr>
          <a:xfrm>
            <a:off x="662940" y="1623060"/>
            <a:ext cx="228600" cy="228600"/>
          </a:xfrm>
          <a:prstGeom prst="rect">
            <a:avLst/>
          </a:prstGeom>
        </p:spPr>
      </p:pic>
      <p:sp>
        <p:nvSpPr>
          <p:cNvPr id="8" name="Text 4"/>
          <p:cNvSpPr/>
          <p:nvPr/>
        </p:nvSpPr>
        <p:spPr>
          <a:xfrm>
            <a:off x="1207008" y="1453896"/>
            <a:ext cx="1040587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You live in Gmail, Docs &amp; Drive</a:t>
            </a:r>
            <a:endParaRPr lang="en-US" sz="1450" dirty="0"/>
          </a:p>
        </p:txBody>
      </p:sp>
      <p:sp>
        <p:nvSpPr>
          <p:cNvPr id="9" name="Text 5"/>
          <p:cNvSpPr/>
          <p:nvPr/>
        </p:nvSpPr>
        <p:spPr>
          <a:xfrm>
            <a:off x="1207008" y="1746504"/>
            <a:ext cx="10405872" cy="45720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Start with Gemini — it's already inside your tools, and it's ₦7,450/month here.</a:t>
            </a:r>
            <a:endParaRPr lang="en-US" sz="1200" dirty="0"/>
          </a:p>
        </p:txBody>
      </p:sp>
      <p:sp>
        <p:nvSpPr>
          <p:cNvPr id="10" name="Shape 6"/>
          <p:cNvSpPr/>
          <p:nvPr/>
        </p:nvSpPr>
        <p:spPr>
          <a:xfrm>
            <a:off x="548640" y="2468880"/>
            <a:ext cx="457200" cy="457200"/>
          </a:xfrm>
          <a:prstGeom prst="ellipse">
            <a:avLst/>
          </a:prstGeom>
          <a:solidFill>
            <a:srgbClr val="35C1B1"/>
          </a:solidFill>
          <a:ln/>
        </p:spPr>
      </p:sp>
      <p:pic>
        <p:nvPicPr>
          <p:cNvPr id="11" name="Image 1" descr="icons/robot.png">    </p:cNvPr>
          <p:cNvPicPr>
            <a:picLocks noChangeAspect="1"/>
          </p:cNvPicPr>
          <p:nvPr/>
        </p:nvPicPr>
        <p:blipFill>
          <a:blip r:embed="rId3"/>
          <a:stretch>
            <a:fillRect/>
          </a:stretch>
        </p:blipFill>
        <p:spPr>
          <a:xfrm>
            <a:off x="662940" y="2583180"/>
            <a:ext cx="228600" cy="228600"/>
          </a:xfrm>
          <a:prstGeom prst="rect">
            <a:avLst/>
          </a:prstGeom>
        </p:spPr>
      </p:pic>
      <p:sp>
        <p:nvSpPr>
          <p:cNvPr id="12" name="Text 7"/>
          <p:cNvSpPr/>
          <p:nvPr/>
        </p:nvSpPr>
        <p:spPr>
          <a:xfrm>
            <a:off x="1207008" y="2414016"/>
            <a:ext cx="1040587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You want deliverables &amp; agents</a:t>
            </a:r>
            <a:endParaRPr lang="en-US" sz="1450" dirty="0"/>
          </a:p>
        </p:txBody>
      </p:sp>
      <p:sp>
        <p:nvSpPr>
          <p:cNvPr id="13" name="Text 8"/>
          <p:cNvSpPr/>
          <p:nvPr/>
        </p:nvSpPr>
        <p:spPr>
          <a:xfrm>
            <a:off x="1207008" y="2706624"/>
            <a:ext cx="10405872" cy="45720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Choose Claude — decks, spreadsheets, documents and multi-step agent work.</a:t>
            </a:r>
            <a:endParaRPr lang="en-US" sz="1200" dirty="0"/>
          </a:p>
        </p:txBody>
      </p:sp>
      <p:sp>
        <p:nvSpPr>
          <p:cNvPr id="14" name="Shape 9"/>
          <p:cNvSpPr/>
          <p:nvPr/>
        </p:nvSpPr>
        <p:spPr>
          <a:xfrm>
            <a:off x="548640" y="3429000"/>
            <a:ext cx="457200" cy="457200"/>
          </a:xfrm>
          <a:prstGeom prst="ellipse">
            <a:avLst/>
          </a:prstGeom>
          <a:solidFill>
            <a:srgbClr val="29A9E1"/>
          </a:solidFill>
          <a:ln/>
        </p:spPr>
      </p:sp>
      <p:pic>
        <p:nvPicPr>
          <p:cNvPr id="15" name="Image 2" descr="icons/comments.png">    </p:cNvPr>
          <p:cNvPicPr>
            <a:picLocks noChangeAspect="1"/>
          </p:cNvPicPr>
          <p:nvPr/>
        </p:nvPicPr>
        <p:blipFill>
          <a:blip r:embed="rId4"/>
          <a:stretch>
            <a:fillRect/>
          </a:stretch>
        </p:blipFill>
        <p:spPr>
          <a:xfrm>
            <a:off x="662940" y="3543300"/>
            <a:ext cx="228600" cy="228600"/>
          </a:xfrm>
          <a:prstGeom prst="rect">
            <a:avLst/>
          </a:prstGeom>
        </p:spPr>
      </p:pic>
      <p:sp>
        <p:nvSpPr>
          <p:cNvPr id="16" name="Text 10"/>
          <p:cNvSpPr/>
          <p:nvPr/>
        </p:nvSpPr>
        <p:spPr>
          <a:xfrm>
            <a:off x="1207008" y="3374136"/>
            <a:ext cx="1040587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You want the biggest ecosystem</a:t>
            </a:r>
            <a:endParaRPr lang="en-US" sz="1450" dirty="0"/>
          </a:p>
        </p:txBody>
      </p:sp>
      <p:sp>
        <p:nvSpPr>
          <p:cNvPr id="17" name="Text 11"/>
          <p:cNvSpPr/>
          <p:nvPr/>
        </p:nvSpPr>
        <p:spPr>
          <a:xfrm>
            <a:off x="1207008" y="3666744"/>
            <a:ext cx="10405872" cy="45720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Choose ChatGPT — Agent Mode plus thousands of custom GPTs and apps.</a:t>
            </a:r>
            <a:endParaRPr lang="en-US" sz="1200" dirty="0"/>
          </a:p>
        </p:txBody>
      </p:sp>
      <p:sp>
        <p:nvSpPr>
          <p:cNvPr id="18" name="Shape 12"/>
          <p:cNvSpPr/>
          <p:nvPr/>
        </p:nvSpPr>
        <p:spPr>
          <a:xfrm>
            <a:off x="548640" y="4389120"/>
            <a:ext cx="457200" cy="457200"/>
          </a:xfrm>
          <a:prstGeom prst="ellipse">
            <a:avLst/>
          </a:prstGeom>
          <a:solidFill>
            <a:srgbClr val="29A9E1"/>
          </a:solidFill>
          <a:ln/>
        </p:spPr>
      </p:sp>
      <p:pic>
        <p:nvPicPr>
          <p:cNvPr id="19" name="Image 3" descr="icons/bolt.png">    </p:cNvPr>
          <p:cNvPicPr>
            <a:picLocks noChangeAspect="1"/>
          </p:cNvPicPr>
          <p:nvPr/>
        </p:nvPicPr>
        <p:blipFill>
          <a:blip r:embed="rId5"/>
          <a:stretch>
            <a:fillRect/>
          </a:stretch>
        </p:blipFill>
        <p:spPr>
          <a:xfrm>
            <a:off x="662940" y="4503420"/>
            <a:ext cx="228600" cy="228600"/>
          </a:xfrm>
          <a:prstGeom prst="rect">
            <a:avLst/>
          </a:prstGeom>
        </p:spPr>
      </p:pic>
      <p:sp>
        <p:nvSpPr>
          <p:cNvPr id="20" name="Text 13"/>
          <p:cNvSpPr/>
          <p:nvPr/>
        </p:nvSpPr>
        <p:spPr>
          <a:xfrm>
            <a:off x="1207008" y="4334256"/>
            <a:ext cx="1040587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Your brand lives on X / real-time</a:t>
            </a:r>
            <a:endParaRPr lang="en-US" sz="1450" dirty="0"/>
          </a:p>
        </p:txBody>
      </p:sp>
      <p:sp>
        <p:nvSpPr>
          <p:cNvPr id="21" name="Text 14"/>
          <p:cNvSpPr/>
          <p:nvPr/>
        </p:nvSpPr>
        <p:spPr>
          <a:xfrm>
            <a:off x="1207008" y="4626864"/>
            <a:ext cx="10405872" cy="45720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Choose Grok — it reads the timeline as it happens.</a:t>
            </a:r>
            <a:endParaRPr lang="en-US" sz="1200" dirty="0"/>
          </a:p>
        </p:txBody>
      </p:sp>
      <p:sp>
        <p:nvSpPr>
          <p:cNvPr id="22" name="Shape 15"/>
          <p:cNvSpPr/>
          <p:nvPr/>
        </p:nvSpPr>
        <p:spPr>
          <a:xfrm>
            <a:off x="548640" y="5440680"/>
            <a:ext cx="11109960" cy="868680"/>
          </a:xfrm>
          <a:prstGeom prst="roundRect">
            <a:avLst>
              <a:gd name="adj" fmla="val 9474"/>
            </a:avLst>
          </a:prstGeom>
          <a:solidFill>
            <a:srgbClr val="F0C93C"/>
          </a:solidFill>
          <a:ln/>
        </p:spPr>
      </p:sp>
      <p:pic>
        <p:nvPicPr>
          <p:cNvPr id="23" name="Image 4" descr="icons/crown_navy.png">    </p:cNvPr>
          <p:cNvPicPr>
            <a:picLocks noChangeAspect="1"/>
          </p:cNvPicPr>
          <p:nvPr/>
        </p:nvPicPr>
        <p:blipFill>
          <a:blip r:embed="rId6"/>
          <a:stretch>
            <a:fillRect/>
          </a:stretch>
        </p:blipFill>
        <p:spPr>
          <a:xfrm>
            <a:off x="868680" y="5660136"/>
            <a:ext cx="411480" cy="411480"/>
          </a:xfrm>
          <a:prstGeom prst="rect">
            <a:avLst/>
          </a:prstGeom>
        </p:spPr>
      </p:pic>
      <p:sp>
        <p:nvSpPr>
          <p:cNvPr id="24" name="Text 16"/>
          <p:cNvSpPr/>
          <p:nvPr/>
        </p:nvSpPr>
        <p:spPr>
          <a:xfrm>
            <a:off x="1463040" y="5559552"/>
            <a:ext cx="10058400" cy="64008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Strategy: master ONE paid assistant. Keep the rest on free tiers. Depth beats breadth — its memory learns your business.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CAPABILITIES</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Beyond the chat box: features that do real work</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3429000" cy="2057400"/>
          </a:xfrm>
          <a:prstGeom prst="roundRect">
            <a:avLst>
              <a:gd name="adj" fmla="val 4000"/>
            </a:avLst>
          </a:prstGeom>
          <a:solidFill>
            <a:srgbClr val="F5F8FC"/>
          </a:solidFill>
          <a:ln w="12700">
            <a:solidFill>
              <a:srgbClr val="E1E6F0"/>
            </a:solidFill>
            <a:prstDash val="solid"/>
          </a:ln>
        </p:spPr>
      </p:sp>
      <p:sp>
        <p:nvSpPr>
          <p:cNvPr id="7" name="Shape 4"/>
          <p:cNvSpPr/>
          <p:nvPr/>
        </p:nvSpPr>
        <p:spPr>
          <a:xfrm>
            <a:off x="804672" y="1810512"/>
            <a:ext cx="475488" cy="475488"/>
          </a:xfrm>
          <a:prstGeom prst="ellipse">
            <a:avLst/>
          </a:prstGeom>
          <a:solidFill>
            <a:srgbClr val="35C1B1"/>
          </a:solidFill>
          <a:ln/>
        </p:spPr>
      </p:sp>
      <p:pic>
        <p:nvPicPr>
          <p:cNvPr id="8" name="Image 0" descr="icons/layerGroup.png">    </p:cNvPr>
          <p:cNvPicPr>
            <a:picLocks noChangeAspect="1"/>
          </p:cNvPicPr>
          <p:nvPr/>
        </p:nvPicPr>
        <p:blipFill>
          <a:blip r:embed="rId2"/>
          <a:stretch>
            <a:fillRect/>
          </a:stretch>
        </p:blipFill>
        <p:spPr>
          <a:xfrm>
            <a:off x="923544" y="1929384"/>
            <a:ext cx="237744" cy="237744"/>
          </a:xfrm>
          <a:prstGeom prst="rect">
            <a:avLst/>
          </a:prstGeom>
        </p:spPr>
      </p:pic>
      <p:sp>
        <p:nvSpPr>
          <p:cNvPr id="9" name="Text 5"/>
          <p:cNvSpPr/>
          <p:nvPr/>
        </p:nvSpPr>
        <p:spPr>
          <a:xfrm>
            <a:off x="804672" y="2423160"/>
            <a:ext cx="29260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Projects &amp; memory</a:t>
            </a:r>
            <a:endParaRPr lang="en-US" sz="1450" dirty="0"/>
          </a:p>
        </p:txBody>
      </p:sp>
      <p:sp>
        <p:nvSpPr>
          <p:cNvPr id="10" name="Text 6"/>
          <p:cNvSpPr/>
          <p:nvPr/>
        </p:nvSpPr>
        <p:spPr>
          <a:xfrm>
            <a:off x="804672" y="2743200"/>
            <a:ext cx="2926080" cy="777240"/>
          </a:xfrm>
          <a:prstGeom prst="rect">
            <a:avLst/>
          </a:prstGeom>
          <a:noFill/>
          <a:ln/>
        </p:spPr>
        <p:txBody>
          <a:bodyPr wrap="square" lIns="0" tIns="0" rIns="0" bIns="0" rtlCol="0" anchor="ctr"/>
          <a:lstStyle/>
          <a:p>
            <a:pPr indent="0" marL="0">
              <a:buNone/>
            </a:pPr>
            <a:r>
              <a:rPr lang="en-US" sz="1150" dirty="0">
                <a:solidFill>
                  <a:srgbClr val="232A3E"/>
                </a:solidFill>
                <a:latin typeface="Calibri" pitchFamily="34" charset="0"/>
                <a:ea typeface="Calibri" pitchFamily="34" charset="-122"/>
                <a:cs typeface="Calibri" pitchFamily="34" charset="-120"/>
              </a:rPr>
              <a:t>Upload your brand docs once — every chat starts already knowing your business.</a:t>
            </a:r>
            <a:endParaRPr lang="en-US" sz="1150" dirty="0"/>
          </a:p>
        </p:txBody>
      </p:sp>
      <p:sp>
        <p:nvSpPr>
          <p:cNvPr id="11" name="Shape 7"/>
          <p:cNvSpPr/>
          <p:nvPr/>
        </p:nvSpPr>
        <p:spPr>
          <a:xfrm>
            <a:off x="4379976" y="1554480"/>
            <a:ext cx="3429000" cy="2057400"/>
          </a:xfrm>
          <a:prstGeom prst="roundRect">
            <a:avLst>
              <a:gd name="adj" fmla="val 4000"/>
            </a:avLst>
          </a:prstGeom>
          <a:solidFill>
            <a:srgbClr val="F5F8FC"/>
          </a:solidFill>
          <a:ln w="12700">
            <a:solidFill>
              <a:srgbClr val="E1E6F0"/>
            </a:solidFill>
            <a:prstDash val="solid"/>
          </a:ln>
        </p:spPr>
      </p:sp>
      <p:sp>
        <p:nvSpPr>
          <p:cNvPr id="12" name="Shape 8"/>
          <p:cNvSpPr/>
          <p:nvPr/>
        </p:nvSpPr>
        <p:spPr>
          <a:xfrm>
            <a:off x="4636008" y="1810512"/>
            <a:ext cx="475488" cy="475488"/>
          </a:xfrm>
          <a:prstGeom prst="ellipse">
            <a:avLst/>
          </a:prstGeom>
          <a:solidFill>
            <a:srgbClr val="29A9E1"/>
          </a:solidFill>
          <a:ln/>
        </p:spPr>
      </p:sp>
      <p:pic>
        <p:nvPicPr>
          <p:cNvPr id="13" name="Image 1" descr="icons/pen.png">    </p:cNvPr>
          <p:cNvPicPr>
            <a:picLocks noChangeAspect="1"/>
          </p:cNvPicPr>
          <p:nvPr/>
        </p:nvPicPr>
        <p:blipFill>
          <a:blip r:embed="rId3"/>
          <a:stretch>
            <a:fillRect/>
          </a:stretch>
        </p:blipFill>
        <p:spPr>
          <a:xfrm>
            <a:off x="4754880" y="1929384"/>
            <a:ext cx="237744" cy="237744"/>
          </a:xfrm>
          <a:prstGeom prst="rect">
            <a:avLst/>
          </a:prstGeom>
        </p:spPr>
      </p:pic>
      <p:sp>
        <p:nvSpPr>
          <p:cNvPr id="14" name="Text 9"/>
          <p:cNvSpPr/>
          <p:nvPr/>
        </p:nvSpPr>
        <p:spPr>
          <a:xfrm>
            <a:off x="4636008" y="2423160"/>
            <a:ext cx="29260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Real file creation</a:t>
            </a:r>
            <a:endParaRPr lang="en-US" sz="1450" dirty="0"/>
          </a:p>
        </p:txBody>
      </p:sp>
      <p:sp>
        <p:nvSpPr>
          <p:cNvPr id="15" name="Text 10"/>
          <p:cNvSpPr/>
          <p:nvPr/>
        </p:nvSpPr>
        <p:spPr>
          <a:xfrm>
            <a:off x="4636008" y="2743200"/>
            <a:ext cx="2926080" cy="777240"/>
          </a:xfrm>
          <a:prstGeom prst="rect">
            <a:avLst/>
          </a:prstGeom>
          <a:noFill/>
          <a:ln/>
        </p:spPr>
        <p:txBody>
          <a:bodyPr wrap="square" lIns="0" tIns="0" rIns="0" bIns="0" rtlCol="0" anchor="ctr"/>
          <a:lstStyle/>
          <a:p>
            <a:pPr indent="0" marL="0">
              <a:buNone/>
            </a:pPr>
            <a:r>
              <a:rPr lang="en-US" sz="1150" dirty="0">
                <a:solidFill>
                  <a:srgbClr val="232A3E"/>
                </a:solidFill>
                <a:latin typeface="Calibri" pitchFamily="34" charset="0"/>
                <a:ea typeface="Calibri" pitchFamily="34" charset="-122"/>
                <a:cs typeface="Calibri" pitchFamily="34" charset="-120"/>
              </a:rPr>
              <a:t>Ask for the spreadsheet, the deck, the contract draft — get the actual file.</a:t>
            </a:r>
            <a:endParaRPr lang="en-US" sz="1150" dirty="0"/>
          </a:p>
        </p:txBody>
      </p:sp>
      <p:sp>
        <p:nvSpPr>
          <p:cNvPr id="16" name="Shape 11"/>
          <p:cNvSpPr/>
          <p:nvPr/>
        </p:nvSpPr>
        <p:spPr>
          <a:xfrm>
            <a:off x="8211312" y="1554480"/>
            <a:ext cx="3429000" cy="2057400"/>
          </a:xfrm>
          <a:prstGeom prst="roundRect">
            <a:avLst>
              <a:gd name="adj" fmla="val 4000"/>
            </a:avLst>
          </a:prstGeom>
          <a:solidFill>
            <a:srgbClr val="F5F8FC"/>
          </a:solidFill>
          <a:ln w="12700">
            <a:solidFill>
              <a:srgbClr val="E1E6F0"/>
            </a:solidFill>
            <a:prstDash val="solid"/>
          </a:ln>
        </p:spPr>
      </p:sp>
      <p:sp>
        <p:nvSpPr>
          <p:cNvPr id="17" name="Shape 12"/>
          <p:cNvSpPr/>
          <p:nvPr/>
        </p:nvSpPr>
        <p:spPr>
          <a:xfrm>
            <a:off x="8467344" y="1810512"/>
            <a:ext cx="475488" cy="475488"/>
          </a:xfrm>
          <a:prstGeom prst="ellipse">
            <a:avLst/>
          </a:prstGeom>
          <a:solidFill>
            <a:srgbClr val="151F4A"/>
          </a:solidFill>
          <a:ln/>
        </p:spPr>
      </p:sp>
      <p:pic>
        <p:nvPicPr>
          <p:cNvPr id="18" name="Image 2" descr="icons/magnifier.png">    </p:cNvPr>
          <p:cNvPicPr>
            <a:picLocks noChangeAspect="1"/>
          </p:cNvPicPr>
          <p:nvPr/>
        </p:nvPicPr>
        <p:blipFill>
          <a:blip r:embed="rId4"/>
          <a:stretch>
            <a:fillRect/>
          </a:stretch>
        </p:blipFill>
        <p:spPr>
          <a:xfrm>
            <a:off x="8586216" y="1929384"/>
            <a:ext cx="237744" cy="237744"/>
          </a:xfrm>
          <a:prstGeom prst="rect">
            <a:avLst/>
          </a:prstGeom>
        </p:spPr>
      </p:pic>
      <p:sp>
        <p:nvSpPr>
          <p:cNvPr id="19" name="Text 13"/>
          <p:cNvSpPr/>
          <p:nvPr/>
        </p:nvSpPr>
        <p:spPr>
          <a:xfrm>
            <a:off x="8467344" y="2423160"/>
            <a:ext cx="29260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Deep research</a:t>
            </a:r>
            <a:endParaRPr lang="en-US" sz="1450" dirty="0"/>
          </a:p>
        </p:txBody>
      </p:sp>
      <p:sp>
        <p:nvSpPr>
          <p:cNvPr id="20" name="Text 14"/>
          <p:cNvSpPr/>
          <p:nvPr/>
        </p:nvSpPr>
        <p:spPr>
          <a:xfrm>
            <a:off x="8467344" y="2743200"/>
            <a:ext cx="2926080" cy="777240"/>
          </a:xfrm>
          <a:prstGeom prst="rect">
            <a:avLst/>
          </a:prstGeom>
          <a:noFill/>
          <a:ln/>
        </p:spPr>
        <p:txBody>
          <a:bodyPr wrap="square" lIns="0" tIns="0" rIns="0" bIns="0" rtlCol="0" anchor="ctr"/>
          <a:lstStyle/>
          <a:p>
            <a:pPr indent="0" marL="0">
              <a:buNone/>
            </a:pPr>
            <a:r>
              <a:rPr lang="en-US" sz="1150" dirty="0">
                <a:solidFill>
                  <a:srgbClr val="232A3E"/>
                </a:solidFill>
                <a:latin typeface="Calibri" pitchFamily="34" charset="0"/>
                <a:ea typeface="Calibri" pitchFamily="34" charset="-122"/>
                <a:cs typeface="Calibri" pitchFamily="34" charset="-120"/>
              </a:rPr>
              <a:t>Cited market and competitor reports in minutes, not days.</a:t>
            </a:r>
            <a:endParaRPr lang="en-US" sz="1150" dirty="0"/>
          </a:p>
        </p:txBody>
      </p:sp>
      <p:sp>
        <p:nvSpPr>
          <p:cNvPr id="21" name="Shape 15"/>
          <p:cNvSpPr/>
          <p:nvPr/>
        </p:nvSpPr>
        <p:spPr>
          <a:xfrm>
            <a:off x="548640" y="3840480"/>
            <a:ext cx="3429000" cy="2057400"/>
          </a:xfrm>
          <a:prstGeom prst="roundRect">
            <a:avLst>
              <a:gd name="adj" fmla="val 4000"/>
            </a:avLst>
          </a:prstGeom>
          <a:solidFill>
            <a:srgbClr val="F5F8FC"/>
          </a:solidFill>
          <a:ln w="12700">
            <a:solidFill>
              <a:srgbClr val="E1E6F0"/>
            </a:solidFill>
            <a:prstDash val="solid"/>
          </a:ln>
        </p:spPr>
      </p:sp>
      <p:sp>
        <p:nvSpPr>
          <p:cNvPr id="22" name="Shape 16"/>
          <p:cNvSpPr/>
          <p:nvPr/>
        </p:nvSpPr>
        <p:spPr>
          <a:xfrm>
            <a:off x="804672" y="4096512"/>
            <a:ext cx="475488" cy="475488"/>
          </a:xfrm>
          <a:prstGeom prst="ellipse">
            <a:avLst/>
          </a:prstGeom>
          <a:solidFill>
            <a:srgbClr val="35C1B1"/>
          </a:solidFill>
          <a:ln/>
        </p:spPr>
      </p:sp>
      <p:pic>
        <p:nvPicPr>
          <p:cNvPr id="23" name="Image 3" descr="icons/robot.png">    </p:cNvPr>
          <p:cNvPicPr>
            <a:picLocks noChangeAspect="1"/>
          </p:cNvPicPr>
          <p:nvPr/>
        </p:nvPicPr>
        <p:blipFill>
          <a:blip r:embed="rId5"/>
          <a:stretch>
            <a:fillRect/>
          </a:stretch>
        </p:blipFill>
        <p:spPr>
          <a:xfrm>
            <a:off x="923544" y="4215384"/>
            <a:ext cx="237744" cy="237744"/>
          </a:xfrm>
          <a:prstGeom prst="rect">
            <a:avLst/>
          </a:prstGeom>
        </p:spPr>
      </p:pic>
      <p:sp>
        <p:nvSpPr>
          <p:cNvPr id="24" name="Text 17"/>
          <p:cNvSpPr/>
          <p:nvPr/>
        </p:nvSpPr>
        <p:spPr>
          <a:xfrm>
            <a:off x="804672" y="4709160"/>
            <a:ext cx="29260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Agent &amp; computer use</a:t>
            </a:r>
            <a:endParaRPr lang="en-US" sz="1450" dirty="0"/>
          </a:p>
        </p:txBody>
      </p:sp>
      <p:sp>
        <p:nvSpPr>
          <p:cNvPr id="25" name="Text 18"/>
          <p:cNvSpPr/>
          <p:nvPr/>
        </p:nvSpPr>
        <p:spPr>
          <a:xfrm>
            <a:off x="804672" y="5029200"/>
            <a:ext cx="2926080" cy="777240"/>
          </a:xfrm>
          <a:prstGeom prst="rect">
            <a:avLst/>
          </a:prstGeom>
          <a:noFill/>
          <a:ln/>
        </p:spPr>
        <p:txBody>
          <a:bodyPr wrap="square" lIns="0" tIns="0" rIns="0" bIns="0" rtlCol="0" anchor="ctr"/>
          <a:lstStyle/>
          <a:p>
            <a:pPr indent="0" marL="0">
              <a:buNone/>
            </a:pPr>
            <a:r>
              <a:rPr lang="en-US" sz="1150" dirty="0">
                <a:solidFill>
                  <a:srgbClr val="232A3E"/>
                </a:solidFill>
                <a:latin typeface="Calibri" pitchFamily="34" charset="0"/>
                <a:ea typeface="Calibri" pitchFamily="34" charset="-122"/>
                <a:cs typeface="Calibri" pitchFamily="34" charset="-120"/>
              </a:rPr>
              <a:t>It browses, clicks, fills forms and completes tasks while you watch.</a:t>
            </a:r>
            <a:endParaRPr lang="en-US" sz="1150" dirty="0"/>
          </a:p>
        </p:txBody>
      </p:sp>
      <p:sp>
        <p:nvSpPr>
          <p:cNvPr id="26" name="Shape 19"/>
          <p:cNvSpPr/>
          <p:nvPr/>
        </p:nvSpPr>
        <p:spPr>
          <a:xfrm>
            <a:off x="4379976" y="3840480"/>
            <a:ext cx="3429000" cy="2057400"/>
          </a:xfrm>
          <a:prstGeom prst="roundRect">
            <a:avLst>
              <a:gd name="adj" fmla="val 4000"/>
            </a:avLst>
          </a:prstGeom>
          <a:solidFill>
            <a:srgbClr val="F5F8FC"/>
          </a:solidFill>
          <a:ln w="12700">
            <a:solidFill>
              <a:srgbClr val="E1E6F0"/>
            </a:solidFill>
            <a:prstDash val="solid"/>
          </a:ln>
        </p:spPr>
      </p:sp>
      <p:sp>
        <p:nvSpPr>
          <p:cNvPr id="27" name="Shape 20"/>
          <p:cNvSpPr/>
          <p:nvPr/>
        </p:nvSpPr>
        <p:spPr>
          <a:xfrm>
            <a:off x="4636008" y="4096512"/>
            <a:ext cx="475488" cy="475488"/>
          </a:xfrm>
          <a:prstGeom prst="ellipse">
            <a:avLst/>
          </a:prstGeom>
          <a:solidFill>
            <a:srgbClr val="29A9E1"/>
          </a:solidFill>
          <a:ln/>
        </p:spPr>
      </p:sp>
      <p:pic>
        <p:nvPicPr>
          <p:cNvPr id="28" name="Image 4" descr="icons/microphone.png">    </p:cNvPr>
          <p:cNvPicPr>
            <a:picLocks noChangeAspect="1"/>
          </p:cNvPicPr>
          <p:nvPr/>
        </p:nvPicPr>
        <p:blipFill>
          <a:blip r:embed="rId6"/>
          <a:stretch>
            <a:fillRect/>
          </a:stretch>
        </p:blipFill>
        <p:spPr>
          <a:xfrm>
            <a:off x="4754880" y="4215384"/>
            <a:ext cx="237744" cy="237744"/>
          </a:xfrm>
          <a:prstGeom prst="rect">
            <a:avLst/>
          </a:prstGeom>
        </p:spPr>
      </p:pic>
      <p:sp>
        <p:nvSpPr>
          <p:cNvPr id="29" name="Text 21"/>
          <p:cNvSpPr/>
          <p:nvPr/>
        </p:nvSpPr>
        <p:spPr>
          <a:xfrm>
            <a:off x="4636008" y="4709160"/>
            <a:ext cx="29260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Voice</a:t>
            </a:r>
            <a:endParaRPr lang="en-US" sz="1450" dirty="0"/>
          </a:p>
        </p:txBody>
      </p:sp>
      <p:sp>
        <p:nvSpPr>
          <p:cNvPr id="30" name="Text 22"/>
          <p:cNvSpPr/>
          <p:nvPr/>
        </p:nvSpPr>
        <p:spPr>
          <a:xfrm>
            <a:off x="4636008" y="5029200"/>
            <a:ext cx="2926080" cy="777240"/>
          </a:xfrm>
          <a:prstGeom prst="rect">
            <a:avLst/>
          </a:prstGeom>
          <a:noFill/>
          <a:ln/>
        </p:spPr>
        <p:txBody>
          <a:bodyPr wrap="square" lIns="0" tIns="0" rIns="0" bIns="0" rtlCol="0" anchor="ctr"/>
          <a:lstStyle/>
          <a:p>
            <a:pPr indent="0" marL="0">
              <a:buNone/>
            </a:pPr>
            <a:r>
              <a:rPr lang="en-US" sz="1150" dirty="0">
                <a:solidFill>
                  <a:srgbClr val="232A3E"/>
                </a:solidFill>
                <a:latin typeface="Calibri" pitchFamily="34" charset="0"/>
                <a:ea typeface="Calibri" pitchFamily="34" charset="-122"/>
                <a:cs typeface="Calibri" pitchFamily="34" charset="-120"/>
              </a:rPr>
              <a:t>Talk instead of type — meetings, dictation, live translation.</a:t>
            </a:r>
            <a:endParaRPr lang="en-US" sz="1150" dirty="0"/>
          </a:p>
        </p:txBody>
      </p:sp>
      <p:sp>
        <p:nvSpPr>
          <p:cNvPr id="31" name="Shape 23"/>
          <p:cNvSpPr/>
          <p:nvPr/>
        </p:nvSpPr>
        <p:spPr>
          <a:xfrm>
            <a:off x="8211312" y="3840480"/>
            <a:ext cx="3429000" cy="2057400"/>
          </a:xfrm>
          <a:prstGeom prst="roundRect">
            <a:avLst>
              <a:gd name="adj" fmla="val 4000"/>
            </a:avLst>
          </a:prstGeom>
          <a:solidFill>
            <a:srgbClr val="F5F8FC"/>
          </a:solidFill>
          <a:ln w="12700">
            <a:solidFill>
              <a:srgbClr val="E1E6F0"/>
            </a:solidFill>
            <a:prstDash val="solid"/>
          </a:ln>
        </p:spPr>
      </p:sp>
      <p:sp>
        <p:nvSpPr>
          <p:cNvPr id="32" name="Shape 24"/>
          <p:cNvSpPr/>
          <p:nvPr/>
        </p:nvSpPr>
        <p:spPr>
          <a:xfrm>
            <a:off x="8467344" y="4096512"/>
            <a:ext cx="475488" cy="475488"/>
          </a:xfrm>
          <a:prstGeom prst="ellipse">
            <a:avLst/>
          </a:prstGeom>
          <a:solidFill>
            <a:srgbClr val="151F4A"/>
          </a:solidFill>
          <a:ln/>
        </p:spPr>
      </p:sp>
      <p:pic>
        <p:nvPicPr>
          <p:cNvPr id="33" name="Image 5" descr="icons/plug.png">    </p:cNvPr>
          <p:cNvPicPr>
            <a:picLocks noChangeAspect="1"/>
          </p:cNvPicPr>
          <p:nvPr/>
        </p:nvPicPr>
        <p:blipFill>
          <a:blip r:embed="rId7"/>
          <a:stretch>
            <a:fillRect/>
          </a:stretch>
        </p:blipFill>
        <p:spPr>
          <a:xfrm>
            <a:off x="8586216" y="4215384"/>
            <a:ext cx="237744" cy="237744"/>
          </a:xfrm>
          <a:prstGeom prst="rect">
            <a:avLst/>
          </a:prstGeom>
        </p:spPr>
      </p:pic>
      <p:sp>
        <p:nvSpPr>
          <p:cNvPr id="34" name="Text 25"/>
          <p:cNvSpPr/>
          <p:nvPr/>
        </p:nvSpPr>
        <p:spPr>
          <a:xfrm>
            <a:off x="8467344" y="4709160"/>
            <a:ext cx="29260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Connectors (MCP)</a:t>
            </a:r>
            <a:endParaRPr lang="en-US" sz="1450" dirty="0"/>
          </a:p>
        </p:txBody>
      </p:sp>
      <p:sp>
        <p:nvSpPr>
          <p:cNvPr id="35" name="Text 26"/>
          <p:cNvSpPr/>
          <p:nvPr/>
        </p:nvSpPr>
        <p:spPr>
          <a:xfrm>
            <a:off x="8467344" y="5029200"/>
            <a:ext cx="2926080" cy="777240"/>
          </a:xfrm>
          <a:prstGeom prst="rect">
            <a:avLst/>
          </a:prstGeom>
          <a:noFill/>
          <a:ln/>
        </p:spPr>
        <p:txBody>
          <a:bodyPr wrap="square" lIns="0" tIns="0" rIns="0" bIns="0" rtlCol="0" anchor="ctr"/>
          <a:lstStyle/>
          <a:p>
            <a:pPr indent="0" marL="0">
              <a:buNone/>
            </a:pPr>
            <a:r>
              <a:rPr lang="en-US" sz="1150" dirty="0">
                <a:solidFill>
                  <a:srgbClr val="232A3E"/>
                </a:solidFill>
                <a:latin typeface="Calibri" pitchFamily="34" charset="0"/>
                <a:ea typeface="Calibri" pitchFamily="34" charset="-122"/>
                <a:cs typeface="Calibri" pitchFamily="34" charset="-120"/>
              </a:rPr>
              <a:t>Plug into Gmail, Slack, Notion, your CRM — AI inside your workflow.</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914400"/>
            <a:ext cx="4114800" cy="1554480"/>
          </a:xfrm>
          <a:prstGeom prst="rect">
            <a:avLst/>
          </a:prstGeom>
          <a:noFill/>
          <a:ln/>
        </p:spPr>
        <p:txBody>
          <a:bodyPr wrap="square" lIns="0" tIns="0" rIns="0" bIns="0" rtlCol="0" anchor="ctr"/>
          <a:lstStyle/>
          <a:p>
            <a:pPr indent="0" marL="0">
              <a:buNone/>
            </a:pPr>
            <a:r>
              <a:rPr lang="en-US" sz="9200" b="1" dirty="0">
                <a:solidFill>
                  <a:srgbClr val="F0C93C"/>
                </a:solidFill>
                <a:latin typeface="Arial" pitchFamily="34" charset="0"/>
                <a:ea typeface="Arial" pitchFamily="34" charset="-122"/>
                <a:cs typeface="Arial" pitchFamily="34" charset="-120"/>
              </a:rPr>
              <a:t>03</a:t>
            </a:r>
            <a:endParaRPr lang="en-US" sz="9200" dirty="0"/>
          </a:p>
        </p:txBody>
      </p:sp>
      <p:sp>
        <p:nvSpPr>
          <p:cNvPr id="3" name="Text 1"/>
          <p:cNvSpPr/>
          <p:nvPr/>
        </p:nvSpPr>
        <p:spPr>
          <a:xfrm>
            <a:off x="685800" y="2788920"/>
            <a:ext cx="9692640" cy="12344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Prompt engineering</a:t>
            </a:r>
            <a:endParaRPr lang="en-US" sz="3800" dirty="0"/>
          </a:p>
        </p:txBody>
      </p:sp>
      <p:sp>
        <p:nvSpPr>
          <p:cNvPr id="4" name="Text 2"/>
          <p:cNvSpPr/>
          <p:nvPr/>
        </p:nvSpPr>
        <p:spPr>
          <a:xfrm>
            <a:off x="685800" y="4114800"/>
            <a:ext cx="8412480" cy="868680"/>
          </a:xfrm>
          <a:prstGeom prst="rect">
            <a:avLst/>
          </a:prstGeom>
          <a:noFill/>
          <a:ln/>
        </p:spPr>
        <p:txBody>
          <a:bodyPr wrap="square" lIns="0" tIns="0" rIns="0" bIns="0" rtlCol="0" anchor="ctr"/>
          <a:lstStyle/>
          <a:p>
            <a:pPr indent="0" marL="0">
              <a:buNone/>
            </a:pPr>
            <a:r>
              <a:rPr lang="en-US" sz="1700" dirty="0">
                <a:solidFill>
                  <a:srgbClr val="C9D4EE"/>
                </a:solidFill>
                <a:latin typeface="Calibri" pitchFamily="34" charset="0"/>
                <a:ea typeface="Calibri" pitchFamily="34" charset="-122"/>
                <a:cs typeface="Calibri" pitchFamily="34" charset="-120"/>
              </a:rPr>
              <a:t>Talking to AI so it delivers — prompts, roles, and the ladder up to agents and workflows.</a:t>
            </a:r>
            <a:endParaRPr lang="en-US" sz="1700" dirty="0"/>
          </a:p>
        </p:txBody>
      </p:sp>
      <p:sp>
        <p:nvSpPr>
          <p:cNvPr id="5" name="Shape 3"/>
          <p:cNvSpPr/>
          <p:nvPr/>
        </p:nvSpPr>
        <p:spPr>
          <a:xfrm>
            <a:off x="10378440" y="914400"/>
            <a:ext cx="1051560" cy="1051560"/>
          </a:xfrm>
          <a:prstGeom prst="ellipse">
            <a:avLst/>
          </a:prstGeom>
          <a:solidFill>
            <a:srgbClr val="35C1B1"/>
          </a:solidFill>
          <a:ln/>
        </p:spPr>
      </p:sp>
      <p:pic>
        <p:nvPicPr>
          <p:cNvPr id="6" name="Image 0" descr="icons/comments.png">    </p:cNvPr>
          <p:cNvPicPr>
            <a:picLocks noChangeAspect="1"/>
          </p:cNvPicPr>
          <p:nvPr/>
        </p:nvPicPr>
        <p:blipFill>
          <a:blip r:embed="rId2"/>
          <a:stretch>
            <a:fillRect/>
          </a:stretch>
        </p:blipFill>
        <p:spPr>
          <a:xfrm>
            <a:off x="10641330" y="1177290"/>
            <a:ext cx="525780" cy="5257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THE FORMULA</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Anatomy of a great prompt</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3429000" cy="2057400"/>
          </a:xfrm>
          <a:prstGeom prst="roundRect">
            <a:avLst>
              <a:gd name="adj" fmla="val 4000"/>
            </a:avLst>
          </a:prstGeom>
          <a:solidFill>
            <a:srgbClr val="F5F8FC"/>
          </a:solidFill>
          <a:ln w="12700">
            <a:solidFill>
              <a:srgbClr val="E1E6F0"/>
            </a:solidFill>
            <a:prstDash val="solid"/>
          </a:ln>
        </p:spPr>
      </p:sp>
      <p:sp>
        <p:nvSpPr>
          <p:cNvPr id="7" name="Shape 4"/>
          <p:cNvSpPr/>
          <p:nvPr/>
        </p:nvSpPr>
        <p:spPr>
          <a:xfrm>
            <a:off x="804672" y="1792224"/>
            <a:ext cx="502920" cy="502920"/>
          </a:xfrm>
          <a:prstGeom prst="ellipse">
            <a:avLst/>
          </a:prstGeom>
          <a:solidFill>
            <a:srgbClr val="35C1B1"/>
          </a:solidFill>
          <a:ln/>
        </p:spPr>
      </p:sp>
      <p:sp>
        <p:nvSpPr>
          <p:cNvPr id="8" name="Text 5"/>
          <p:cNvSpPr/>
          <p:nvPr/>
        </p:nvSpPr>
        <p:spPr>
          <a:xfrm>
            <a:off x="804672" y="17922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R</a:t>
            </a:r>
            <a:endParaRPr lang="en-US" sz="2000" dirty="0"/>
          </a:p>
        </p:txBody>
      </p:sp>
      <p:sp>
        <p:nvSpPr>
          <p:cNvPr id="9" name="Text 6"/>
          <p:cNvSpPr/>
          <p:nvPr/>
        </p:nvSpPr>
        <p:spPr>
          <a:xfrm>
            <a:off x="1444752" y="1883664"/>
            <a:ext cx="23774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Role</a:t>
            </a:r>
            <a:endParaRPr lang="en-US" sz="1550" dirty="0"/>
          </a:p>
        </p:txBody>
      </p:sp>
      <p:sp>
        <p:nvSpPr>
          <p:cNvPr id="10" name="Text 7"/>
          <p:cNvSpPr/>
          <p:nvPr/>
        </p:nvSpPr>
        <p:spPr>
          <a:xfrm>
            <a:off x="804672" y="2487168"/>
            <a:ext cx="2926080" cy="1005840"/>
          </a:xfrm>
          <a:prstGeom prst="rect">
            <a:avLst/>
          </a:prstGeom>
          <a:noFill/>
          <a:ln/>
        </p:spPr>
        <p:txBody>
          <a:bodyPr wrap="square" lIns="0" tIns="0" rIns="0" bIns="0" rtlCol="0" anchor="ctr"/>
          <a:lstStyle/>
          <a:p>
            <a:pPr indent="0" marL="0">
              <a:buNone/>
            </a:pPr>
            <a:r>
              <a:rPr lang="en-US" sz="1200" i="1" dirty="0">
                <a:solidFill>
                  <a:srgbClr val="232A3E"/>
                </a:solidFill>
                <a:latin typeface="Calibri" pitchFamily="34" charset="0"/>
                <a:ea typeface="Calibri" pitchFamily="34" charset="-122"/>
                <a:cs typeface="Calibri" pitchFamily="34" charset="-120"/>
              </a:rPr>
              <a:t>“You are a brand strategist for African SMEs.”</a:t>
            </a:r>
            <a:endParaRPr lang="en-US" sz="1200" dirty="0"/>
          </a:p>
        </p:txBody>
      </p:sp>
      <p:sp>
        <p:nvSpPr>
          <p:cNvPr id="11" name="Shape 8"/>
          <p:cNvSpPr/>
          <p:nvPr/>
        </p:nvSpPr>
        <p:spPr>
          <a:xfrm>
            <a:off x="4379976" y="1554480"/>
            <a:ext cx="3429000" cy="2057400"/>
          </a:xfrm>
          <a:prstGeom prst="roundRect">
            <a:avLst>
              <a:gd name="adj" fmla="val 4000"/>
            </a:avLst>
          </a:prstGeom>
          <a:solidFill>
            <a:srgbClr val="F5F8FC"/>
          </a:solidFill>
          <a:ln w="12700">
            <a:solidFill>
              <a:srgbClr val="E1E6F0"/>
            </a:solidFill>
            <a:prstDash val="solid"/>
          </a:ln>
        </p:spPr>
      </p:sp>
      <p:sp>
        <p:nvSpPr>
          <p:cNvPr id="12" name="Shape 9"/>
          <p:cNvSpPr/>
          <p:nvPr/>
        </p:nvSpPr>
        <p:spPr>
          <a:xfrm>
            <a:off x="4636008" y="1792224"/>
            <a:ext cx="502920" cy="502920"/>
          </a:xfrm>
          <a:prstGeom prst="ellipse">
            <a:avLst/>
          </a:prstGeom>
          <a:solidFill>
            <a:srgbClr val="29A9E1"/>
          </a:solidFill>
          <a:ln/>
        </p:spPr>
      </p:sp>
      <p:sp>
        <p:nvSpPr>
          <p:cNvPr id="13" name="Text 10"/>
          <p:cNvSpPr/>
          <p:nvPr/>
        </p:nvSpPr>
        <p:spPr>
          <a:xfrm>
            <a:off x="4636008" y="17922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t>
            </a:r>
            <a:endParaRPr lang="en-US" sz="2000" dirty="0"/>
          </a:p>
        </p:txBody>
      </p:sp>
      <p:sp>
        <p:nvSpPr>
          <p:cNvPr id="14" name="Text 11"/>
          <p:cNvSpPr/>
          <p:nvPr/>
        </p:nvSpPr>
        <p:spPr>
          <a:xfrm>
            <a:off x="5276088" y="1883664"/>
            <a:ext cx="23774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Context</a:t>
            </a:r>
            <a:endParaRPr lang="en-US" sz="1550" dirty="0"/>
          </a:p>
        </p:txBody>
      </p:sp>
      <p:sp>
        <p:nvSpPr>
          <p:cNvPr id="15" name="Text 12"/>
          <p:cNvSpPr/>
          <p:nvPr/>
        </p:nvSpPr>
        <p:spPr>
          <a:xfrm>
            <a:off x="4636008" y="2487168"/>
            <a:ext cx="2926080" cy="1005840"/>
          </a:xfrm>
          <a:prstGeom prst="rect">
            <a:avLst/>
          </a:prstGeom>
          <a:noFill/>
          <a:ln/>
        </p:spPr>
        <p:txBody>
          <a:bodyPr wrap="square" lIns="0" tIns="0" rIns="0" bIns="0" rtlCol="0" anchor="ctr"/>
          <a:lstStyle/>
          <a:p>
            <a:pPr indent="0" marL="0">
              <a:buNone/>
            </a:pPr>
            <a:r>
              <a:rPr lang="en-US" sz="1200" i="1" dirty="0">
                <a:solidFill>
                  <a:srgbClr val="232A3E"/>
                </a:solidFill>
                <a:latin typeface="Calibri" pitchFamily="34" charset="0"/>
                <a:ea typeface="Calibri" pitchFamily="34" charset="-122"/>
                <a:cs typeface="Calibri" pitchFamily="34" charset="-120"/>
              </a:rPr>
              <a:t>“My audience is young professionals in Abuja; goal is enquiries.”</a:t>
            </a:r>
            <a:endParaRPr lang="en-US" sz="1200" dirty="0"/>
          </a:p>
        </p:txBody>
      </p:sp>
      <p:sp>
        <p:nvSpPr>
          <p:cNvPr id="16" name="Shape 13"/>
          <p:cNvSpPr/>
          <p:nvPr/>
        </p:nvSpPr>
        <p:spPr>
          <a:xfrm>
            <a:off x="8211312" y="1554480"/>
            <a:ext cx="3429000" cy="2057400"/>
          </a:xfrm>
          <a:prstGeom prst="roundRect">
            <a:avLst>
              <a:gd name="adj" fmla="val 4000"/>
            </a:avLst>
          </a:prstGeom>
          <a:solidFill>
            <a:srgbClr val="F5F8FC"/>
          </a:solidFill>
          <a:ln w="12700">
            <a:solidFill>
              <a:srgbClr val="E1E6F0"/>
            </a:solidFill>
            <a:prstDash val="solid"/>
          </a:ln>
        </p:spPr>
      </p:sp>
      <p:sp>
        <p:nvSpPr>
          <p:cNvPr id="17" name="Shape 14"/>
          <p:cNvSpPr/>
          <p:nvPr/>
        </p:nvSpPr>
        <p:spPr>
          <a:xfrm>
            <a:off x="8467344" y="1792224"/>
            <a:ext cx="502920" cy="502920"/>
          </a:xfrm>
          <a:prstGeom prst="ellipse">
            <a:avLst/>
          </a:prstGeom>
          <a:solidFill>
            <a:srgbClr val="151F4A"/>
          </a:solidFill>
          <a:ln/>
        </p:spPr>
      </p:sp>
      <p:sp>
        <p:nvSpPr>
          <p:cNvPr id="18" name="Text 15"/>
          <p:cNvSpPr/>
          <p:nvPr/>
        </p:nvSpPr>
        <p:spPr>
          <a:xfrm>
            <a:off x="8467344" y="17922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T</a:t>
            </a:r>
            <a:endParaRPr lang="en-US" sz="2000" dirty="0"/>
          </a:p>
        </p:txBody>
      </p:sp>
      <p:sp>
        <p:nvSpPr>
          <p:cNvPr id="19" name="Text 16"/>
          <p:cNvSpPr/>
          <p:nvPr/>
        </p:nvSpPr>
        <p:spPr>
          <a:xfrm>
            <a:off x="9107424" y="1883664"/>
            <a:ext cx="23774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Task</a:t>
            </a:r>
            <a:endParaRPr lang="en-US" sz="1550" dirty="0"/>
          </a:p>
        </p:txBody>
      </p:sp>
      <p:sp>
        <p:nvSpPr>
          <p:cNvPr id="20" name="Text 17"/>
          <p:cNvSpPr/>
          <p:nvPr/>
        </p:nvSpPr>
        <p:spPr>
          <a:xfrm>
            <a:off x="8467344" y="2487168"/>
            <a:ext cx="2926080" cy="1005840"/>
          </a:xfrm>
          <a:prstGeom prst="rect">
            <a:avLst/>
          </a:prstGeom>
          <a:noFill/>
          <a:ln/>
        </p:spPr>
        <p:txBody>
          <a:bodyPr wrap="square" lIns="0" tIns="0" rIns="0" bIns="0" rtlCol="0" anchor="ctr"/>
          <a:lstStyle/>
          <a:p>
            <a:pPr indent="0" marL="0">
              <a:buNone/>
            </a:pPr>
            <a:r>
              <a:rPr lang="en-US" sz="1200" i="1" dirty="0">
                <a:solidFill>
                  <a:srgbClr val="232A3E"/>
                </a:solidFill>
                <a:latin typeface="Calibri" pitchFamily="34" charset="0"/>
                <a:ea typeface="Calibri" pitchFamily="34" charset="-122"/>
                <a:cs typeface="Calibri" pitchFamily="34" charset="-120"/>
              </a:rPr>
              <a:t>“Write my Instagram bio and a pinned-post caption.”</a:t>
            </a:r>
            <a:endParaRPr lang="en-US" sz="1200" dirty="0"/>
          </a:p>
        </p:txBody>
      </p:sp>
      <p:sp>
        <p:nvSpPr>
          <p:cNvPr id="21" name="Shape 18"/>
          <p:cNvSpPr/>
          <p:nvPr/>
        </p:nvSpPr>
        <p:spPr>
          <a:xfrm>
            <a:off x="548640" y="3840480"/>
            <a:ext cx="3429000" cy="2057400"/>
          </a:xfrm>
          <a:prstGeom prst="roundRect">
            <a:avLst>
              <a:gd name="adj" fmla="val 4000"/>
            </a:avLst>
          </a:prstGeom>
          <a:solidFill>
            <a:srgbClr val="F5F8FC"/>
          </a:solidFill>
          <a:ln w="12700">
            <a:solidFill>
              <a:srgbClr val="E1E6F0"/>
            </a:solidFill>
            <a:prstDash val="solid"/>
          </a:ln>
        </p:spPr>
      </p:sp>
      <p:sp>
        <p:nvSpPr>
          <p:cNvPr id="22" name="Shape 19"/>
          <p:cNvSpPr/>
          <p:nvPr/>
        </p:nvSpPr>
        <p:spPr>
          <a:xfrm>
            <a:off x="804672" y="4078224"/>
            <a:ext cx="502920" cy="502920"/>
          </a:xfrm>
          <a:prstGeom prst="ellipse">
            <a:avLst/>
          </a:prstGeom>
          <a:solidFill>
            <a:srgbClr val="35C1B1"/>
          </a:solidFill>
          <a:ln/>
        </p:spPr>
      </p:sp>
      <p:sp>
        <p:nvSpPr>
          <p:cNvPr id="23" name="Text 20"/>
          <p:cNvSpPr/>
          <p:nvPr/>
        </p:nvSpPr>
        <p:spPr>
          <a:xfrm>
            <a:off x="804672" y="40782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t>
            </a:r>
            <a:endParaRPr lang="en-US" sz="2000" dirty="0"/>
          </a:p>
        </p:txBody>
      </p:sp>
      <p:sp>
        <p:nvSpPr>
          <p:cNvPr id="24" name="Text 21"/>
          <p:cNvSpPr/>
          <p:nvPr/>
        </p:nvSpPr>
        <p:spPr>
          <a:xfrm>
            <a:off x="1444752" y="4169664"/>
            <a:ext cx="23774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Constraints</a:t>
            </a:r>
            <a:endParaRPr lang="en-US" sz="1550" dirty="0"/>
          </a:p>
        </p:txBody>
      </p:sp>
      <p:sp>
        <p:nvSpPr>
          <p:cNvPr id="25" name="Text 22"/>
          <p:cNvSpPr/>
          <p:nvPr/>
        </p:nvSpPr>
        <p:spPr>
          <a:xfrm>
            <a:off x="804672" y="4773168"/>
            <a:ext cx="2926080" cy="1005840"/>
          </a:xfrm>
          <a:prstGeom prst="rect">
            <a:avLst/>
          </a:prstGeom>
          <a:noFill/>
          <a:ln/>
        </p:spPr>
        <p:txBody>
          <a:bodyPr wrap="square" lIns="0" tIns="0" rIns="0" bIns="0" rtlCol="0" anchor="ctr"/>
          <a:lstStyle/>
          <a:p>
            <a:pPr indent="0" marL="0">
              <a:buNone/>
            </a:pPr>
            <a:r>
              <a:rPr lang="en-US" sz="1200" i="1" dirty="0">
                <a:solidFill>
                  <a:srgbClr val="232A3E"/>
                </a:solidFill>
                <a:latin typeface="Calibri" pitchFamily="34" charset="0"/>
                <a:ea typeface="Calibri" pitchFamily="34" charset="-122"/>
                <a:cs typeface="Calibri" pitchFamily="34" charset="-120"/>
              </a:rPr>
              <a:t>“150 words, warm but expert tone, no hashtags, no jargon.”</a:t>
            </a:r>
            <a:endParaRPr lang="en-US" sz="1200" dirty="0"/>
          </a:p>
        </p:txBody>
      </p:sp>
      <p:sp>
        <p:nvSpPr>
          <p:cNvPr id="26" name="Shape 23"/>
          <p:cNvSpPr/>
          <p:nvPr/>
        </p:nvSpPr>
        <p:spPr>
          <a:xfrm>
            <a:off x="4379976" y="3840480"/>
            <a:ext cx="3429000" cy="2057400"/>
          </a:xfrm>
          <a:prstGeom prst="roundRect">
            <a:avLst>
              <a:gd name="adj" fmla="val 4000"/>
            </a:avLst>
          </a:prstGeom>
          <a:solidFill>
            <a:srgbClr val="F5F8FC"/>
          </a:solidFill>
          <a:ln w="12700">
            <a:solidFill>
              <a:srgbClr val="E1E6F0"/>
            </a:solidFill>
            <a:prstDash val="solid"/>
          </a:ln>
        </p:spPr>
      </p:sp>
      <p:sp>
        <p:nvSpPr>
          <p:cNvPr id="27" name="Shape 24"/>
          <p:cNvSpPr/>
          <p:nvPr/>
        </p:nvSpPr>
        <p:spPr>
          <a:xfrm>
            <a:off x="4636008" y="4078224"/>
            <a:ext cx="502920" cy="502920"/>
          </a:xfrm>
          <a:prstGeom prst="ellipse">
            <a:avLst/>
          </a:prstGeom>
          <a:solidFill>
            <a:srgbClr val="29A9E1"/>
          </a:solidFill>
          <a:ln/>
        </p:spPr>
      </p:sp>
      <p:sp>
        <p:nvSpPr>
          <p:cNvPr id="28" name="Text 25"/>
          <p:cNvSpPr/>
          <p:nvPr/>
        </p:nvSpPr>
        <p:spPr>
          <a:xfrm>
            <a:off x="4636008" y="40782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a:t>
            </a:r>
            <a:endParaRPr lang="en-US" sz="2000" dirty="0"/>
          </a:p>
        </p:txBody>
      </p:sp>
      <p:sp>
        <p:nvSpPr>
          <p:cNvPr id="29" name="Text 26"/>
          <p:cNvSpPr/>
          <p:nvPr/>
        </p:nvSpPr>
        <p:spPr>
          <a:xfrm>
            <a:off x="5276088" y="4169664"/>
            <a:ext cx="23774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Examples</a:t>
            </a:r>
            <a:endParaRPr lang="en-US" sz="1550" dirty="0"/>
          </a:p>
        </p:txBody>
      </p:sp>
      <p:sp>
        <p:nvSpPr>
          <p:cNvPr id="30" name="Text 27"/>
          <p:cNvSpPr/>
          <p:nvPr/>
        </p:nvSpPr>
        <p:spPr>
          <a:xfrm>
            <a:off x="4636008" y="4773168"/>
            <a:ext cx="2926080" cy="1005840"/>
          </a:xfrm>
          <a:prstGeom prst="rect">
            <a:avLst/>
          </a:prstGeom>
          <a:noFill/>
          <a:ln/>
        </p:spPr>
        <p:txBody>
          <a:bodyPr wrap="square" lIns="0" tIns="0" rIns="0" bIns="0" rtlCol="0" anchor="ctr"/>
          <a:lstStyle/>
          <a:p>
            <a:pPr indent="0" marL="0">
              <a:buNone/>
            </a:pPr>
            <a:r>
              <a:rPr lang="en-US" sz="1200" i="1" dirty="0">
                <a:solidFill>
                  <a:srgbClr val="232A3E"/>
                </a:solidFill>
                <a:latin typeface="Calibri" pitchFamily="34" charset="0"/>
                <a:ea typeface="Calibri" pitchFamily="34" charset="-122"/>
                <a:cs typeface="Calibri" pitchFamily="34" charset="-120"/>
              </a:rPr>
              <a:t>“Here are two bios I love — match this energy.”</a:t>
            </a:r>
            <a:endParaRPr lang="en-US" sz="1200" dirty="0"/>
          </a:p>
        </p:txBody>
      </p:sp>
      <p:sp>
        <p:nvSpPr>
          <p:cNvPr id="31" name="Shape 28"/>
          <p:cNvSpPr/>
          <p:nvPr/>
        </p:nvSpPr>
        <p:spPr>
          <a:xfrm>
            <a:off x="8211312" y="3840480"/>
            <a:ext cx="3429000" cy="2057400"/>
          </a:xfrm>
          <a:prstGeom prst="roundRect">
            <a:avLst>
              <a:gd name="adj" fmla="val 4000"/>
            </a:avLst>
          </a:prstGeom>
          <a:solidFill>
            <a:srgbClr val="F5F8FC"/>
          </a:solidFill>
          <a:ln w="12700">
            <a:solidFill>
              <a:srgbClr val="E1E6F0"/>
            </a:solidFill>
            <a:prstDash val="solid"/>
          </a:ln>
        </p:spPr>
      </p:sp>
      <p:sp>
        <p:nvSpPr>
          <p:cNvPr id="32" name="Shape 29"/>
          <p:cNvSpPr/>
          <p:nvPr/>
        </p:nvSpPr>
        <p:spPr>
          <a:xfrm>
            <a:off x="8467344" y="4078224"/>
            <a:ext cx="502920" cy="502920"/>
          </a:xfrm>
          <a:prstGeom prst="ellipse">
            <a:avLst/>
          </a:prstGeom>
          <a:solidFill>
            <a:srgbClr val="151F4A"/>
          </a:solidFill>
          <a:ln/>
        </p:spPr>
      </p:sp>
      <p:sp>
        <p:nvSpPr>
          <p:cNvPr id="33" name="Text 30"/>
          <p:cNvSpPr/>
          <p:nvPr/>
        </p:nvSpPr>
        <p:spPr>
          <a:xfrm>
            <a:off x="8467344" y="40782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a:t>
            </a:r>
            <a:endParaRPr lang="en-US" sz="2000" dirty="0"/>
          </a:p>
        </p:txBody>
      </p:sp>
      <p:sp>
        <p:nvSpPr>
          <p:cNvPr id="34" name="Text 31"/>
          <p:cNvSpPr/>
          <p:nvPr/>
        </p:nvSpPr>
        <p:spPr>
          <a:xfrm>
            <a:off x="9107424" y="4169664"/>
            <a:ext cx="23774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Iterate</a:t>
            </a:r>
            <a:endParaRPr lang="en-US" sz="1550" dirty="0"/>
          </a:p>
        </p:txBody>
      </p:sp>
      <p:sp>
        <p:nvSpPr>
          <p:cNvPr id="35" name="Text 32"/>
          <p:cNvSpPr/>
          <p:nvPr/>
        </p:nvSpPr>
        <p:spPr>
          <a:xfrm>
            <a:off x="8467344" y="4773168"/>
            <a:ext cx="2926080" cy="1005840"/>
          </a:xfrm>
          <a:prstGeom prst="rect">
            <a:avLst/>
          </a:prstGeom>
          <a:noFill/>
          <a:ln/>
        </p:spPr>
        <p:txBody>
          <a:bodyPr wrap="square" lIns="0" tIns="0" rIns="0" bIns="0" rtlCol="0" anchor="ctr"/>
          <a:lstStyle/>
          <a:p>
            <a:pPr indent="0" marL="0">
              <a:buNone/>
            </a:pPr>
            <a:r>
              <a:rPr lang="en-US" sz="1200" i="1" dirty="0">
                <a:solidFill>
                  <a:srgbClr val="232A3E"/>
                </a:solidFill>
                <a:latin typeface="Calibri" pitchFamily="34" charset="0"/>
                <a:ea typeface="Calibri" pitchFamily="34" charset="-122"/>
                <a:cs typeface="Calibri" pitchFamily="34" charset="-120"/>
              </a:rPr>
              <a:t>“Make option 2 bolder. Now shorten it. Now punchier.”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RIGHT VS WRONG</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Same tool. Same 30 seconds. Different business.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440680" cy="4526280"/>
          </a:xfrm>
          <a:prstGeom prst="roundRect">
            <a:avLst>
              <a:gd name="adj" fmla="val 1818"/>
            </a:avLst>
          </a:prstGeom>
          <a:solidFill>
            <a:srgbClr val="F3F4F7"/>
          </a:solidFill>
          <a:ln w="12700">
            <a:solidFill>
              <a:srgbClr val="E1E6F0"/>
            </a:solidFill>
            <a:prstDash val="solid"/>
          </a:ln>
        </p:spPr>
      </p:sp>
      <p:sp>
        <p:nvSpPr>
          <p:cNvPr id="7" name="Shape 4"/>
          <p:cNvSpPr/>
          <p:nvPr/>
        </p:nvSpPr>
        <p:spPr>
          <a:xfrm>
            <a:off x="868680" y="1737360"/>
            <a:ext cx="457200" cy="457200"/>
          </a:xfrm>
          <a:prstGeom prst="ellipse">
            <a:avLst/>
          </a:prstGeom>
          <a:solidFill>
            <a:srgbClr val="8A90A3"/>
          </a:solidFill>
          <a:ln/>
        </p:spPr>
      </p:sp>
      <p:pic>
        <p:nvPicPr>
          <p:cNvPr id="8" name="Image 0" descr="icons/xmark.png">    </p:cNvPr>
          <p:cNvPicPr>
            <a:picLocks noChangeAspect="1"/>
          </p:cNvPicPr>
          <p:nvPr/>
        </p:nvPicPr>
        <p:blipFill>
          <a:blip r:embed="rId2"/>
          <a:stretch>
            <a:fillRect/>
          </a:stretch>
        </p:blipFill>
        <p:spPr>
          <a:xfrm>
            <a:off x="982980" y="1851660"/>
            <a:ext cx="228600" cy="228600"/>
          </a:xfrm>
          <a:prstGeom prst="rect">
            <a:avLst/>
          </a:prstGeom>
        </p:spPr>
      </p:pic>
      <p:sp>
        <p:nvSpPr>
          <p:cNvPr id="9" name="Text 5"/>
          <p:cNvSpPr/>
          <p:nvPr/>
        </p:nvSpPr>
        <p:spPr>
          <a:xfrm>
            <a:off x="1463040" y="1801368"/>
            <a:ext cx="4297680" cy="320040"/>
          </a:xfrm>
          <a:prstGeom prst="rect">
            <a:avLst/>
          </a:prstGeom>
          <a:noFill/>
          <a:ln/>
        </p:spPr>
        <p:txBody>
          <a:bodyPr wrap="square" lIns="0" tIns="0" rIns="0" bIns="0" rtlCol="0" anchor="ctr"/>
          <a:lstStyle/>
          <a:p>
            <a:pPr indent="0" marL="0">
              <a:buNone/>
            </a:pPr>
            <a:r>
              <a:rPr lang="en-US" sz="1450" b="1" dirty="0">
                <a:solidFill>
                  <a:srgbClr val="232A3E"/>
                </a:solidFill>
                <a:latin typeface="Arial" pitchFamily="34" charset="0"/>
                <a:ea typeface="Arial" pitchFamily="34" charset="-122"/>
                <a:cs typeface="Arial" pitchFamily="34" charset="-120"/>
              </a:rPr>
              <a:t>The prompt most people write</a:t>
            </a:r>
            <a:endParaRPr lang="en-US" sz="1450" dirty="0"/>
          </a:p>
        </p:txBody>
      </p:sp>
      <p:sp>
        <p:nvSpPr>
          <p:cNvPr id="10" name="Shape 6"/>
          <p:cNvSpPr/>
          <p:nvPr/>
        </p:nvSpPr>
        <p:spPr>
          <a:xfrm>
            <a:off x="868680" y="2377440"/>
            <a:ext cx="4800600" cy="914400"/>
          </a:xfrm>
          <a:prstGeom prst="roundRect">
            <a:avLst>
              <a:gd name="adj" fmla="val 9000"/>
            </a:avLst>
          </a:prstGeom>
          <a:solidFill>
            <a:srgbClr val="FFFFFF"/>
          </a:solidFill>
          <a:ln w="12700">
            <a:solidFill>
              <a:srgbClr val="E1E6F0"/>
            </a:solidFill>
            <a:prstDash val="solid"/>
          </a:ln>
        </p:spPr>
      </p:sp>
      <p:sp>
        <p:nvSpPr>
          <p:cNvPr id="11" name="Text 7"/>
          <p:cNvSpPr/>
          <p:nvPr/>
        </p:nvSpPr>
        <p:spPr>
          <a:xfrm>
            <a:off x="1051560" y="2487168"/>
            <a:ext cx="4434840" cy="685800"/>
          </a:xfrm>
          <a:prstGeom prst="rect">
            <a:avLst/>
          </a:prstGeom>
          <a:noFill/>
          <a:ln/>
        </p:spPr>
        <p:txBody>
          <a:bodyPr wrap="square" lIns="0" tIns="0" rIns="0" bIns="0" rtlCol="0" anchor="ctr"/>
          <a:lstStyle/>
          <a:p>
            <a:pPr indent="0" marL="0">
              <a:buNone/>
            </a:pPr>
            <a:r>
              <a:rPr lang="en-US" sz="1350" i="1" dirty="0">
                <a:solidFill>
                  <a:srgbClr val="232A3E"/>
                </a:solidFill>
                <a:latin typeface="Calibri" pitchFamily="34" charset="0"/>
                <a:ea typeface="Calibri" pitchFamily="34" charset="-122"/>
                <a:cs typeface="Calibri" pitchFamily="34" charset="-120"/>
              </a:rPr>
              <a:t>“Write a LinkedIn post about my business.”</a:t>
            </a:r>
            <a:endParaRPr lang="en-US" sz="1350" dirty="0"/>
          </a:p>
        </p:txBody>
      </p:sp>
      <p:sp>
        <p:nvSpPr>
          <p:cNvPr id="12" name="Text 8"/>
          <p:cNvSpPr/>
          <p:nvPr/>
        </p:nvSpPr>
        <p:spPr>
          <a:xfrm>
            <a:off x="868680" y="3520440"/>
            <a:ext cx="4754880" cy="1280160"/>
          </a:xfrm>
          <a:prstGeom prst="rect">
            <a:avLst/>
          </a:prstGeom>
          <a:noFill/>
          <a:ln/>
        </p:spPr>
        <p:txBody>
          <a:bodyPr wrap="square" lIns="0" tIns="0" rIns="0" bIns="0" rtlCol="0" anchor="ctr"/>
          <a:lstStyle/>
          <a:p>
            <a:pPr marL="127000" indent="-127000">
              <a:spcAft>
                <a:spcPts val="800"/>
              </a:spcAft>
              <a:buSzPct val="100000"/>
              <a:buChar char="•"/>
            </a:pPr>
            <a:r>
              <a:rPr lang="en-US" sz="1300" dirty="0">
                <a:solidFill>
                  <a:srgbClr val="68708A"/>
                </a:solidFill>
                <a:latin typeface="Calibri" pitchFamily="34" charset="0"/>
                <a:ea typeface="Calibri" pitchFamily="34" charset="-122"/>
                <a:cs typeface="Calibri" pitchFamily="34" charset="-120"/>
              </a:rPr>
              <a:t>Generic — could be anyone's business</a:t>
            </a:r>
            <a:endParaRPr lang="en-US" sz="1300" dirty="0"/>
          </a:p>
          <a:p>
            <a:pPr marL="127000" indent="-127000">
              <a:spcAft>
                <a:spcPts val="800"/>
              </a:spcAft>
              <a:buSzPct val="100000"/>
              <a:buChar char="•"/>
            </a:pPr>
            <a:r>
              <a:rPr lang="en-US" sz="1300" dirty="0">
                <a:solidFill>
                  <a:srgbClr val="68708A"/>
                </a:solidFill>
                <a:latin typeface="Calibri" pitchFamily="34" charset="0"/>
                <a:ea typeface="Calibri" pitchFamily="34" charset="-122"/>
                <a:cs typeface="Calibri" pitchFamily="34" charset="-120"/>
              </a:rPr>
              <a:t>No audience, no goal, no voice</a:t>
            </a:r>
            <a:endParaRPr lang="en-US" sz="1300" dirty="0"/>
          </a:p>
          <a:p>
            <a:pPr marL="127000" indent="-127000">
              <a:spcAft>
                <a:spcPts val="800"/>
              </a:spcAft>
              <a:buSzPct val="100000"/>
              <a:buChar char="•"/>
            </a:pPr>
            <a:r>
              <a:rPr lang="en-US" sz="1300" dirty="0">
                <a:solidFill>
                  <a:srgbClr val="68708A"/>
                </a:solidFill>
                <a:latin typeface="Calibri" pitchFamily="34" charset="0"/>
                <a:ea typeface="Calibri" pitchFamily="34" charset="-122"/>
                <a:cs typeface="Calibri" pitchFamily="34" charset="-120"/>
              </a:rPr>
              <a:t>You'll rewrite it anyway</a:t>
            </a:r>
            <a:endParaRPr lang="en-US" sz="1300" dirty="0"/>
          </a:p>
        </p:txBody>
      </p:sp>
      <p:sp>
        <p:nvSpPr>
          <p:cNvPr id="13" name="Shape 9"/>
          <p:cNvSpPr/>
          <p:nvPr/>
        </p:nvSpPr>
        <p:spPr>
          <a:xfrm>
            <a:off x="6217920" y="1463040"/>
            <a:ext cx="5440680" cy="4526280"/>
          </a:xfrm>
          <a:prstGeom prst="roundRect">
            <a:avLst>
              <a:gd name="adj" fmla="val 1818"/>
            </a:avLst>
          </a:prstGeom>
          <a:solidFill>
            <a:srgbClr val="EAF6F4"/>
          </a:solidFill>
          <a:ln/>
        </p:spPr>
      </p:sp>
      <p:sp>
        <p:nvSpPr>
          <p:cNvPr id="14" name="Shape 10"/>
          <p:cNvSpPr/>
          <p:nvPr/>
        </p:nvSpPr>
        <p:spPr>
          <a:xfrm>
            <a:off x="6537960" y="1737360"/>
            <a:ext cx="457200" cy="457200"/>
          </a:xfrm>
          <a:prstGeom prst="ellipse">
            <a:avLst/>
          </a:prstGeom>
          <a:solidFill>
            <a:srgbClr val="35C1B1"/>
          </a:solidFill>
          <a:ln/>
        </p:spPr>
      </p:sp>
      <p:pic>
        <p:nvPicPr>
          <p:cNvPr id="15" name="Image 1" descr="icons/check.png">    </p:cNvPr>
          <p:cNvPicPr>
            <a:picLocks noChangeAspect="1"/>
          </p:cNvPicPr>
          <p:nvPr/>
        </p:nvPicPr>
        <p:blipFill>
          <a:blip r:embed="rId3"/>
          <a:stretch>
            <a:fillRect/>
          </a:stretch>
        </p:blipFill>
        <p:spPr>
          <a:xfrm>
            <a:off x="6652260" y="1851660"/>
            <a:ext cx="228600" cy="228600"/>
          </a:xfrm>
          <a:prstGeom prst="rect">
            <a:avLst/>
          </a:prstGeom>
        </p:spPr>
      </p:pic>
      <p:sp>
        <p:nvSpPr>
          <p:cNvPr id="16" name="Text 11"/>
          <p:cNvSpPr/>
          <p:nvPr/>
        </p:nvSpPr>
        <p:spPr>
          <a:xfrm>
            <a:off x="7132320" y="1801368"/>
            <a:ext cx="429768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The prompt that works</a:t>
            </a:r>
            <a:endParaRPr lang="en-US" sz="1450" dirty="0"/>
          </a:p>
        </p:txBody>
      </p:sp>
      <p:sp>
        <p:nvSpPr>
          <p:cNvPr id="17" name="Shape 12"/>
          <p:cNvSpPr/>
          <p:nvPr/>
        </p:nvSpPr>
        <p:spPr>
          <a:xfrm>
            <a:off x="6537960" y="2377440"/>
            <a:ext cx="4800600" cy="2377440"/>
          </a:xfrm>
          <a:prstGeom prst="roundRect">
            <a:avLst>
              <a:gd name="adj" fmla="val 3462"/>
            </a:avLst>
          </a:prstGeom>
          <a:solidFill>
            <a:srgbClr val="FFFFFF"/>
          </a:solidFill>
          <a:ln w="12700">
            <a:solidFill>
              <a:srgbClr val="E1E6F0"/>
            </a:solidFill>
            <a:prstDash val="solid"/>
          </a:ln>
        </p:spPr>
      </p:sp>
      <p:sp>
        <p:nvSpPr>
          <p:cNvPr id="18" name="Text 13"/>
          <p:cNvSpPr/>
          <p:nvPr/>
        </p:nvSpPr>
        <p:spPr>
          <a:xfrm>
            <a:off x="6720840" y="2487168"/>
            <a:ext cx="4434840" cy="21945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“You are a LinkedIn ghostwriter for a Nigerian fintech founder. </a:t>
            </a:r>
            <a:pPr indent="0" marL="0">
              <a:buNone/>
            </a:pPr>
            <a:r>
              <a:rPr lang="en-US" sz="1200" b="1" dirty="0">
                <a:solidFill>
                  <a:srgbClr val="35C1B1"/>
                </a:solidFill>
                <a:latin typeface="Calibri" pitchFamily="34" charset="0"/>
                <a:ea typeface="Calibri" pitchFamily="34" charset="-122"/>
                <a:cs typeface="Calibri" pitchFamily="34" charset="-120"/>
              </a:rPr>
              <a:t>[ROLE]</a:t>
            </a:r>
            <a:pPr indent="0" marL="0">
              <a:buNone/>
            </a:pPr>
            <a:r>
              <a:rPr lang="en-US" sz="1200" dirty="0">
                <a:solidFill>
                  <a:srgbClr val="232A3E"/>
                </a:solidFill>
                <a:latin typeface="Calibri" pitchFamily="34" charset="0"/>
                <a:ea typeface="Calibri" pitchFamily="34" charset="-122"/>
                <a:cs typeface="Calibri" pitchFamily="34" charset="-120"/>
              </a:rPr>
              <a:t> My audience: young professionals in Abuja. </a:t>
            </a:r>
            <a:pPr indent="0" marL="0">
              <a:buNone/>
            </a:pPr>
            <a:r>
              <a:rPr lang="en-US" sz="1200" b="1" dirty="0">
                <a:solidFill>
                  <a:srgbClr val="29A9E1"/>
                </a:solidFill>
                <a:latin typeface="Calibri" pitchFamily="34" charset="0"/>
                <a:ea typeface="Calibri" pitchFamily="34" charset="-122"/>
                <a:cs typeface="Calibri" pitchFamily="34" charset="-120"/>
              </a:rPr>
              <a:t>[CONTEXT]</a:t>
            </a:r>
            <a:pPr indent="0" marL="0">
              <a:buNone/>
            </a:pPr>
            <a:r>
              <a:rPr lang="en-US" sz="1200" dirty="0">
                <a:solidFill>
                  <a:srgbClr val="232A3E"/>
                </a:solidFill>
                <a:latin typeface="Calibri" pitchFamily="34" charset="0"/>
                <a:ea typeface="Calibri" pitchFamily="34" charset="-122"/>
                <a:cs typeface="Calibri" pitchFamily="34" charset="-120"/>
              </a:rPr>
              <a:t> Write a 150-word launch post for our payments app — warm, confident, no hashtags, end with a question. </a:t>
            </a:r>
            <a:pPr indent="0" marL="0">
              <a:buNone/>
            </a:pPr>
            <a:r>
              <a:rPr lang="en-US" sz="1200" b="1" dirty="0">
                <a:solidFill>
                  <a:srgbClr val="151F4A"/>
                </a:solidFill>
                <a:latin typeface="Calibri" pitchFamily="34" charset="0"/>
                <a:ea typeface="Calibri" pitchFamily="34" charset="-122"/>
                <a:cs typeface="Calibri" pitchFamily="34" charset="-120"/>
              </a:rPr>
              <a:t>[TASK + CONSTRAINTS]</a:t>
            </a:r>
            <a:pPr indent="0" marL="0">
              <a:buNone/>
            </a:pPr>
            <a:r>
              <a:rPr lang="en-US" sz="1200" dirty="0">
                <a:solidFill>
                  <a:srgbClr val="232A3E"/>
                </a:solidFill>
                <a:latin typeface="Calibri" pitchFamily="34" charset="0"/>
                <a:ea typeface="Calibri" pitchFamily="34" charset="-122"/>
                <a:cs typeface="Calibri" pitchFamily="34" charset="-120"/>
              </a:rPr>
              <a:t> Here's a post whose tone I like: …” </a:t>
            </a:r>
            <a:pPr indent="0" marL="0">
              <a:buNone/>
            </a:pPr>
            <a:r>
              <a:rPr lang="en-US" sz="1200" b="1" dirty="0">
                <a:solidFill>
                  <a:srgbClr val="35C1B1"/>
                </a:solidFill>
                <a:latin typeface="Calibri" pitchFamily="34" charset="0"/>
                <a:ea typeface="Calibri" pitchFamily="34" charset="-122"/>
                <a:cs typeface="Calibri" pitchFamily="34" charset="-120"/>
              </a:rPr>
              <a:t>[EXAMPLE]</a:t>
            </a:r>
            <a:endParaRPr lang="en-US" sz="1200" dirty="0"/>
          </a:p>
        </p:txBody>
      </p:sp>
      <p:sp>
        <p:nvSpPr>
          <p:cNvPr id="19" name="Text 14"/>
          <p:cNvSpPr/>
          <p:nvPr/>
        </p:nvSpPr>
        <p:spPr>
          <a:xfrm>
            <a:off x="6537960" y="4983480"/>
            <a:ext cx="4754880" cy="365760"/>
          </a:xfrm>
          <a:prstGeom prst="rect">
            <a:avLst/>
          </a:prstGeom>
          <a:noFill/>
          <a:ln/>
        </p:spPr>
        <p:txBody>
          <a:bodyPr wrap="square" lIns="0" tIns="0" rIns="0" bIns="0" rtlCol="0" anchor="ctr"/>
          <a:lstStyle/>
          <a:p>
            <a:pPr indent="0" marL="0">
              <a:buNone/>
            </a:pPr>
            <a:r>
              <a:rPr lang="en-US" sz="1350" b="1" dirty="0">
                <a:solidFill>
                  <a:srgbClr val="151F4A"/>
                </a:solidFill>
                <a:latin typeface="Arial" pitchFamily="34" charset="0"/>
                <a:ea typeface="Arial" pitchFamily="34" charset="-122"/>
                <a:cs typeface="Arial" pitchFamily="34" charset="-120"/>
              </a:rPr>
              <a:t>Sounds like you. Ready to post — first try.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LEVEL UP</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Four power moves for better answers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5440680" cy="2057400"/>
          </a:xfrm>
          <a:prstGeom prst="roundRect">
            <a:avLst>
              <a:gd name="adj" fmla="val 4000"/>
            </a:avLst>
          </a:prstGeom>
          <a:solidFill>
            <a:srgbClr val="F5F8FC"/>
          </a:solidFill>
          <a:ln w="12700">
            <a:solidFill>
              <a:srgbClr val="E1E6F0"/>
            </a:solidFill>
            <a:prstDash val="solid"/>
          </a:ln>
        </p:spPr>
      </p:sp>
      <p:sp>
        <p:nvSpPr>
          <p:cNvPr id="7" name="Shape 4"/>
          <p:cNvSpPr/>
          <p:nvPr/>
        </p:nvSpPr>
        <p:spPr>
          <a:xfrm>
            <a:off x="822960" y="1828800"/>
            <a:ext cx="475488" cy="475488"/>
          </a:xfrm>
          <a:prstGeom prst="ellipse">
            <a:avLst/>
          </a:prstGeom>
          <a:solidFill>
            <a:srgbClr val="35C1B1"/>
          </a:solidFill>
          <a:ln/>
        </p:spPr>
      </p:sp>
      <p:pic>
        <p:nvPicPr>
          <p:cNvPr id="8" name="Image 0" descr="icons/layerGroup.png">    </p:cNvPr>
          <p:cNvPicPr>
            <a:picLocks noChangeAspect="1"/>
          </p:cNvPicPr>
          <p:nvPr/>
        </p:nvPicPr>
        <p:blipFill>
          <a:blip r:embed="rId2"/>
          <a:stretch>
            <a:fillRect/>
          </a:stretch>
        </p:blipFill>
        <p:spPr>
          <a:xfrm>
            <a:off x="941832" y="1947672"/>
            <a:ext cx="237744" cy="237744"/>
          </a:xfrm>
          <a:prstGeom prst="rect">
            <a:avLst/>
          </a:prstGeom>
        </p:spPr>
      </p:pic>
      <p:sp>
        <p:nvSpPr>
          <p:cNvPr id="9" name="Text 5"/>
          <p:cNvSpPr/>
          <p:nvPr/>
        </p:nvSpPr>
        <p:spPr>
          <a:xfrm>
            <a:off x="1463040" y="1901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1 · Show examples (few-shot)</a:t>
            </a:r>
            <a:endParaRPr lang="en-US" sz="1500" dirty="0"/>
          </a:p>
        </p:txBody>
      </p:sp>
      <p:sp>
        <p:nvSpPr>
          <p:cNvPr id="10" name="Text 6"/>
          <p:cNvSpPr/>
          <p:nvPr/>
        </p:nvSpPr>
        <p:spPr>
          <a:xfrm>
            <a:off x="822960" y="2514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Paste 2–3 samples of what ‘good’ looks like. Quality jumps instantly — it copies your taste.</a:t>
            </a:r>
            <a:endParaRPr lang="en-US" sz="1250" dirty="0"/>
          </a:p>
        </p:txBody>
      </p:sp>
      <p:sp>
        <p:nvSpPr>
          <p:cNvPr id="11" name="Shape 7"/>
          <p:cNvSpPr/>
          <p:nvPr/>
        </p:nvSpPr>
        <p:spPr>
          <a:xfrm>
            <a:off x="6172200" y="1554480"/>
            <a:ext cx="5440680" cy="2057400"/>
          </a:xfrm>
          <a:prstGeom prst="roundRect">
            <a:avLst>
              <a:gd name="adj" fmla="val 4000"/>
            </a:avLst>
          </a:prstGeom>
          <a:solidFill>
            <a:srgbClr val="F5F8FC"/>
          </a:solidFill>
          <a:ln w="12700">
            <a:solidFill>
              <a:srgbClr val="E1E6F0"/>
            </a:solidFill>
            <a:prstDash val="solid"/>
          </a:ln>
        </p:spPr>
      </p:sp>
      <p:sp>
        <p:nvSpPr>
          <p:cNvPr id="12" name="Shape 8"/>
          <p:cNvSpPr/>
          <p:nvPr/>
        </p:nvSpPr>
        <p:spPr>
          <a:xfrm>
            <a:off x="6446520" y="1828800"/>
            <a:ext cx="475488" cy="475488"/>
          </a:xfrm>
          <a:prstGeom prst="ellipse">
            <a:avLst/>
          </a:prstGeom>
          <a:solidFill>
            <a:srgbClr val="29A9E1"/>
          </a:solidFill>
          <a:ln/>
        </p:spPr>
      </p:sp>
      <p:pic>
        <p:nvPicPr>
          <p:cNvPr id="13" name="Image 1" descr="icons/lightbulb.png">    </p:cNvPr>
          <p:cNvPicPr>
            <a:picLocks noChangeAspect="1"/>
          </p:cNvPicPr>
          <p:nvPr/>
        </p:nvPicPr>
        <p:blipFill>
          <a:blip r:embed="rId3"/>
          <a:stretch>
            <a:fillRect/>
          </a:stretch>
        </p:blipFill>
        <p:spPr>
          <a:xfrm>
            <a:off x="6565392" y="1947672"/>
            <a:ext cx="237744" cy="237744"/>
          </a:xfrm>
          <a:prstGeom prst="rect">
            <a:avLst/>
          </a:prstGeom>
        </p:spPr>
      </p:pic>
      <p:sp>
        <p:nvSpPr>
          <p:cNvPr id="14" name="Text 9"/>
          <p:cNvSpPr/>
          <p:nvPr/>
        </p:nvSpPr>
        <p:spPr>
          <a:xfrm>
            <a:off x="7086600" y="1901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2 · Make it plan first</a:t>
            </a:r>
            <a:endParaRPr lang="en-US" sz="1500" dirty="0"/>
          </a:p>
        </p:txBody>
      </p:sp>
      <p:sp>
        <p:nvSpPr>
          <p:cNvPr id="15" name="Text 10"/>
          <p:cNvSpPr/>
          <p:nvPr/>
        </p:nvSpPr>
        <p:spPr>
          <a:xfrm>
            <a:off x="6446520" y="2514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“Before writing, show me your outline.” Approve the plan, then let it write. Fewer rewrites.</a:t>
            </a:r>
            <a:endParaRPr lang="en-US" sz="1250" dirty="0"/>
          </a:p>
        </p:txBody>
      </p:sp>
      <p:sp>
        <p:nvSpPr>
          <p:cNvPr id="16" name="Shape 11"/>
          <p:cNvSpPr/>
          <p:nvPr/>
        </p:nvSpPr>
        <p:spPr>
          <a:xfrm>
            <a:off x="548640" y="3840480"/>
            <a:ext cx="5440680" cy="2057400"/>
          </a:xfrm>
          <a:prstGeom prst="roundRect">
            <a:avLst>
              <a:gd name="adj" fmla="val 4000"/>
            </a:avLst>
          </a:prstGeom>
          <a:solidFill>
            <a:srgbClr val="F5F8FC"/>
          </a:solidFill>
          <a:ln w="12700">
            <a:solidFill>
              <a:srgbClr val="E1E6F0"/>
            </a:solidFill>
            <a:prstDash val="solid"/>
          </a:ln>
        </p:spPr>
      </p:sp>
      <p:sp>
        <p:nvSpPr>
          <p:cNvPr id="17" name="Shape 12"/>
          <p:cNvSpPr/>
          <p:nvPr/>
        </p:nvSpPr>
        <p:spPr>
          <a:xfrm>
            <a:off x="822960" y="4114800"/>
            <a:ext cx="475488" cy="475488"/>
          </a:xfrm>
          <a:prstGeom prst="ellipse">
            <a:avLst/>
          </a:prstGeom>
          <a:solidFill>
            <a:srgbClr val="151F4A"/>
          </a:solidFill>
          <a:ln/>
        </p:spPr>
      </p:sp>
      <p:pic>
        <p:nvPicPr>
          <p:cNvPr id="18" name="Image 2" descr="icons/diagram.png">    </p:cNvPr>
          <p:cNvPicPr>
            <a:picLocks noChangeAspect="1"/>
          </p:cNvPicPr>
          <p:nvPr/>
        </p:nvPicPr>
        <p:blipFill>
          <a:blip r:embed="rId4"/>
          <a:stretch>
            <a:fillRect/>
          </a:stretch>
        </p:blipFill>
        <p:spPr>
          <a:xfrm>
            <a:off x="941832" y="4233672"/>
            <a:ext cx="237744" cy="237744"/>
          </a:xfrm>
          <a:prstGeom prst="rect">
            <a:avLst/>
          </a:prstGeom>
        </p:spPr>
      </p:pic>
      <p:sp>
        <p:nvSpPr>
          <p:cNvPr id="19" name="Text 13"/>
          <p:cNvSpPr/>
          <p:nvPr/>
        </p:nvSpPr>
        <p:spPr>
          <a:xfrm>
            <a:off x="1463040" y="4187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3 · Force the format</a:t>
            </a:r>
            <a:endParaRPr lang="en-US" sz="1500" dirty="0"/>
          </a:p>
        </p:txBody>
      </p:sp>
      <p:sp>
        <p:nvSpPr>
          <p:cNvPr id="20" name="Text 14"/>
          <p:cNvSpPr/>
          <p:nvPr/>
        </p:nvSpPr>
        <p:spPr>
          <a:xfrm>
            <a:off x="822960" y="4800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“Give me a table / checklist / 3 options ranked.” Structure you can act on, not an essay.</a:t>
            </a:r>
            <a:endParaRPr lang="en-US" sz="1250" dirty="0"/>
          </a:p>
        </p:txBody>
      </p:sp>
      <p:sp>
        <p:nvSpPr>
          <p:cNvPr id="21" name="Shape 15"/>
          <p:cNvSpPr/>
          <p:nvPr/>
        </p:nvSpPr>
        <p:spPr>
          <a:xfrm>
            <a:off x="6172200" y="3840480"/>
            <a:ext cx="5440680" cy="2057400"/>
          </a:xfrm>
          <a:prstGeom prst="roundRect">
            <a:avLst>
              <a:gd name="adj" fmla="val 4000"/>
            </a:avLst>
          </a:prstGeom>
          <a:solidFill>
            <a:srgbClr val="F5F8FC"/>
          </a:solidFill>
          <a:ln w="12700">
            <a:solidFill>
              <a:srgbClr val="E1E6F0"/>
            </a:solidFill>
            <a:prstDash val="solid"/>
          </a:ln>
        </p:spPr>
      </p:sp>
      <p:sp>
        <p:nvSpPr>
          <p:cNvPr id="22" name="Shape 16"/>
          <p:cNvSpPr/>
          <p:nvPr/>
        </p:nvSpPr>
        <p:spPr>
          <a:xfrm>
            <a:off x="6446520" y="4114800"/>
            <a:ext cx="475488" cy="475488"/>
          </a:xfrm>
          <a:prstGeom prst="ellipse">
            <a:avLst/>
          </a:prstGeom>
          <a:solidFill>
            <a:srgbClr val="35C1B1"/>
          </a:solidFill>
          <a:ln/>
        </p:spPr>
      </p:sp>
      <p:pic>
        <p:nvPicPr>
          <p:cNvPr id="23" name="Image 3" descr="icons/repeat.png">    </p:cNvPr>
          <p:cNvPicPr>
            <a:picLocks noChangeAspect="1"/>
          </p:cNvPicPr>
          <p:nvPr/>
        </p:nvPicPr>
        <p:blipFill>
          <a:blip r:embed="rId5"/>
          <a:stretch>
            <a:fillRect/>
          </a:stretch>
        </p:blipFill>
        <p:spPr>
          <a:xfrm>
            <a:off x="6565392" y="4233672"/>
            <a:ext cx="237744" cy="237744"/>
          </a:xfrm>
          <a:prstGeom prst="rect">
            <a:avLst/>
          </a:prstGeom>
        </p:spPr>
      </p:pic>
      <p:sp>
        <p:nvSpPr>
          <p:cNvPr id="24" name="Text 17"/>
          <p:cNvSpPr/>
          <p:nvPr/>
        </p:nvSpPr>
        <p:spPr>
          <a:xfrm>
            <a:off x="7086600" y="4187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4 · Run a critique loop</a:t>
            </a:r>
            <a:endParaRPr lang="en-US" sz="1500" dirty="0"/>
          </a:p>
        </p:txBody>
      </p:sp>
      <p:sp>
        <p:nvSpPr>
          <p:cNvPr id="25" name="Text 18"/>
          <p:cNvSpPr/>
          <p:nvPr/>
        </p:nvSpPr>
        <p:spPr>
          <a:xfrm>
            <a:off x="6446520" y="4800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“Now critique this draft against my goals — then rewrite it.” Your free in-house editor.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THE LEVERAGE LADDER</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From prompts to systems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4892040"/>
            <a:ext cx="2084832" cy="1481328"/>
          </a:xfrm>
          <a:prstGeom prst="roundRect">
            <a:avLst>
              <a:gd name="adj" fmla="val 5556"/>
            </a:avLst>
          </a:prstGeom>
          <a:solidFill>
            <a:srgbClr val="F5F8FC"/>
          </a:solidFill>
          <a:ln w="12700">
            <a:solidFill>
              <a:srgbClr val="E1E6F0"/>
            </a:solidFill>
            <a:prstDash val="solid"/>
          </a:ln>
        </p:spPr>
      </p:sp>
      <p:sp>
        <p:nvSpPr>
          <p:cNvPr id="7" name="Shape 4"/>
          <p:cNvSpPr/>
          <p:nvPr/>
        </p:nvSpPr>
        <p:spPr>
          <a:xfrm>
            <a:off x="749808" y="5074920"/>
            <a:ext cx="420624" cy="420624"/>
          </a:xfrm>
          <a:prstGeom prst="ellipse">
            <a:avLst/>
          </a:prstGeom>
          <a:solidFill>
            <a:srgbClr val="29A9E1"/>
          </a:solidFill>
          <a:ln/>
        </p:spPr>
      </p:sp>
      <p:pic>
        <p:nvPicPr>
          <p:cNvPr id="8" name="Image 0" descr="icons/comments.png">    </p:cNvPr>
          <p:cNvPicPr>
            <a:picLocks noChangeAspect="1"/>
          </p:cNvPicPr>
          <p:nvPr/>
        </p:nvPicPr>
        <p:blipFill>
          <a:blip r:embed="rId2"/>
          <a:stretch>
            <a:fillRect/>
          </a:stretch>
        </p:blipFill>
        <p:spPr>
          <a:xfrm>
            <a:off x="854964" y="5180076"/>
            <a:ext cx="210312" cy="210312"/>
          </a:xfrm>
          <a:prstGeom prst="rect">
            <a:avLst/>
          </a:prstGeom>
        </p:spPr>
      </p:pic>
      <p:sp>
        <p:nvSpPr>
          <p:cNvPr id="9" name="Text 5"/>
          <p:cNvSpPr/>
          <p:nvPr/>
        </p:nvSpPr>
        <p:spPr>
          <a:xfrm>
            <a:off x="1261872" y="5129784"/>
            <a:ext cx="13258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Prompt</a:t>
            </a:r>
            <a:endParaRPr lang="en-US" sz="1450" dirty="0"/>
          </a:p>
        </p:txBody>
      </p:sp>
      <p:sp>
        <p:nvSpPr>
          <p:cNvPr id="10" name="Text 6"/>
          <p:cNvSpPr/>
          <p:nvPr/>
        </p:nvSpPr>
        <p:spPr>
          <a:xfrm>
            <a:off x="749808" y="5605272"/>
            <a:ext cx="1737360" cy="685800"/>
          </a:xfrm>
          <a:prstGeom prst="rect">
            <a:avLst/>
          </a:prstGeom>
          <a:noFill/>
          <a:ln/>
        </p:spPr>
        <p:txBody>
          <a:bodyPr wrap="square" lIns="0" tIns="0" rIns="0" bIns="0" rtlCol="0" anchor="ctr"/>
          <a:lstStyle/>
          <a:p>
            <a:pPr indent="0" marL="0">
              <a:buNone/>
            </a:pPr>
            <a:r>
              <a:rPr lang="en-US" sz="1050" dirty="0">
                <a:solidFill>
                  <a:srgbClr val="232A3E"/>
                </a:solidFill>
                <a:latin typeface="Calibri" pitchFamily="34" charset="0"/>
                <a:ea typeface="Calibri" pitchFamily="34" charset="-122"/>
                <a:cs typeface="Calibri" pitchFamily="34" charset="-120"/>
              </a:rPr>
              <a:t>One ask, one answer</a:t>
            </a:r>
            <a:endParaRPr lang="en-US" sz="1050" dirty="0"/>
          </a:p>
        </p:txBody>
      </p:sp>
      <p:sp>
        <p:nvSpPr>
          <p:cNvPr id="11" name="Shape 7"/>
          <p:cNvSpPr/>
          <p:nvPr/>
        </p:nvSpPr>
        <p:spPr>
          <a:xfrm>
            <a:off x="2816352" y="4142232"/>
            <a:ext cx="2084832" cy="1481328"/>
          </a:xfrm>
          <a:prstGeom prst="roundRect">
            <a:avLst>
              <a:gd name="adj" fmla="val 5556"/>
            </a:avLst>
          </a:prstGeom>
          <a:solidFill>
            <a:srgbClr val="F5F8FC"/>
          </a:solidFill>
          <a:ln w="12700">
            <a:solidFill>
              <a:srgbClr val="E1E6F0"/>
            </a:solidFill>
            <a:prstDash val="solid"/>
          </a:ln>
        </p:spPr>
      </p:sp>
      <p:sp>
        <p:nvSpPr>
          <p:cNvPr id="12" name="Shape 8"/>
          <p:cNvSpPr/>
          <p:nvPr/>
        </p:nvSpPr>
        <p:spPr>
          <a:xfrm>
            <a:off x="3017520" y="4325112"/>
            <a:ext cx="420624" cy="420624"/>
          </a:xfrm>
          <a:prstGeom prst="ellipse">
            <a:avLst/>
          </a:prstGeom>
          <a:solidFill>
            <a:srgbClr val="35C1B1"/>
          </a:solidFill>
          <a:ln/>
        </p:spPr>
      </p:sp>
      <p:pic>
        <p:nvPicPr>
          <p:cNvPr id="13" name="Image 1" descr="icons/diagram.png">    </p:cNvPr>
          <p:cNvPicPr>
            <a:picLocks noChangeAspect="1"/>
          </p:cNvPicPr>
          <p:nvPr/>
        </p:nvPicPr>
        <p:blipFill>
          <a:blip r:embed="rId3"/>
          <a:stretch>
            <a:fillRect/>
          </a:stretch>
        </p:blipFill>
        <p:spPr>
          <a:xfrm>
            <a:off x="3122676" y="4430268"/>
            <a:ext cx="210312" cy="210312"/>
          </a:xfrm>
          <a:prstGeom prst="rect">
            <a:avLst/>
          </a:prstGeom>
        </p:spPr>
      </p:pic>
      <p:sp>
        <p:nvSpPr>
          <p:cNvPr id="14" name="Text 9"/>
          <p:cNvSpPr/>
          <p:nvPr/>
        </p:nvSpPr>
        <p:spPr>
          <a:xfrm>
            <a:off x="3529584" y="4379976"/>
            <a:ext cx="13258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Workflow</a:t>
            </a:r>
            <a:endParaRPr lang="en-US" sz="1450" dirty="0"/>
          </a:p>
        </p:txBody>
      </p:sp>
      <p:sp>
        <p:nvSpPr>
          <p:cNvPr id="15" name="Text 10"/>
          <p:cNvSpPr/>
          <p:nvPr/>
        </p:nvSpPr>
        <p:spPr>
          <a:xfrm>
            <a:off x="3017520" y="4855464"/>
            <a:ext cx="1737360" cy="685800"/>
          </a:xfrm>
          <a:prstGeom prst="rect">
            <a:avLst/>
          </a:prstGeom>
          <a:noFill/>
          <a:ln/>
        </p:spPr>
        <p:txBody>
          <a:bodyPr wrap="square" lIns="0" tIns="0" rIns="0" bIns="0" rtlCol="0" anchor="ctr"/>
          <a:lstStyle/>
          <a:p>
            <a:pPr indent="0" marL="0">
              <a:buNone/>
            </a:pPr>
            <a:r>
              <a:rPr lang="en-US" sz="1050" dirty="0">
                <a:solidFill>
                  <a:srgbClr val="232A3E"/>
                </a:solidFill>
                <a:latin typeface="Calibri" pitchFamily="34" charset="0"/>
                <a:ea typeface="Calibri" pitchFamily="34" charset="-122"/>
                <a:cs typeface="Calibri" pitchFamily="34" charset="-120"/>
              </a:rPr>
              <a:t>Chained steps, repeatable</a:t>
            </a:r>
            <a:endParaRPr lang="en-US" sz="1050" dirty="0"/>
          </a:p>
        </p:txBody>
      </p:sp>
      <p:sp>
        <p:nvSpPr>
          <p:cNvPr id="16" name="Shape 11"/>
          <p:cNvSpPr/>
          <p:nvPr/>
        </p:nvSpPr>
        <p:spPr>
          <a:xfrm>
            <a:off x="5084064" y="3392424"/>
            <a:ext cx="2084832" cy="1481328"/>
          </a:xfrm>
          <a:prstGeom prst="roundRect">
            <a:avLst>
              <a:gd name="adj" fmla="val 5556"/>
            </a:avLst>
          </a:prstGeom>
          <a:solidFill>
            <a:srgbClr val="F5F8FC"/>
          </a:solidFill>
          <a:ln w="12700">
            <a:solidFill>
              <a:srgbClr val="E1E6F0"/>
            </a:solidFill>
            <a:prstDash val="solid"/>
          </a:ln>
        </p:spPr>
      </p:sp>
      <p:sp>
        <p:nvSpPr>
          <p:cNvPr id="17" name="Shape 12"/>
          <p:cNvSpPr/>
          <p:nvPr/>
        </p:nvSpPr>
        <p:spPr>
          <a:xfrm>
            <a:off x="5285232" y="3575304"/>
            <a:ext cx="420624" cy="420624"/>
          </a:xfrm>
          <a:prstGeom prst="ellipse">
            <a:avLst/>
          </a:prstGeom>
          <a:solidFill>
            <a:srgbClr val="151F4A"/>
          </a:solidFill>
          <a:ln/>
        </p:spPr>
      </p:sp>
      <p:pic>
        <p:nvPicPr>
          <p:cNvPr id="18" name="Image 2" descr="icons/robot.png">    </p:cNvPr>
          <p:cNvPicPr>
            <a:picLocks noChangeAspect="1"/>
          </p:cNvPicPr>
          <p:nvPr/>
        </p:nvPicPr>
        <p:blipFill>
          <a:blip r:embed="rId4"/>
          <a:stretch>
            <a:fillRect/>
          </a:stretch>
        </p:blipFill>
        <p:spPr>
          <a:xfrm>
            <a:off x="5390388" y="3680460"/>
            <a:ext cx="210312" cy="210312"/>
          </a:xfrm>
          <a:prstGeom prst="rect">
            <a:avLst/>
          </a:prstGeom>
        </p:spPr>
      </p:pic>
      <p:sp>
        <p:nvSpPr>
          <p:cNvPr id="19" name="Text 13"/>
          <p:cNvSpPr/>
          <p:nvPr/>
        </p:nvSpPr>
        <p:spPr>
          <a:xfrm>
            <a:off x="5797296" y="3630168"/>
            <a:ext cx="13258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Agent</a:t>
            </a:r>
            <a:endParaRPr lang="en-US" sz="1450" dirty="0"/>
          </a:p>
        </p:txBody>
      </p:sp>
      <p:sp>
        <p:nvSpPr>
          <p:cNvPr id="20" name="Text 14"/>
          <p:cNvSpPr/>
          <p:nvPr/>
        </p:nvSpPr>
        <p:spPr>
          <a:xfrm>
            <a:off x="5285232" y="4105656"/>
            <a:ext cx="1737360" cy="685800"/>
          </a:xfrm>
          <a:prstGeom prst="rect">
            <a:avLst/>
          </a:prstGeom>
          <a:noFill/>
          <a:ln/>
        </p:spPr>
        <p:txBody>
          <a:bodyPr wrap="square" lIns="0" tIns="0" rIns="0" bIns="0" rtlCol="0" anchor="ctr"/>
          <a:lstStyle/>
          <a:p>
            <a:pPr indent="0" marL="0">
              <a:buNone/>
            </a:pPr>
            <a:r>
              <a:rPr lang="en-US" sz="1050" dirty="0">
                <a:solidFill>
                  <a:srgbClr val="232A3E"/>
                </a:solidFill>
                <a:latin typeface="Calibri" pitchFamily="34" charset="0"/>
                <a:ea typeface="Calibri" pitchFamily="34" charset="-122"/>
                <a:cs typeface="Calibri" pitchFamily="34" charset="-120"/>
              </a:rPr>
              <a:t>Goal + tools — works alone</a:t>
            </a:r>
            <a:endParaRPr lang="en-US" sz="1050" dirty="0"/>
          </a:p>
        </p:txBody>
      </p:sp>
      <p:sp>
        <p:nvSpPr>
          <p:cNvPr id="21" name="Shape 15"/>
          <p:cNvSpPr/>
          <p:nvPr/>
        </p:nvSpPr>
        <p:spPr>
          <a:xfrm>
            <a:off x="7351776" y="2642616"/>
            <a:ext cx="2084832" cy="1481328"/>
          </a:xfrm>
          <a:prstGeom prst="roundRect">
            <a:avLst>
              <a:gd name="adj" fmla="val 5556"/>
            </a:avLst>
          </a:prstGeom>
          <a:solidFill>
            <a:srgbClr val="F5F8FC"/>
          </a:solidFill>
          <a:ln w="12700">
            <a:solidFill>
              <a:srgbClr val="E1E6F0"/>
            </a:solidFill>
            <a:prstDash val="solid"/>
          </a:ln>
        </p:spPr>
      </p:sp>
      <p:sp>
        <p:nvSpPr>
          <p:cNvPr id="22" name="Shape 16"/>
          <p:cNvSpPr/>
          <p:nvPr/>
        </p:nvSpPr>
        <p:spPr>
          <a:xfrm>
            <a:off x="7552944" y="2825496"/>
            <a:ext cx="420624" cy="420624"/>
          </a:xfrm>
          <a:prstGeom prst="ellipse">
            <a:avLst/>
          </a:prstGeom>
          <a:solidFill>
            <a:srgbClr val="35C1B1"/>
          </a:solidFill>
          <a:ln/>
        </p:spPr>
      </p:sp>
      <p:pic>
        <p:nvPicPr>
          <p:cNvPr id="23" name="Image 3" descr="icons/repeat.png">    </p:cNvPr>
          <p:cNvPicPr>
            <a:picLocks noChangeAspect="1"/>
          </p:cNvPicPr>
          <p:nvPr/>
        </p:nvPicPr>
        <p:blipFill>
          <a:blip r:embed="rId5"/>
          <a:stretch>
            <a:fillRect/>
          </a:stretch>
        </p:blipFill>
        <p:spPr>
          <a:xfrm>
            <a:off x="7658100" y="2930652"/>
            <a:ext cx="210312" cy="210312"/>
          </a:xfrm>
          <a:prstGeom prst="rect">
            <a:avLst/>
          </a:prstGeom>
        </p:spPr>
      </p:pic>
      <p:sp>
        <p:nvSpPr>
          <p:cNvPr id="24" name="Text 17"/>
          <p:cNvSpPr/>
          <p:nvPr/>
        </p:nvSpPr>
        <p:spPr>
          <a:xfrm>
            <a:off x="8065008" y="2880360"/>
            <a:ext cx="1325880"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Loop</a:t>
            </a:r>
            <a:endParaRPr lang="en-US" sz="1450" dirty="0"/>
          </a:p>
        </p:txBody>
      </p:sp>
      <p:sp>
        <p:nvSpPr>
          <p:cNvPr id="25" name="Text 18"/>
          <p:cNvSpPr/>
          <p:nvPr/>
        </p:nvSpPr>
        <p:spPr>
          <a:xfrm>
            <a:off x="7552944" y="3355848"/>
            <a:ext cx="1737360" cy="685800"/>
          </a:xfrm>
          <a:prstGeom prst="rect">
            <a:avLst/>
          </a:prstGeom>
          <a:noFill/>
          <a:ln/>
        </p:spPr>
        <p:txBody>
          <a:bodyPr wrap="square" lIns="0" tIns="0" rIns="0" bIns="0" rtlCol="0" anchor="ctr"/>
          <a:lstStyle/>
          <a:p>
            <a:pPr indent="0" marL="0">
              <a:buNone/>
            </a:pPr>
            <a:r>
              <a:rPr lang="en-US" sz="1050" dirty="0">
                <a:solidFill>
                  <a:srgbClr val="232A3E"/>
                </a:solidFill>
                <a:latin typeface="Calibri" pitchFamily="34" charset="0"/>
                <a:ea typeface="Calibri" pitchFamily="34" charset="-122"/>
                <a:cs typeface="Calibri" pitchFamily="34" charset="-120"/>
              </a:rPr>
              <a:t>Draft → critique → improve</a:t>
            </a:r>
            <a:endParaRPr lang="en-US" sz="1050" dirty="0"/>
          </a:p>
        </p:txBody>
      </p:sp>
      <p:sp>
        <p:nvSpPr>
          <p:cNvPr id="26" name="Shape 19"/>
          <p:cNvSpPr/>
          <p:nvPr/>
        </p:nvSpPr>
        <p:spPr>
          <a:xfrm>
            <a:off x="9619488" y="1892808"/>
            <a:ext cx="2084832" cy="1481328"/>
          </a:xfrm>
          <a:prstGeom prst="roundRect">
            <a:avLst>
              <a:gd name="adj" fmla="val 5556"/>
            </a:avLst>
          </a:prstGeom>
          <a:solidFill>
            <a:srgbClr val="151F4A"/>
          </a:solidFill>
          <a:ln/>
        </p:spPr>
      </p:sp>
      <p:sp>
        <p:nvSpPr>
          <p:cNvPr id="27" name="Shape 20"/>
          <p:cNvSpPr/>
          <p:nvPr/>
        </p:nvSpPr>
        <p:spPr>
          <a:xfrm>
            <a:off x="9820656" y="2075688"/>
            <a:ext cx="420624" cy="420624"/>
          </a:xfrm>
          <a:prstGeom prst="ellipse">
            <a:avLst/>
          </a:prstGeom>
          <a:solidFill>
            <a:srgbClr val="F0C93C"/>
          </a:solidFill>
          <a:ln/>
        </p:spPr>
      </p:sp>
      <p:pic>
        <p:nvPicPr>
          <p:cNvPr id="28" name="Image 4" descr="icons/sitemap.png">    </p:cNvPr>
          <p:cNvPicPr>
            <a:picLocks noChangeAspect="1"/>
          </p:cNvPicPr>
          <p:nvPr/>
        </p:nvPicPr>
        <p:blipFill>
          <a:blip r:embed="rId6"/>
          <a:stretch>
            <a:fillRect/>
          </a:stretch>
        </p:blipFill>
        <p:spPr>
          <a:xfrm>
            <a:off x="9925812" y="2180844"/>
            <a:ext cx="210312" cy="210312"/>
          </a:xfrm>
          <a:prstGeom prst="rect">
            <a:avLst/>
          </a:prstGeom>
        </p:spPr>
      </p:pic>
      <p:sp>
        <p:nvSpPr>
          <p:cNvPr id="29" name="Text 21"/>
          <p:cNvSpPr/>
          <p:nvPr/>
        </p:nvSpPr>
        <p:spPr>
          <a:xfrm>
            <a:off x="10332720" y="2130552"/>
            <a:ext cx="132588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Graph</a:t>
            </a:r>
            <a:endParaRPr lang="en-US" sz="1450" dirty="0"/>
          </a:p>
        </p:txBody>
      </p:sp>
      <p:sp>
        <p:nvSpPr>
          <p:cNvPr id="30" name="Text 22"/>
          <p:cNvSpPr/>
          <p:nvPr/>
        </p:nvSpPr>
        <p:spPr>
          <a:xfrm>
            <a:off x="9820656" y="2606040"/>
            <a:ext cx="1737360" cy="685800"/>
          </a:xfrm>
          <a:prstGeom prst="rect">
            <a:avLst/>
          </a:prstGeom>
          <a:noFill/>
          <a:ln/>
        </p:spPr>
        <p:txBody>
          <a:bodyPr wrap="square" lIns="0" tIns="0" rIns="0" bIns="0" rtlCol="0" anchor="ctr"/>
          <a:lstStyle/>
          <a:p>
            <a:pPr indent="0" marL="0">
              <a:buNone/>
            </a:pPr>
            <a:r>
              <a:rPr lang="en-US" sz="1050" dirty="0">
                <a:solidFill>
                  <a:srgbClr val="C9D4EE"/>
                </a:solidFill>
                <a:latin typeface="Calibri" pitchFamily="34" charset="0"/>
                <a:ea typeface="Calibri" pitchFamily="34" charset="-122"/>
                <a:cs typeface="Calibri" pitchFamily="34" charset="-120"/>
              </a:rPr>
              <a:t>A team of agents</a:t>
            </a:r>
            <a:endParaRPr lang="en-US" sz="1050" dirty="0"/>
          </a:p>
        </p:txBody>
      </p:sp>
      <p:sp>
        <p:nvSpPr>
          <p:cNvPr id="31" name="Text 23"/>
          <p:cNvSpPr/>
          <p:nvPr/>
        </p:nvSpPr>
        <p:spPr>
          <a:xfrm>
            <a:off x="9509760" y="1481328"/>
            <a:ext cx="2103120" cy="320040"/>
          </a:xfrm>
          <a:prstGeom prst="rect">
            <a:avLst/>
          </a:prstGeom>
          <a:noFill/>
          <a:ln/>
        </p:spPr>
        <p:txBody>
          <a:bodyPr wrap="square" lIns="0" tIns="0" rIns="0" bIns="0" rtlCol="0" anchor="ctr"/>
          <a:lstStyle/>
          <a:p>
            <a:pPr indent="0" marL="0">
              <a:buNone/>
            </a:pPr>
            <a:r>
              <a:rPr lang="en-US" sz="1300" b="1" i="1" dirty="0">
                <a:solidFill>
                  <a:srgbClr val="68708A"/>
                </a:solidFill>
                <a:latin typeface="Arial" pitchFamily="34" charset="0"/>
                <a:ea typeface="Arial" pitchFamily="34" charset="-122"/>
                <a:cs typeface="Arial" pitchFamily="34" charset="-120"/>
              </a:rPr>
              <a:t>More leverage  →</a:t>
            </a:r>
            <a:endParaRPr lang="en-US" sz="1300" dirty="0"/>
          </a:p>
        </p:txBody>
      </p:sp>
      <p:sp>
        <p:nvSpPr>
          <p:cNvPr id="32" name="Text 24"/>
          <p:cNvSpPr/>
          <p:nvPr/>
        </p:nvSpPr>
        <p:spPr>
          <a:xfrm>
            <a:off x="548640" y="1737360"/>
            <a:ext cx="4206240" cy="731520"/>
          </a:xfrm>
          <a:prstGeom prst="rect">
            <a:avLst/>
          </a:prstGeom>
          <a:noFill/>
          <a:ln/>
        </p:spPr>
        <p:txBody>
          <a:bodyPr wrap="square" lIns="0" tIns="0" rIns="0" bIns="0" rtlCol="0" anchor="ctr"/>
          <a:lstStyle/>
          <a:p>
            <a:pPr indent="0" marL="0">
              <a:buNone/>
            </a:pPr>
            <a:r>
              <a:rPr lang="en-US" sz="1400" i="1" dirty="0">
                <a:solidFill>
                  <a:srgbClr val="68708A"/>
                </a:solidFill>
                <a:latin typeface="Calibri" pitchFamily="34" charset="0"/>
                <a:ea typeface="Calibri" pitchFamily="34" charset="-122"/>
                <a:cs typeface="Calibri" pitchFamily="34" charset="-120"/>
              </a:rPr>
              <a:t>Each rung: less of your time</a:t>
            </a:r>
            <a:endParaRPr lang="en-US" sz="1400" dirty="0"/>
          </a:p>
          <a:p>
            <a:pPr indent="0" marL="0">
              <a:buNone/>
            </a:pPr>
            <a:r>
              <a:rPr lang="en-US" sz="1400" i="1" dirty="0">
                <a:solidFill>
                  <a:srgbClr val="68708A"/>
                </a:solidFill>
                <a:latin typeface="Calibri" pitchFamily="34" charset="0"/>
                <a:ea typeface="Calibri" pitchFamily="34" charset="-122"/>
                <a:cs typeface="Calibri" pitchFamily="34" charset="-120"/>
              </a:rPr>
              <a:t>per unit of output.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AGENTS, PLAINLY</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An agent = a goal + tools + permission to work</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645920"/>
            <a:ext cx="457200" cy="457200"/>
          </a:xfrm>
          <a:prstGeom prst="ellipse">
            <a:avLst/>
          </a:prstGeom>
          <a:solidFill>
            <a:srgbClr val="35C1B1"/>
          </a:solidFill>
          <a:ln/>
        </p:spPr>
      </p:sp>
      <p:pic>
        <p:nvPicPr>
          <p:cNvPr id="7" name="Image 0" descr="icons/bullseye.png">    </p:cNvPr>
          <p:cNvPicPr>
            <a:picLocks noChangeAspect="1"/>
          </p:cNvPicPr>
          <p:nvPr/>
        </p:nvPicPr>
        <p:blipFill>
          <a:blip r:embed="rId2"/>
          <a:stretch>
            <a:fillRect/>
          </a:stretch>
        </p:blipFill>
        <p:spPr>
          <a:xfrm>
            <a:off x="662940" y="1760220"/>
            <a:ext cx="228600" cy="228600"/>
          </a:xfrm>
          <a:prstGeom prst="rect">
            <a:avLst/>
          </a:prstGeom>
        </p:spPr>
      </p:pic>
      <p:sp>
        <p:nvSpPr>
          <p:cNvPr id="8" name="Text 4"/>
          <p:cNvSpPr/>
          <p:nvPr/>
        </p:nvSpPr>
        <p:spPr>
          <a:xfrm>
            <a:off x="1207008" y="1591056"/>
            <a:ext cx="537667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A goal</a:t>
            </a:r>
            <a:endParaRPr lang="en-US" sz="1450" dirty="0"/>
          </a:p>
        </p:txBody>
      </p:sp>
      <p:sp>
        <p:nvSpPr>
          <p:cNvPr id="9" name="Text 5"/>
          <p:cNvSpPr/>
          <p:nvPr/>
        </p:nvSpPr>
        <p:spPr>
          <a:xfrm>
            <a:off x="1207008" y="1883664"/>
            <a:ext cx="5376672" cy="50292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“Find 20 corporate event venues in Abuja and compare them.”</a:t>
            </a:r>
            <a:endParaRPr lang="en-US" sz="1200" dirty="0"/>
          </a:p>
        </p:txBody>
      </p:sp>
      <p:sp>
        <p:nvSpPr>
          <p:cNvPr id="10" name="Shape 6"/>
          <p:cNvSpPr/>
          <p:nvPr/>
        </p:nvSpPr>
        <p:spPr>
          <a:xfrm>
            <a:off x="548640" y="2697480"/>
            <a:ext cx="457200" cy="457200"/>
          </a:xfrm>
          <a:prstGeom prst="ellipse">
            <a:avLst/>
          </a:prstGeom>
          <a:solidFill>
            <a:srgbClr val="29A9E1"/>
          </a:solidFill>
          <a:ln/>
        </p:spPr>
      </p:sp>
      <p:pic>
        <p:nvPicPr>
          <p:cNvPr id="11" name="Image 1" descr="icons/gears.png">    </p:cNvPr>
          <p:cNvPicPr>
            <a:picLocks noChangeAspect="1"/>
          </p:cNvPicPr>
          <p:nvPr/>
        </p:nvPicPr>
        <p:blipFill>
          <a:blip r:embed="rId3"/>
          <a:stretch>
            <a:fillRect/>
          </a:stretch>
        </p:blipFill>
        <p:spPr>
          <a:xfrm>
            <a:off x="662940" y="2811780"/>
            <a:ext cx="228600" cy="228600"/>
          </a:xfrm>
          <a:prstGeom prst="rect">
            <a:avLst/>
          </a:prstGeom>
        </p:spPr>
      </p:pic>
      <p:sp>
        <p:nvSpPr>
          <p:cNvPr id="12" name="Text 7"/>
          <p:cNvSpPr/>
          <p:nvPr/>
        </p:nvSpPr>
        <p:spPr>
          <a:xfrm>
            <a:off x="1207008" y="2642616"/>
            <a:ext cx="537667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Tools</a:t>
            </a:r>
            <a:endParaRPr lang="en-US" sz="1450" dirty="0"/>
          </a:p>
        </p:txBody>
      </p:sp>
      <p:sp>
        <p:nvSpPr>
          <p:cNvPr id="13" name="Text 8"/>
          <p:cNvSpPr/>
          <p:nvPr/>
        </p:nvSpPr>
        <p:spPr>
          <a:xfrm>
            <a:off x="1207008" y="2935224"/>
            <a:ext cx="5376672" cy="50292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Web browsing, spreadsheets, email drafts, your files.</a:t>
            </a:r>
            <a:endParaRPr lang="en-US" sz="1200" dirty="0"/>
          </a:p>
        </p:txBody>
      </p:sp>
      <p:sp>
        <p:nvSpPr>
          <p:cNvPr id="14" name="Shape 9"/>
          <p:cNvSpPr/>
          <p:nvPr/>
        </p:nvSpPr>
        <p:spPr>
          <a:xfrm>
            <a:off x="548640" y="3749040"/>
            <a:ext cx="457200" cy="457200"/>
          </a:xfrm>
          <a:prstGeom prst="ellipse">
            <a:avLst/>
          </a:prstGeom>
          <a:solidFill>
            <a:srgbClr val="151F4A"/>
          </a:solidFill>
          <a:ln/>
        </p:spPr>
      </p:sp>
      <p:pic>
        <p:nvPicPr>
          <p:cNvPr id="15" name="Image 2" descr="icons/key.png">    </p:cNvPr>
          <p:cNvPicPr>
            <a:picLocks noChangeAspect="1"/>
          </p:cNvPicPr>
          <p:nvPr/>
        </p:nvPicPr>
        <p:blipFill>
          <a:blip r:embed="rId4"/>
          <a:stretch>
            <a:fillRect/>
          </a:stretch>
        </p:blipFill>
        <p:spPr>
          <a:xfrm>
            <a:off x="662940" y="3863340"/>
            <a:ext cx="228600" cy="228600"/>
          </a:xfrm>
          <a:prstGeom prst="rect">
            <a:avLst/>
          </a:prstGeom>
        </p:spPr>
      </p:pic>
      <p:sp>
        <p:nvSpPr>
          <p:cNvPr id="16" name="Text 10"/>
          <p:cNvSpPr/>
          <p:nvPr/>
        </p:nvSpPr>
        <p:spPr>
          <a:xfrm>
            <a:off x="1207008" y="3694176"/>
            <a:ext cx="5376672" cy="292608"/>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Permission</a:t>
            </a:r>
            <a:endParaRPr lang="en-US" sz="1450" dirty="0"/>
          </a:p>
        </p:txBody>
      </p:sp>
      <p:sp>
        <p:nvSpPr>
          <p:cNvPr id="17" name="Text 11"/>
          <p:cNvSpPr/>
          <p:nvPr/>
        </p:nvSpPr>
        <p:spPr>
          <a:xfrm>
            <a:off x="1207008" y="3986784"/>
            <a:ext cx="5376672" cy="50292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Clear boundaries: research freely — but I approve anything sent.</a:t>
            </a:r>
            <a:endParaRPr lang="en-US" sz="1200" dirty="0"/>
          </a:p>
        </p:txBody>
      </p:sp>
      <p:sp>
        <p:nvSpPr>
          <p:cNvPr id="18" name="Text 12"/>
          <p:cNvSpPr/>
          <p:nvPr/>
        </p:nvSpPr>
        <p:spPr>
          <a:xfrm>
            <a:off x="548640" y="4983480"/>
            <a:ext cx="5760720" cy="777240"/>
          </a:xfrm>
          <a:prstGeom prst="rect">
            <a:avLst/>
          </a:prstGeom>
          <a:noFill/>
          <a:ln/>
        </p:spPr>
        <p:txBody>
          <a:bodyPr wrap="square" lIns="0" tIns="0" rIns="0" bIns="0" rtlCol="0" anchor="ctr"/>
          <a:lstStyle/>
          <a:p>
            <a:pPr indent="0" marL="0">
              <a:buNone/>
            </a:pPr>
            <a:r>
              <a:rPr lang="en-US" sz="1500" i="1" dirty="0">
                <a:solidFill>
                  <a:srgbClr val="232A3E"/>
                </a:solidFill>
                <a:latin typeface="Calibri" pitchFamily="34" charset="0"/>
                <a:ea typeface="Calibri" pitchFamily="34" charset="-122"/>
                <a:cs typeface="Calibri" pitchFamily="34" charset="-120"/>
              </a:rPr>
              <a:t>You brief it like a junior staffer.</a:t>
            </a:r>
            <a:endParaRPr lang="en-US" sz="1500" dirty="0"/>
          </a:p>
          <a:p>
            <a:pPr indent="0" marL="0">
              <a:buNone/>
            </a:pPr>
            <a:r>
              <a:rPr lang="en-US" sz="1500" i="1" dirty="0">
                <a:solidFill>
                  <a:srgbClr val="232A3E"/>
                </a:solidFill>
                <a:latin typeface="Calibri" pitchFamily="34" charset="0"/>
                <a:ea typeface="Calibri" pitchFamily="34" charset="-122"/>
                <a:cs typeface="Calibri" pitchFamily="34" charset="-120"/>
              </a:rPr>
              <a:t>It reports back like one, too.</a:t>
            </a:r>
            <a:endParaRPr lang="en-US" sz="1500" dirty="0"/>
          </a:p>
        </p:txBody>
      </p:sp>
      <p:sp>
        <p:nvSpPr>
          <p:cNvPr id="19" name="Shape 13"/>
          <p:cNvSpPr/>
          <p:nvPr/>
        </p:nvSpPr>
        <p:spPr>
          <a:xfrm>
            <a:off x="6903720" y="1508760"/>
            <a:ext cx="4754880" cy="4480560"/>
          </a:xfrm>
          <a:prstGeom prst="roundRect">
            <a:avLst>
              <a:gd name="adj" fmla="val 1837"/>
            </a:avLst>
          </a:prstGeom>
          <a:solidFill>
            <a:srgbClr val="151F4A"/>
          </a:solidFill>
          <a:ln/>
        </p:spPr>
      </p:sp>
      <p:sp>
        <p:nvSpPr>
          <p:cNvPr id="20" name="Text 14"/>
          <p:cNvSpPr/>
          <p:nvPr/>
        </p:nvSpPr>
        <p:spPr>
          <a:xfrm>
            <a:off x="7223760" y="1783080"/>
            <a:ext cx="4114800" cy="274320"/>
          </a:xfrm>
          <a:prstGeom prst="rect">
            <a:avLst/>
          </a:prstGeom>
          <a:noFill/>
          <a:ln/>
        </p:spPr>
        <p:txBody>
          <a:bodyPr wrap="square" lIns="0" tIns="0" rIns="0" bIns="0" rtlCol="0" anchor="ctr"/>
          <a:lstStyle/>
          <a:p>
            <a:pPr indent="0" marL="0">
              <a:buNone/>
            </a:pPr>
            <a:r>
              <a:rPr lang="en-US" sz="1100" b="1" spc="200" kern="0" dirty="0">
                <a:solidFill>
                  <a:srgbClr val="F0C93C"/>
                </a:solidFill>
                <a:latin typeface="Arial" pitchFamily="34" charset="0"/>
                <a:ea typeface="Arial" pitchFamily="34" charset="-122"/>
                <a:cs typeface="Arial" pitchFamily="34" charset="-120"/>
              </a:rPr>
              <a:t>WHAT THAT LOOKS LIKE</a:t>
            </a:r>
            <a:endParaRPr lang="en-US" sz="1100" dirty="0"/>
          </a:p>
        </p:txBody>
      </p:sp>
      <p:sp>
        <p:nvSpPr>
          <p:cNvPr id="21" name="Text 15"/>
          <p:cNvSpPr/>
          <p:nvPr/>
        </p:nvSpPr>
        <p:spPr>
          <a:xfrm>
            <a:off x="7223760" y="2194560"/>
            <a:ext cx="4160520" cy="2651760"/>
          </a:xfrm>
          <a:prstGeom prst="rect">
            <a:avLst/>
          </a:prstGeom>
          <a:noFill/>
          <a:ln/>
        </p:spPr>
        <p:txBody>
          <a:bodyPr wrap="square" lIns="0" tIns="0" rIns="0" bIns="0" rtlCol="0" anchor="ctr"/>
          <a:lstStyle/>
          <a:p>
            <a:pPr marL="203200" indent="-2032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You (5 min): write the brief above</a:t>
            </a:r>
            <a:endParaRPr lang="en-US" sz="1350" dirty="0"/>
          </a:p>
          <a:p>
            <a:pPr marL="203200" indent="-2032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Agent (30 min): searches, calls up rates, builds the comparison sheet</a:t>
            </a:r>
            <a:endParaRPr lang="en-US" sz="1350" dirty="0"/>
          </a:p>
          <a:p>
            <a:pPr marL="203200" indent="-2032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Agent: drafts a personalized outreach email per venue</a:t>
            </a:r>
            <a:endParaRPr lang="en-US" sz="1350" dirty="0"/>
          </a:p>
          <a:p>
            <a:pPr marL="203200" indent="-203200">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You (10 min): review, tweak two lines, hit send</a:t>
            </a:r>
            <a:endParaRPr lang="en-US" sz="1350" dirty="0"/>
          </a:p>
        </p:txBody>
      </p:sp>
      <p:sp>
        <p:nvSpPr>
          <p:cNvPr id="22" name="Text 16"/>
          <p:cNvSpPr/>
          <p:nvPr/>
        </p:nvSpPr>
        <p:spPr>
          <a:xfrm>
            <a:off x="7223760" y="5212080"/>
            <a:ext cx="4114800" cy="457200"/>
          </a:xfrm>
          <a:prstGeom prst="rect">
            <a:avLst/>
          </a:prstGeom>
          <a:noFill/>
          <a:ln/>
        </p:spPr>
        <p:txBody>
          <a:bodyPr wrap="square" lIns="0" tIns="0" rIns="0" bIns="0" rtlCol="0" anchor="ctr"/>
          <a:lstStyle/>
          <a:p>
            <a:pPr indent="0" marL="0">
              <a:buNone/>
            </a:pPr>
            <a:r>
              <a:rPr lang="en-US" sz="1350" b="1" dirty="0">
                <a:solidFill>
                  <a:srgbClr val="F0C93C"/>
                </a:solidFill>
                <a:latin typeface="Arial" pitchFamily="34" charset="0"/>
                <a:ea typeface="Arial" pitchFamily="34" charset="-122"/>
                <a:cs typeface="Arial" pitchFamily="34" charset="-120"/>
              </a:rPr>
              <a:t>A day of admin → 15 minutes of judgment.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QUALITY &amp; SCALE</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Loops and graphs: your invisible team</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440680" cy="4526280"/>
          </a:xfrm>
          <a:prstGeom prst="roundRect">
            <a:avLst>
              <a:gd name="adj" fmla="val 1818"/>
            </a:avLst>
          </a:prstGeom>
          <a:solidFill>
            <a:srgbClr val="F5F8FC"/>
          </a:solidFill>
          <a:ln w="12700">
            <a:solidFill>
              <a:srgbClr val="E1E6F0"/>
            </a:solidFill>
            <a:prstDash val="solid"/>
          </a:ln>
        </p:spPr>
      </p:sp>
      <p:sp>
        <p:nvSpPr>
          <p:cNvPr id="7" name="Shape 4"/>
          <p:cNvSpPr/>
          <p:nvPr/>
        </p:nvSpPr>
        <p:spPr>
          <a:xfrm>
            <a:off x="868680" y="1737360"/>
            <a:ext cx="502920" cy="502920"/>
          </a:xfrm>
          <a:prstGeom prst="ellipse">
            <a:avLst/>
          </a:prstGeom>
          <a:solidFill>
            <a:srgbClr val="35C1B1"/>
          </a:solidFill>
          <a:ln/>
        </p:spPr>
      </p:sp>
      <p:pic>
        <p:nvPicPr>
          <p:cNvPr id="8" name="Image 0" descr="icons/repeat.png">    </p:cNvPr>
          <p:cNvPicPr>
            <a:picLocks noChangeAspect="1"/>
          </p:cNvPicPr>
          <p:nvPr/>
        </p:nvPicPr>
        <p:blipFill>
          <a:blip r:embed="rId2"/>
          <a:stretch>
            <a:fillRect/>
          </a:stretch>
        </p:blipFill>
        <p:spPr>
          <a:xfrm>
            <a:off x="994410" y="1863090"/>
            <a:ext cx="251460" cy="251460"/>
          </a:xfrm>
          <a:prstGeom prst="rect">
            <a:avLst/>
          </a:prstGeom>
        </p:spPr>
      </p:pic>
      <p:sp>
        <p:nvSpPr>
          <p:cNvPr id="9" name="Text 5"/>
          <p:cNvSpPr/>
          <p:nvPr/>
        </p:nvSpPr>
        <p:spPr>
          <a:xfrm>
            <a:off x="1508760" y="1819656"/>
            <a:ext cx="42062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The loop — quality control</a:t>
            </a:r>
            <a:endParaRPr lang="en-US" sz="1550" dirty="0"/>
          </a:p>
        </p:txBody>
      </p:sp>
      <p:sp>
        <p:nvSpPr>
          <p:cNvPr id="10" name="Text 6"/>
          <p:cNvSpPr/>
          <p:nvPr/>
        </p:nvSpPr>
        <p:spPr>
          <a:xfrm>
            <a:off x="868680" y="2377440"/>
            <a:ext cx="4846320" cy="2286000"/>
          </a:xfrm>
          <a:prstGeom prst="rect">
            <a:avLst/>
          </a:prstGeom>
          <a:noFill/>
          <a:ln/>
        </p:spPr>
        <p:txBody>
          <a:bodyPr wrap="square" lIns="0" tIns="0" rIns="0" bIns="0" rtlCol="0" anchor="ctr"/>
          <a:lstStyle/>
          <a:p>
            <a:pPr marL="177800" indent="-177800">
              <a:spcAft>
                <a:spcPts val="1000"/>
              </a:spcAft>
              <a:buSzPct val="100000"/>
              <a:buChar char="→"/>
            </a:pPr>
            <a:r>
              <a:rPr lang="en-US" sz="1300" dirty="0">
                <a:solidFill>
                  <a:srgbClr val="232A3E"/>
                </a:solidFill>
                <a:latin typeface="Calibri" pitchFamily="34" charset="0"/>
                <a:ea typeface="Calibri" pitchFamily="34" charset="-122"/>
                <a:cs typeface="Calibri" pitchFamily="34" charset="-120"/>
              </a:rPr>
              <a:t>Draft — the writer AI produces version 1</a:t>
            </a:r>
            <a:endParaRPr lang="en-US" sz="1300" dirty="0"/>
          </a:p>
          <a:p>
            <a:pPr marL="177800" indent="-177800">
              <a:spcAft>
                <a:spcPts val="1000"/>
              </a:spcAft>
              <a:buSzPct val="100000"/>
              <a:buChar char="→"/>
            </a:pPr>
            <a:r>
              <a:rPr lang="en-US" sz="1300" dirty="0">
                <a:solidFill>
                  <a:srgbClr val="232A3E"/>
                </a:solidFill>
                <a:latin typeface="Calibri" pitchFamily="34" charset="0"/>
                <a:ea typeface="Calibri" pitchFamily="34" charset="-122"/>
                <a:cs typeface="Calibri" pitchFamily="34" charset="-120"/>
              </a:rPr>
              <a:t>Critique — a critic AI scores it against YOUR checklist</a:t>
            </a:r>
            <a:endParaRPr lang="en-US" sz="1300" dirty="0"/>
          </a:p>
          <a:p>
            <a:pPr marL="177800" indent="-177800">
              <a:spcAft>
                <a:spcPts val="1000"/>
              </a:spcAft>
              <a:buSzPct val="100000"/>
              <a:buChar char="→"/>
            </a:pPr>
            <a:r>
              <a:rPr lang="en-US" sz="1300" dirty="0">
                <a:solidFill>
                  <a:srgbClr val="232A3E"/>
                </a:solidFill>
                <a:latin typeface="Calibri" pitchFamily="34" charset="0"/>
                <a:ea typeface="Calibri" pitchFamily="34" charset="-122"/>
                <a:cs typeface="Calibri" pitchFamily="34" charset="-120"/>
              </a:rPr>
              <a:t>Rewrite — fixes what failed</a:t>
            </a:r>
            <a:endParaRPr lang="en-US" sz="1300" dirty="0"/>
          </a:p>
          <a:p>
            <a:pPr marL="177800" indent="-177800">
              <a:spcAft>
                <a:spcPts val="1000"/>
              </a:spcAft>
              <a:buSzPct val="100000"/>
              <a:buChar char="→"/>
            </a:pPr>
            <a:r>
              <a:rPr lang="en-US" sz="1300" dirty="0">
                <a:solidFill>
                  <a:srgbClr val="232A3E"/>
                </a:solidFill>
                <a:latin typeface="Calibri" pitchFamily="34" charset="0"/>
                <a:ea typeface="Calibri" pitchFamily="34" charset="-122"/>
                <a:cs typeface="Calibri" pitchFamily="34" charset="-120"/>
              </a:rPr>
              <a:t>Repeat — until it passes, then it reaches you</a:t>
            </a:r>
            <a:endParaRPr lang="en-US" sz="1300" dirty="0"/>
          </a:p>
        </p:txBody>
      </p:sp>
      <p:sp>
        <p:nvSpPr>
          <p:cNvPr id="11" name="Text 7"/>
          <p:cNvSpPr/>
          <p:nvPr/>
        </p:nvSpPr>
        <p:spPr>
          <a:xfrm>
            <a:off x="868680" y="5212080"/>
            <a:ext cx="4754880" cy="365760"/>
          </a:xfrm>
          <a:prstGeom prst="rect">
            <a:avLst/>
          </a:prstGeom>
          <a:noFill/>
          <a:ln/>
        </p:spPr>
        <p:txBody>
          <a:bodyPr wrap="square" lIns="0" tIns="0" rIns="0" bIns="0" rtlCol="0" anchor="ctr"/>
          <a:lstStyle/>
          <a:p>
            <a:pPr indent="0" marL="0">
              <a:buNone/>
            </a:pPr>
            <a:r>
              <a:rPr lang="en-US" sz="1350" b="1" dirty="0">
                <a:solidFill>
                  <a:srgbClr val="35C1B1"/>
                </a:solidFill>
                <a:latin typeface="Arial" pitchFamily="34" charset="0"/>
                <a:ea typeface="Arial" pitchFamily="34" charset="-122"/>
                <a:cs typeface="Arial" pitchFamily="34" charset="-120"/>
              </a:rPr>
              <a:t>A free quality-control department.</a:t>
            </a:r>
            <a:endParaRPr lang="en-US" sz="1350" dirty="0"/>
          </a:p>
        </p:txBody>
      </p:sp>
      <p:sp>
        <p:nvSpPr>
          <p:cNvPr id="12" name="Shape 8"/>
          <p:cNvSpPr/>
          <p:nvPr/>
        </p:nvSpPr>
        <p:spPr>
          <a:xfrm>
            <a:off x="6217920" y="1463040"/>
            <a:ext cx="5440680" cy="4526280"/>
          </a:xfrm>
          <a:prstGeom prst="roundRect">
            <a:avLst>
              <a:gd name="adj" fmla="val 1818"/>
            </a:avLst>
          </a:prstGeom>
          <a:solidFill>
            <a:srgbClr val="F5F8FC"/>
          </a:solidFill>
          <a:ln w="12700">
            <a:solidFill>
              <a:srgbClr val="E1E6F0"/>
            </a:solidFill>
            <a:prstDash val="solid"/>
          </a:ln>
        </p:spPr>
      </p:sp>
      <p:sp>
        <p:nvSpPr>
          <p:cNvPr id="13" name="Shape 9"/>
          <p:cNvSpPr/>
          <p:nvPr/>
        </p:nvSpPr>
        <p:spPr>
          <a:xfrm>
            <a:off x="6537960" y="1737360"/>
            <a:ext cx="502920" cy="502920"/>
          </a:xfrm>
          <a:prstGeom prst="ellipse">
            <a:avLst/>
          </a:prstGeom>
          <a:solidFill>
            <a:srgbClr val="29A9E1"/>
          </a:solidFill>
          <a:ln/>
        </p:spPr>
      </p:sp>
      <p:pic>
        <p:nvPicPr>
          <p:cNvPr id="14" name="Image 1" descr="icons/sitemap.png">    </p:cNvPr>
          <p:cNvPicPr>
            <a:picLocks noChangeAspect="1"/>
          </p:cNvPicPr>
          <p:nvPr/>
        </p:nvPicPr>
        <p:blipFill>
          <a:blip r:embed="rId3"/>
          <a:stretch>
            <a:fillRect/>
          </a:stretch>
        </p:blipFill>
        <p:spPr>
          <a:xfrm>
            <a:off x="6663690" y="1863090"/>
            <a:ext cx="251460" cy="251460"/>
          </a:xfrm>
          <a:prstGeom prst="rect">
            <a:avLst/>
          </a:prstGeom>
        </p:spPr>
      </p:pic>
      <p:sp>
        <p:nvSpPr>
          <p:cNvPr id="15" name="Text 10"/>
          <p:cNvSpPr/>
          <p:nvPr/>
        </p:nvSpPr>
        <p:spPr>
          <a:xfrm>
            <a:off x="7178040" y="1819656"/>
            <a:ext cx="4206240" cy="320040"/>
          </a:xfrm>
          <a:prstGeom prst="rect">
            <a:avLst/>
          </a:prstGeom>
          <a:noFill/>
          <a:ln/>
        </p:spPr>
        <p:txBody>
          <a:bodyPr wrap="square" lIns="0" tIns="0" rIns="0" bIns="0" rtlCol="0" anchor="ctr"/>
          <a:lstStyle/>
          <a:p>
            <a:pPr indent="0" marL="0">
              <a:buNone/>
            </a:pPr>
            <a:r>
              <a:rPr lang="en-US" sz="1550" b="1" dirty="0">
                <a:solidFill>
                  <a:srgbClr val="151F4A"/>
                </a:solidFill>
                <a:latin typeface="Arial" pitchFamily="34" charset="0"/>
                <a:ea typeface="Arial" pitchFamily="34" charset="-122"/>
                <a:cs typeface="Arial" pitchFamily="34" charset="-120"/>
              </a:rPr>
              <a:t>The graph — division of labour</a:t>
            </a:r>
            <a:endParaRPr lang="en-US" sz="1550" dirty="0"/>
          </a:p>
        </p:txBody>
      </p:sp>
      <p:sp>
        <p:nvSpPr>
          <p:cNvPr id="16" name="Shape 11"/>
          <p:cNvSpPr/>
          <p:nvPr/>
        </p:nvSpPr>
        <p:spPr>
          <a:xfrm>
            <a:off x="6446520" y="2514600"/>
            <a:ext cx="1170432" cy="566928"/>
          </a:xfrm>
          <a:prstGeom prst="roundRect">
            <a:avLst>
              <a:gd name="adj" fmla="val 14516"/>
            </a:avLst>
          </a:prstGeom>
          <a:solidFill>
            <a:srgbClr val="EAF5FC"/>
          </a:solidFill>
          <a:ln/>
        </p:spPr>
      </p:sp>
      <p:sp>
        <p:nvSpPr>
          <p:cNvPr id="17" name="Text 12"/>
          <p:cNvSpPr/>
          <p:nvPr/>
        </p:nvSpPr>
        <p:spPr>
          <a:xfrm>
            <a:off x="6446520" y="2514600"/>
            <a:ext cx="1170432" cy="566928"/>
          </a:xfrm>
          <a:prstGeom prst="rect">
            <a:avLst/>
          </a:prstGeom>
          <a:noFill/>
          <a:ln/>
        </p:spPr>
        <p:txBody>
          <a:bodyPr wrap="square" lIns="0" tIns="0" rIns="0" bIns="0" rtlCol="0" anchor="ctr"/>
          <a:lstStyle/>
          <a:p>
            <a:pPr algn="ctr" indent="0" marL="0">
              <a:buNone/>
            </a:pPr>
            <a:r>
              <a:rPr lang="en-US" sz="1050" b="1" dirty="0">
                <a:solidFill>
                  <a:srgbClr val="151F4A"/>
                </a:solidFill>
                <a:latin typeface="Arial" pitchFamily="34" charset="0"/>
                <a:ea typeface="Arial" pitchFamily="34" charset="-122"/>
                <a:cs typeface="Arial" pitchFamily="34" charset="-120"/>
              </a:rPr>
              <a:t>Researcher</a:t>
            </a:r>
            <a:endParaRPr lang="en-US" sz="1050" dirty="0"/>
          </a:p>
        </p:txBody>
      </p:sp>
      <p:pic>
        <p:nvPicPr>
          <p:cNvPr id="18" name="Image 2" descr="icons/arrowRight.png">    </p:cNvPr>
          <p:cNvPicPr>
            <a:picLocks noChangeAspect="1"/>
          </p:cNvPicPr>
          <p:nvPr/>
        </p:nvPicPr>
        <p:blipFill>
          <a:blip r:embed="rId4">
            <a:alphaModFix amt="75000"/>
          </a:blip>
          <a:stretch>
            <a:fillRect/>
          </a:stretch>
        </p:blipFill>
        <p:spPr>
          <a:xfrm>
            <a:off x="7626096" y="2651760"/>
            <a:ext cx="128016" cy="128016"/>
          </a:xfrm>
          <a:prstGeom prst="rect">
            <a:avLst/>
          </a:prstGeom>
        </p:spPr>
      </p:pic>
      <p:sp>
        <p:nvSpPr>
          <p:cNvPr id="19" name="Shape 13"/>
          <p:cNvSpPr/>
          <p:nvPr/>
        </p:nvSpPr>
        <p:spPr>
          <a:xfrm>
            <a:off x="7744968" y="2514600"/>
            <a:ext cx="1170432" cy="566928"/>
          </a:xfrm>
          <a:prstGeom prst="roundRect">
            <a:avLst>
              <a:gd name="adj" fmla="val 14516"/>
            </a:avLst>
          </a:prstGeom>
          <a:solidFill>
            <a:srgbClr val="EAF5FC"/>
          </a:solidFill>
          <a:ln/>
        </p:spPr>
      </p:sp>
      <p:sp>
        <p:nvSpPr>
          <p:cNvPr id="20" name="Text 14"/>
          <p:cNvSpPr/>
          <p:nvPr/>
        </p:nvSpPr>
        <p:spPr>
          <a:xfrm>
            <a:off x="7744968" y="2514600"/>
            <a:ext cx="1170432" cy="566928"/>
          </a:xfrm>
          <a:prstGeom prst="rect">
            <a:avLst/>
          </a:prstGeom>
          <a:noFill/>
          <a:ln/>
        </p:spPr>
        <p:txBody>
          <a:bodyPr wrap="square" lIns="0" tIns="0" rIns="0" bIns="0" rtlCol="0" anchor="ctr"/>
          <a:lstStyle/>
          <a:p>
            <a:pPr algn="ctr" indent="0" marL="0">
              <a:buNone/>
            </a:pPr>
            <a:r>
              <a:rPr lang="en-US" sz="1050" b="1" dirty="0">
                <a:solidFill>
                  <a:srgbClr val="151F4A"/>
                </a:solidFill>
                <a:latin typeface="Arial" pitchFamily="34" charset="0"/>
                <a:ea typeface="Arial" pitchFamily="34" charset="-122"/>
                <a:cs typeface="Arial" pitchFamily="34" charset="-120"/>
              </a:rPr>
              <a:t>Writer</a:t>
            </a:r>
            <a:endParaRPr lang="en-US" sz="1050" dirty="0"/>
          </a:p>
        </p:txBody>
      </p:sp>
      <p:pic>
        <p:nvPicPr>
          <p:cNvPr id="21" name="Image 3" descr="icons/arrowRight.png">    </p:cNvPr>
          <p:cNvPicPr>
            <a:picLocks noChangeAspect="1"/>
          </p:cNvPicPr>
          <p:nvPr/>
        </p:nvPicPr>
        <p:blipFill>
          <a:blip r:embed="rId5">
            <a:alphaModFix amt="75000"/>
          </a:blip>
          <a:stretch>
            <a:fillRect/>
          </a:stretch>
        </p:blipFill>
        <p:spPr>
          <a:xfrm>
            <a:off x="8924544" y="2651760"/>
            <a:ext cx="128016" cy="128016"/>
          </a:xfrm>
          <a:prstGeom prst="rect">
            <a:avLst/>
          </a:prstGeom>
        </p:spPr>
      </p:pic>
      <p:sp>
        <p:nvSpPr>
          <p:cNvPr id="22" name="Shape 15"/>
          <p:cNvSpPr/>
          <p:nvPr/>
        </p:nvSpPr>
        <p:spPr>
          <a:xfrm>
            <a:off x="9043416" y="2514600"/>
            <a:ext cx="1170432" cy="566928"/>
          </a:xfrm>
          <a:prstGeom prst="roundRect">
            <a:avLst>
              <a:gd name="adj" fmla="val 14516"/>
            </a:avLst>
          </a:prstGeom>
          <a:solidFill>
            <a:srgbClr val="EAF5FC"/>
          </a:solidFill>
          <a:ln/>
        </p:spPr>
      </p:sp>
      <p:sp>
        <p:nvSpPr>
          <p:cNvPr id="23" name="Text 16"/>
          <p:cNvSpPr/>
          <p:nvPr/>
        </p:nvSpPr>
        <p:spPr>
          <a:xfrm>
            <a:off x="9043416" y="2514600"/>
            <a:ext cx="1170432" cy="566928"/>
          </a:xfrm>
          <a:prstGeom prst="rect">
            <a:avLst/>
          </a:prstGeom>
          <a:noFill/>
          <a:ln/>
        </p:spPr>
        <p:txBody>
          <a:bodyPr wrap="square" lIns="0" tIns="0" rIns="0" bIns="0" rtlCol="0" anchor="ctr"/>
          <a:lstStyle/>
          <a:p>
            <a:pPr algn="ctr" indent="0" marL="0">
              <a:buNone/>
            </a:pPr>
            <a:r>
              <a:rPr lang="en-US" sz="1050" b="1" dirty="0">
                <a:solidFill>
                  <a:srgbClr val="151F4A"/>
                </a:solidFill>
                <a:latin typeface="Arial" pitchFamily="34" charset="0"/>
                <a:ea typeface="Arial" pitchFamily="34" charset="-122"/>
                <a:cs typeface="Arial" pitchFamily="34" charset="-120"/>
              </a:rPr>
              <a:t>Fact-checker</a:t>
            </a:r>
            <a:endParaRPr lang="en-US" sz="1050" dirty="0"/>
          </a:p>
        </p:txBody>
      </p:sp>
      <p:pic>
        <p:nvPicPr>
          <p:cNvPr id="24" name="Image 4" descr="icons/arrowRight.png">    </p:cNvPr>
          <p:cNvPicPr>
            <a:picLocks noChangeAspect="1"/>
          </p:cNvPicPr>
          <p:nvPr/>
        </p:nvPicPr>
        <p:blipFill>
          <a:blip r:embed="rId6">
            <a:alphaModFix amt="75000"/>
          </a:blip>
          <a:stretch>
            <a:fillRect/>
          </a:stretch>
        </p:blipFill>
        <p:spPr>
          <a:xfrm>
            <a:off x="10222992" y="2651760"/>
            <a:ext cx="128016" cy="128016"/>
          </a:xfrm>
          <a:prstGeom prst="rect">
            <a:avLst/>
          </a:prstGeom>
        </p:spPr>
      </p:pic>
      <p:sp>
        <p:nvSpPr>
          <p:cNvPr id="25" name="Shape 17"/>
          <p:cNvSpPr/>
          <p:nvPr/>
        </p:nvSpPr>
        <p:spPr>
          <a:xfrm>
            <a:off x="10341864" y="2514600"/>
            <a:ext cx="1170432" cy="566928"/>
          </a:xfrm>
          <a:prstGeom prst="roundRect">
            <a:avLst>
              <a:gd name="adj" fmla="val 14516"/>
            </a:avLst>
          </a:prstGeom>
          <a:solidFill>
            <a:srgbClr val="EAF5FC"/>
          </a:solidFill>
          <a:ln/>
        </p:spPr>
      </p:sp>
      <p:sp>
        <p:nvSpPr>
          <p:cNvPr id="26" name="Text 18"/>
          <p:cNvSpPr/>
          <p:nvPr/>
        </p:nvSpPr>
        <p:spPr>
          <a:xfrm>
            <a:off x="10341864" y="2514600"/>
            <a:ext cx="1170432" cy="566928"/>
          </a:xfrm>
          <a:prstGeom prst="rect">
            <a:avLst/>
          </a:prstGeom>
          <a:noFill/>
          <a:ln/>
        </p:spPr>
        <p:txBody>
          <a:bodyPr wrap="square" lIns="0" tIns="0" rIns="0" bIns="0" rtlCol="0" anchor="ctr"/>
          <a:lstStyle/>
          <a:p>
            <a:pPr algn="ctr" indent="0" marL="0">
              <a:buNone/>
            </a:pPr>
            <a:r>
              <a:rPr lang="en-US" sz="1050" b="1" dirty="0">
                <a:solidFill>
                  <a:srgbClr val="151F4A"/>
                </a:solidFill>
                <a:latin typeface="Arial" pitchFamily="34" charset="0"/>
                <a:ea typeface="Arial" pitchFamily="34" charset="-122"/>
                <a:cs typeface="Arial" pitchFamily="34" charset="-120"/>
              </a:rPr>
              <a:t>Designer</a:t>
            </a:r>
            <a:endParaRPr lang="en-US" sz="1050" dirty="0"/>
          </a:p>
        </p:txBody>
      </p:sp>
      <p:sp>
        <p:nvSpPr>
          <p:cNvPr id="27" name="Text 19"/>
          <p:cNvSpPr/>
          <p:nvPr/>
        </p:nvSpPr>
        <p:spPr>
          <a:xfrm>
            <a:off x="6537960" y="3429000"/>
            <a:ext cx="4846320" cy="1005840"/>
          </a:xfrm>
          <a:prstGeom prst="rect">
            <a:avLst/>
          </a:prstGeom>
          <a:noFill/>
          <a:ln/>
        </p:spPr>
        <p:txBody>
          <a:bodyPr wrap="square" lIns="0" tIns="0" rIns="0" bIns="0" rtlCol="0" anchor="ctr"/>
          <a:lstStyle/>
          <a:p>
            <a:pPr indent="0" marL="0">
              <a:buNone/>
            </a:pPr>
            <a:r>
              <a:rPr lang="en-US" sz="1300" dirty="0">
                <a:solidFill>
                  <a:srgbClr val="232A3E"/>
                </a:solidFill>
                <a:latin typeface="Calibri" pitchFamily="34" charset="0"/>
                <a:ea typeface="Calibri" pitchFamily="34" charset="-122"/>
                <a:cs typeface="Calibri" pitchFamily="34" charset="-120"/>
              </a:rPr>
              <a:t>Each agent owns one step and hands off to the next — an org chart made of AI workers, with you as the final approver.</a:t>
            </a:r>
            <a:endParaRPr lang="en-US" sz="1300" dirty="0"/>
          </a:p>
        </p:txBody>
      </p:sp>
      <p:sp>
        <p:nvSpPr>
          <p:cNvPr id="28" name="Text 20"/>
          <p:cNvSpPr/>
          <p:nvPr/>
        </p:nvSpPr>
        <p:spPr>
          <a:xfrm>
            <a:off x="6537960" y="5212080"/>
            <a:ext cx="4754880" cy="365760"/>
          </a:xfrm>
          <a:prstGeom prst="rect">
            <a:avLst/>
          </a:prstGeom>
          <a:noFill/>
          <a:ln/>
        </p:spPr>
        <p:txBody>
          <a:bodyPr wrap="square" lIns="0" tIns="0" rIns="0" bIns="0" rtlCol="0" anchor="ctr"/>
          <a:lstStyle/>
          <a:p>
            <a:pPr indent="0" marL="0">
              <a:buNone/>
            </a:pPr>
            <a:r>
              <a:rPr lang="en-US" sz="1350" b="1" dirty="0">
                <a:solidFill>
                  <a:srgbClr val="29A9E1"/>
                </a:solidFill>
                <a:latin typeface="Arial" pitchFamily="34" charset="0"/>
                <a:ea typeface="Arial" pitchFamily="34" charset="-122"/>
                <a:cs typeface="Arial" pitchFamily="34" charset="-120"/>
              </a:rPr>
              <a:t>One person, operating like a firm.</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CONNECT</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Plugins, skills &amp; MCP: AI inside your tools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11109960" cy="2286000"/>
          </a:xfrm>
          <a:prstGeom prst="roundRect">
            <a:avLst>
              <a:gd name="adj" fmla="val 3600"/>
            </a:avLst>
          </a:prstGeom>
          <a:solidFill>
            <a:srgbClr val="151F4A"/>
          </a:solidFill>
          <a:ln/>
        </p:spPr>
      </p:sp>
      <p:sp>
        <p:nvSpPr>
          <p:cNvPr id="7" name="Shape 4"/>
          <p:cNvSpPr/>
          <p:nvPr/>
        </p:nvSpPr>
        <p:spPr>
          <a:xfrm>
            <a:off x="868680" y="1755648"/>
            <a:ext cx="548640" cy="548640"/>
          </a:xfrm>
          <a:prstGeom prst="ellipse">
            <a:avLst/>
          </a:prstGeom>
          <a:solidFill>
            <a:srgbClr val="35C1B1"/>
          </a:solidFill>
          <a:ln/>
        </p:spPr>
      </p:sp>
      <p:pic>
        <p:nvPicPr>
          <p:cNvPr id="8" name="Image 0" descr="icons/plug.png">    </p:cNvPr>
          <p:cNvPicPr>
            <a:picLocks noChangeAspect="1"/>
          </p:cNvPicPr>
          <p:nvPr/>
        </p:nvPicPr>
        <p:blipFill>
          <a:blip r:embed="rId2"/>
          <a:stretch>
            <a:fillRect/>
          </a:stretch>
        </p:blipFill>
        <p:spPr>
          <a:xfrm>
            <a:off x="1005840" y="1892808"/>
            <a:ext cx="274320" cy="274320"/>
          </a:xfrm>
          <a:prstGeom prst="rect">
            <a:avLst/>
          </a:prstGeom>
        </p:spPr>
      </p:pic>
      <p:sp>
        <p:nvSpPr>
          <p:cNvPr id="9" name="Text 5"/>
          <p:cNvSpPr/>
          <p:nvPr/>
        </p:nvSpPr>
        <p:spPr>
          <a:xfrm>
            <a:off x="1600200" y="1691640"/>
            <a:ext cx="9784080" cy="777240"/>
          </a:xfrm>
          <a:prstGeom prst="rect">
            <a:avLst/>
          </a:prstGeom>
          <a:noFill/>
          <a:ln/>
        </p:spPr>
        <p:txBody>
          <a:bodyPr wrap="square" lIns="0" tIns="0" rIns="0" bIns="0" rtlCol="0" anchor="ctr"/>
          <a:lstStyle/>
          <a:p>
            <a:pPr indent="0" marL="0">
              <a:buNone/>
            </a:pPr>
            <a:r>
              <a:rPr lang="en-US" sz="1450" b="1" dirty="0">
                <a:solidFill>
                  <a:srgbClr val="F0C93C"/>
                </a:solidFill>
                <a:latin typeface="Calibri" pitchFamily="34" charset="0"/>
                <a:ea typeface="Calibri" pitchFamily="34" charset="-122"/>
                <a:cs typeface="Calibri" pitchFamily="34" charset="-120"/>
              </a:rPr>
              <a:t>MCP — the “USB-C of AI”. </a:t>
            </a:r>
            <a:pPr indent="0" marL="0">
              <a:buNone/>
            </a:pPr>
            <a:r>
              <a:rPr lang="en-US" sz="1450" dirty="0">
                <a:solidFill>
                  <a:srgbClr val="FFFFFF"/>
                </a:solidFill>
                <a:latin typeface="Calibri" pitchFamily="34" charset="0"/>
                <a:ea typeface="Calibri" pitchFamily="34" charset="-122"/>
                <a:cs typeface="Calibri" pitchFamily="34" charset="-120"/>
              </a:rPr>
              <a:t>One open standard that plugs any AI assistant into your business tools. Created by Anthropic, now adopted across the industry.</a:t>
            </a:r>
            <a:endParaRPr lang="en-US" sz="1450" dirty="0"/>
          </a:p>
        </p:txBody>
      </p:sp>
      <p:sp>
        <p:nvSpPr>
          <p:cNvPr id="10" name="Shape 6"/>
          <p:cNvSpPr/>
          <p:nvPr/>
        </p:nvSpPr>
        <p:spPr>
          <a:xfrm>
            <a:off x="896112" y="3063240"/>
            <a:ext cx="1225296" cy="274320"/>
          </a:xfrm>
          <a:prstGeom prst="roundRect">
            <a:avLst>
              <a:gd name="adj" fmla="val 50000"/>
            </a:avLst>
          </a:prstGeom>
          <a:solidFill>
            <a:srgbClr val="27336E"/>
          </a:solidFill>
          <a:ln/>
        </p:spPr>
      </p:sp>
      <p:sp>
        <p:nvSpPr>
          <p:cNvPr id="11" name="Text 7"/>
          <p:cNvSpPr/>
          <p:nvPr/>
        </p:nvSpPr>
        <p:spPr>
          <a:xfrm>
            <a:off x="896112"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Gmail</a:t>
            </a:r>
            <a:endParaRPr lang="en-US" sz="1050" dirty="0"/>
          </a:p>
        </p:txBody>
      </p:sp>
      <p:sp>
        <p:nvSpPr>
          <p:cNvPr id="12" name="Shape 8"/>
          <p:cNvSpPr/>
          <p:nvPr/>
        </p:nvSpPr>
        <p:spPr>
          <a:xfrm>
            <a:off x="2231136" y="3063240"/>
            <a:ext cx="1225296" cy="274320"/>
          </a:xfrm>
          <a:prstGeom prst="roundRect">
            <a:avLst>
              <a:gd name="adj" fmla="val 50000"/>
            </a:avLst>
          </a:prstGeom>
          <a:solidFill>
            <a:srgbClr val="27336E"/>
          </a:solidFill>
          <a:ln/>
        </p:spPr>
      </p:sp>
      <p:sp>
        <p:nvSpPr>
          <p:cNvPr id="13" name="Text 9"/>
          <p:cNvSpPr/>
          <p:nvPr/>
        </p:nvSpPr>
        <p:spPr>
          <a:xfrm>
            <a:off x="2231136"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Google Drive</a:t>
            </a:r>
            <a:endParaRPr lang="en-US" sz="1050" dirty="0"/>
          </a:p>
        </p:txBody>
      </p:sp>
      <p:sp>
        <p:nvSpPr>
          <p:cNvPr id="14" name="Shape 10"/>
          <p:cNvSpPr/>
          <p:nvPr/>
        </p:nvSpPr>
        <p:spPr>
          <a:xfrm>
            <a:off x="3566160" y="3063240"/>
            <a:ext cx="1225296" cy="274320"/>
          </a:xfrm>
          <a:prstGeom prst="roundRect">
            <a:avLst>
              <a:gd name="adj" fmla="val 50000"/>
            </a:avLst>
          </a:prstGeom>
          <a:solidFill>
            <a:srgbClr val="27336E"/>
          </a:solidFill>
          <a:ln/>
        </p:spPr>
      </p:sp>
      <p:sp>
        <p:nvSpPr>
          <p:cNvPr id="15" name="Text 11"/>
          <p:cNvSpPr/>
          <p:nvPr/>
        </p:nvSpPr>
        <p:spPr>
          <a:xfrm>
            <a:off x="3566160"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Slack</a:t>
            </a:r>
            <a:endParaRPr lang="en-US" sz="1050" dirty="0"/>
          </a:p>
        </p:txBody>
      </p:sp>
      <p:sp>
        <p:nvSpPr>
          <p:cNvPr id="16" name="Shape 12"/>
          <p:cNvSpPr/>
          <p:nvPr/>
        </p:nvSpPr>
        <p:spPr>
          <a:xfrm>
            <a:off x="4901184" y="3063240"/>
            <a:ext cx="1225296" cy="274320"/>
          </a:xfrm>
          <a:prstGeom prst="roundRect">
            <a:avLst>
              <a:gd name="adj" fmla="val 50000"/>
            </a:avLst>
          </a:prstGeom>
          <a:solidFill>
            <a:srgbClr val="27336E"/>
          </a:solidFill>
          <a:ln/>
        </p:spPr>
      </p:sp>
      <p:sp>
        <p:nvSpPr>
          <p:cNvPr id="17" name="Text 13"/>
          <p:cNvSpPr/>
          <p:nvPr/>
        </p:nvSpPr>
        <p:spPr>
          <a:xfrm>
            <a:off x="4901184"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Notion</a:t>
            </a:r>
            <a:endParaRPr lang="en-US" sz="1050" dirty="0"/>
          </a:p>
        </p:txBody>
      </p:sp>
      <p:sp>
        <p:nvSpPr>
          <p:cNvPr id="18" name="Shape 14"/>
          <p:cNvSpPr/>
          <p:nvPr/>
        </p:nvSpPr>
        <p:spPr>
          <a:xfrm>
            <a:off x="6236208" y="3063240"/>
            <a:ext cx="1225296" cy="274320"/>
          </a:xfrm>
          <a:prstGeom prst="roundRect">
            <a:avLst>
              <a:gd name="adj" fmla="val 50000"/>
            </a:avLst>
          </a:prstGeom>
          <a:solidFill>
            <a:srgbClr val="27336E"/>
          </a:solidFill>
          <a:ln/>
        </p:spPr>
      </p:sp>
      <p:sp>
        <p:nvSpPr>
          <p:cNvPr id="19" name="Text 15"/>
          <p:cNvSpPr/>
          <p:nvPr/>
        </p:nvSpPr>
        <p:spPr>
          <a:xfrm>
            <a:off x="6236208"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GitHub</a:t>
            </a:r>
            <a:endParaRPr lang="en-US" sz="1050" dirty="0"/>
          </a:p>
        </p:txBody>
      </p:sp>
      <p:sp>
        <p:nvSpPr>
          <p:cNvPr id="20" name="Shape 16"/>
          <p:cNvSpPr/>
          <p:nvPr/>
        </p:nvSpPr>
        <p:spPr>
          <a:xfrm>
            <a:off x="7571232" y="3063240"/>
            <a:ext cx="1225296" cy="274320"/>
          </a:xfrm>
          <a:prstGeom prst="roundRect">
            <a:avLst>
              <a:gd name="adj" fmla="val 50000"/>
            </a:avLst>
          </a:prstGeom>
          <a:solidFill>
            <a:srgbClr val="27336E"/>
          </a:solidFill>
          <a:ln/>
        </p:spPr>
      </p:sp>
      <p:sp>
        <p:nvSpPr>
          <p:cNvPr id="21" name="Text 17"/>
          <p:cNvSpPr/>
          <p:nvPr/>
        </p:nvSpPr>
        <p:spPr>
          <a:xfrm>
            <a:off x="7571232"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Stripe</a:t>
            </a:r>
            <a:endParaRPr lang="en-US" sz="1050" dirty="0"/>
          </a:p>
        </p:txBody>
      </p:sp>
      <p:sp>
        <p:nvSpPr>
          <p:cNvPr id="22" name="Shape 18"/>
          <p:cNvSpPr/>
          <p:nvPr/>
        </p:nvSpPr>
        <p:spPr>
          <a:xfrm>
            <a:off x="8906256" y="3063240"/>
            <a:ext cx="1225296" cy="274320"/>
          </a:xfrm>
          <a:prstGeom prst="roundRect">
            <a:avLst>
              <a:gd name="adj" fmla="val 50000"/>
            </a:avLst>
          </a:prstGeom>
          <a:solidFill>
            <a:srgbClr val="27336E"/>
          </a:solidFill>
          <a:ln/>
        </p:spPr>
      </p:sp>
      <p:sp>
        <p:nvSpPr>
          <p:cNvPr id="23" name="Text 19"/>
          <p:cNvSpPr/>
          <p:nvPr/>
        </p:nvSpPr>
        <p:spPr>
          <a:xfrm>
            <a:off x="8906256"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HubSpot</a:t>
            </a:r>
            <a:endParaRPr lang="en-US" sz="1050" dirty="0"/>
          </a:p>
        </p:txBody>
      </p:sp>
      <p:sp>
        <p:nvSpPr>
          <p:cNvPr id="24" name="Shape 20"/>
          <p:cNvSpPr/>
          <p:nvPr/>
        </p:nvSpPr>
        <p:spPr>
          <a:xfrm>
            <a:off x="10241280" y="3063240"/>
            <a:ext cx="1225296" cy="274320"/>
          </a:xfrm>
          <a:prstGeom prst="roundRect">
            <a:avLst>
              <a:gd name="adj" fmla="val 50000"/>
            </a:avLst>
          </a:prstGeom>
          <a:solidFill>
            <a:srgbClr val="27336E"/>
          </a:solidFill>
          <a:ln/>
        </p:spPr>
      </p:sp>
      <p:sp>
        <p:nvSpPr>
          <p:cNvPr id="25" name="Text 21"/>
          <p:cNvSpPr/>
          <p:nvPr/>
        </p:nvSpPr>
        <p:spPr>
          <a:xfrm>
            <a:off x="10241280" y="3067812"/>
            <a:ext cx="1225296" cy="2651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Shopify</a:t>
            </a:r>
            <a:endParaRPr lang="en-US" sz="1050" dirty="0"/>
          </a:p>
        </p:txBody>
      </p:sp>
      <p:sp>
        <p:nvSpPr>
          <p:cNvPr id="26" name="Shape 22"/>
          <p:cNvSpPr/>
          <p:nvPr/>
        </p:nvSpPr>
        <p:spPr>
          <a:xfrm>
            <a:off x="548640" y="4114800"/>
            <a:ext cx="5440680" cy="1874520"/>
          </a:xfrm>
          <a:prstGeom prst="roundRect">
            <a:avLst>
              <a:gd name="adj" fmla="val 4390"/>
            </a:avLst>
          </a:prstGeom>
          <a:solidFill>
            <a:srgbClr val="F5F8FC"/>
          </a:solidFill>
          <a:ln w="12700">
            <a:solidFill>
              <a:srgbClr val="E1E6F0"/>
            </a:solidFill>
            <a:prstDash val="solid"/>
          </a:ln>
        </p:spPr>
      </p:sp>
      <p:sp>
        <p:nvSpPr>
          <p:cNvPr id="27" name="Shape 23"/>
          <p:cNvSpPr/>
          <p:nvPr/>
        </p:nvSpPr>
        <p:spPr>
          <a:xfrm>
            <a:off x="822960" y="4370832"/>
            <a:ext cx="457200" cy="457200"/>
          </a:xfrm>
          <a:prstGeom prst="ellipse">
            <a:avLst/>
          </a:prstGeom>
          <a:solidFill>
            <a:srgbClr val="35C1B1"/>
          </a:solidFill>
          <a:ln/>
        </p:spPr>
      </p:sp>
      <p:pic>
        <p:nvPicPr>
          <p:cNvPr id="28" name="Image 1" descr="icons/puzzle.png">    </p:cNvPr>
          <p:cNvPicPr>
            <a:picLocks noChangeAspect="1"/>
          </p:cNvPicPr>
          <p:nvPr/>
        </p:nvPicPr>
        <p:blipFill>
          <a:blip r:embed="rId3"/>
          <a:stretch>
            <a:fillRect/>
          </a:stretch>
        </p:blipFill>
        <p:spPr>
          <a:xfrm>
            <a:off x="937260" y="4485132"/>
            <a:ext cx="228600" cy="228600"/>
          </a:xfrm>
          <a:prstGeom prst="rect">
            <a:avLst/>
          </a:prstGeom>
        </p:spPr>
      </p:pic>
      <p:sp>
        <p:nvSpPr>
          <p:cNvPr id="29" name="Text 24"/>
          <p:cNvSpPr/>
          <p:nvPr/>
        </p:nvSpPr>
        <p:spPr>
          <a:xfrm>
            <a:off x="1417320" y="4434840"/>
            <a:ext cx="438912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Claude Skills &amp; plugins</a:t>
            </a:r>
            <a:endParaRPr lang="en-US" sz="1450" dirty="0"/>
          </a:p>
        </p:txBody>
      </p:sp>
      <p:sp>
        <p:nvSpPr>
          <p:cNvPr id="30" name="Text 25"/>
          <p:cNvSpPr/>
          <p:nvPr/>
        </p:nvSpPr>
        <p:spPr>
          <a:xfrm>
            <a:off x="822960" y="4983480"/>
            <a:ext cx="4892040" cy="86868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Teach it your repeatable jobs — branded decks, weekly reports, invoice formats — once. It does them your way, forever.</a:t>
            </a:r>
            <a:endParaRPr lang="en-US" sz="1250" dirty="0"/>
          </a:p>
        </p:txBody>
      </p:sp>
      <p:sp>
        <p:nvSpPr>
          <p:cNvPr id="31" name="Shape 26"/>
          <p:cNvSpPr/>
          <p:nvPr/>
        </p:nvSpPr>
        <p:spPr>
          <a:xfrm>
            <a:off x="6217920" y="4114800"/>
            <a:ext cx="5440680" cy="1874520"/>
          </a:xfrm>
          <a:prstGeom prst="roundRect">
            <a:avLst>
              <a:gd name="adj" fmla="val 4390"/>
            </a:avLst>
          </a:prstGeom>
          <a:solidFill>
            <a:srgbClr val="F5F8FC"/>
          </a:solidFill>
          <a:ln w="12700">
            <a:solidFill>
              <a:srgbClr val="E1E6F0"/>
            </a:solidFill>
            <a:prstDash val="solid"/>
          </a:ln>
        </p:spPr>
      </p:sp>
      <p:sp>
        <p:nvSpPr>
          <p:cNvPr id="32" name="Shape 27"/>
          <p:cNvSpPr/>
          <p:nvPr/>
        </p:nvSpPr>
        <p:spPr>
          <a:xfrm>
            <a:off x="6492240" y="4370832"/>
            <a:ext cx="457200" cy="457200"/>
          </a:xfrm>
          <a:prstGeom prst="ellipse">
            <a:avLst/>
          </a:prstGeom>
          <a:solidFill>
            <a:srgbClr val="29A9E1"/>
          </a:solidFill>
          <a:ln/>
        </p:spPr>
      </p:sp>
      <p:pic>
        <p:nvPicPr>
          <p:cNvPr id="33" name="Image 2" descr="icons/gift.png">    </p:cNvPr>
          <p:cNvPicPr>
            <a:picLocks noChangeAspect="1"/>
          </p:cNvPicPr>
          <p:nvPr/>
        </p:nvPicPr>
        <p:blipFill>
          <a:blip r:embed="rId4"/>
          <a:stretch>
            <a:fillRect/>
          </a:stretch>
        </p:blipFill>
        <p:spPr>
          <a:xfrm>
            <a:off x="6606540" y="4485132"/>
            <a:ext cx="228600" cy="228600"/>
          </a:xfrm>
          <a:prstGeom prst="rect">
            <a:avLst/>
          </a:prstGeom>
        </p:spPr>
      </p:pic>
      <p:sp>
        <p:nvSpPr>
          <p:cNvPr id="34" name="Text 28"/>
          <p:cNvSpPr/>
          <p:nvPr/>
        </p:nvSpPr>
        <p:spPr>
          <a:xfrm>
            <a:off x="7086600" y="4434840"/>
            <a:ext cx="438912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ChatGPT GPTs &amp; apps</a:t>
            </a:r>
            <a:endParaRPr lang="en-US" sz="1450" dirty="0"/>
          </a:p>
        </p:txBody>
      </p:sp>
      <p:sp>
        <p:nvSpPr>
          <p:cNvPr id="35" name="Text 29"/>
          <p:cNvSpPr/>
          <p:nvPr/>
        </p:nvSpPr>
        <p:spPr>
          <a:xfrm>
            <a:off x="6492240" y="4983480"/>
            <a:ext cx="4892040" cy="86868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Package your instructions and knowledge into a mini-app. Use it, share it with your team — or sell your expertise.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914400"/>
            <a:ext cx="4114800" cy="1554480"/>
          </a:xfrm>
          <a:prstGeom prst="rect">
            <a:avLst/>
          </a:prstGeom>
          <a:noFill/>
          <a:ln/>
        </p:spPr>
        <p:txBody>
          <a:bodyPr wrap="square" lIns="0" tIns="0" rIns="0" bIns="0" rtlCol="0" anchor="ctr"/>
          <a:lstStyle/>
          <a:p>
            <a:pPr indent="0" marL="0">
              <a:buNone/>
            </a:pPr>
            <a:r>
              <a:rPr lang="en-US" sz="9200" b="1" dirty="0">
                <a:solidFill>
                  <a:srgbClr val="F0C93C"/>
                </a:solidFill>
                <a:latin typeface="Arial" pitchFamily="34" charset="0"/>
                <a:ea typeface="Arial" pitchFamily="34" charset="-122"/>
                <a:cs typeface="Arial" pitchFamily="34" charset="-120"/>
              </a:rPr>
              <a:t>04</a:t>
            </a:r>
            <a:endParaRPr lang="en-US" sz="9200" dirty="0"/>
          </a:p>
        </p:txBody>
      </p:sp>
      <p:sp>
        <p:nvSpPr>
          <p:cNvPr id="3" name="Text 1"/>
          <p:cNvSpPr/>
          <p:nvPr/>
        </p:nvSpPr>
        <p:spPr>
          <a:xfrm>
            <a:off x="685800" y="2788920"/>
            <a:ext cx="9692640" cy="12344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business toolbox</a:t>
            </a:r>
            <a:endParaRPr lang="en-US" sz="3800" dirty="0"/>
          </a:p>
        </p:txBody>
      </p:sp>
      <p:sp>
        <p:nvSpPr>
          <p:cNvPr id="4" name="Text 2"/>
          <p:cNvSpPr/>
          <p:nvPr/>
        </p:nvSpPr>
        <p:spPr>
          <a:xfrm>
            <a:off x="685800" y="4114800"/>
            <a:ext cx="8412480" cy="868680"/>
          </a:xfrm>
          <a:prstGeom prst="rect">
            <a:avLst/>
          </a:prstGeom>
          <a:noFill/>
          <a:ln/>
        </p:spPr>
        <p:txBody>
          <a:bodyPr wrap="square" lIns="0" tIns="0" rIns="0" bIns="0" rtlCol="0" anchor="ctr"/>
          <a:lstStyle/>
          <a:p>
            <a:pPr indent="0" marL="0">
              <a:buNone/>
            </a:pPr>
            <a:r>
              <a:rPr lang="en-US" sz="1700" dirty="0">
                <a:solidFill>
                  <a:srgbClr val="C9D4EE"/>
                </a:solidFill>
                <a:latin typeface="Calibri" pitchFamily="34" charset="0"/>
                <a:ea typeface="Calibri" pitchFamily="34" charset="-122"/>
                <a:cs typeface="Calibri" pitchFamily="34" charset="-120"/>
              </a:rPr>
              <a:t>Branding · content · sales &amp; research · lead generation · workflow automation.</a:t>
            </a:r>
            <a:endParaRPr lang="en-US" sz="1700" dirty="0"/>
          </a:p>
        </p:txBody>
      </p:sp>
      <p:sp>
        <p:nvSpPr>
          <p:cNvPr id="5" name="Shape 3"/>
          <p:cNvSpPr/>
          <p:nvPr/>
        </p:nvSpPr>
        <p:spPr>
          <a:xfrm>
            <a:off x="10378440" y="914400"/>
            <a:ext cx="1051560" cy="1051560"/>
          </a:xfrm>
          <a:prstGeom prst="ellipse">
            <a:avLst/>
          </a:prstGeom>
          <a:solidFill>
            <a:srgbClr val="35C1B1"/>
          </a:solidFill>
          <a:ln/>
        </p:spPr>
      </p:sp>
      <p:pic>
        <p:nvPicPr>
          <p:cNvPr id="6" name="Image 0" descr="icons/gears.png">    </p:cNvPr>
          <p:cNvPicPr>
            <a:picLocks noChangeAspect="1"/>
          </p:cNvPicPr>
          <p:nvPr/>
        </p:nvPicPr>
        <p:blipFill>
          <a:blip r:embed="rId2"/>
          <a:stretch>
            <a:fillRect/>
          </a:stretch>
        </p:blipFill>
        <p:spPr>
          <a:xfrm>
            <a:off x="10641330" y="1177290"/>
            <a:ext cx="525780" cy="5257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BRANDING</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Look professional from day one</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440680" cy="2103120"/>
          </a:xfrm>
          <a:prstGeom prst="roundRect">
            <a:avLst>
              <a:gd name="adj" fmla="val 3913"/>
            </a:avLst>
          </a:prstGeom>
          <a:solidFill>
            <a:srgbClr val="F5F8FC"/>
          </a:solidFill>
          <a:ln w="12700">
            <a:solidFill>
              <a:srgbClr val="E1E6F0"/>
            </a:solidFill>
            <a:prstDash val="solid"/>
          </a:ln>
        </p:spPr>
      </p:sp>
      <p:sp>
        <p:nvSpPr>
          <p:cNvPr id="7" name="Shape 4"/>
          <p:cNvSpPr/>
          <p:nvPr/>
        </p:nvSpPr>
        <p:spPr>
          <a:xfrm>
            <a:off x="822960" y="1737360"/>
            <a:ext cx="475488" cy="475488"/>
          </a:xfrm>
          <a:prstGeom prst="ellipse">
            <a:avLst/>
          </a:prstGeom>
          <a:solidFill>
            <a:srgbClr val="29A9E1"/>
          </a:solidFill>
          <a:ln/>
        </p:spPr>
      </p:sp>
      <p:pic>
        <p:nvPicPr>
          <p:cNvPr id="8" name="Image 0" descr="icons/wand.png">    </p:cNvPr>
          <p:cNvPicPr>
            <a:picLocks noChangeAspect="1"/>
          </p:cNvPicPr>
          <p:nvPr/>
        </p:nvPicPr>
        <p:blipFill>
          <a:blip r:embed="rId2"/>
          <a:stretch>
            <a:fillRect/>
          </a:stretch>
        </p:blipFill>
        <p:spPr>
          <a:xfrm>
            <a:off x="941832" y="1856232"/>
            <a:ext cx="237744" cy="237744"/>
          </a:xfrm>
          <a:prstGeom prst="rect">
            <a:avLst/>
          </a:prstGeom>
        </p:spPr>
      </p:pic>
      <p:sp>
        <p:nvSpPr>
          <p:cNvPr id="9" name="Text 5"/>
          <p:cNvSpPr/>
          <p:nvPr/>
        </p:nvSpPr>
        <p:spPr>
          <a:xfrm>
            <a:off x="1463040" y="1810512"/>
            <a:ext cx="3200400" cy="36576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Pomelli — by Google Labs</a:t>
            </a:r>
            <a:endParaRPr lang="en-US" sz="1450" dirty="0"/>
          </a:p>
        </p:txBody>
      </p:sp>
      <p:sp>
        <p:nvSpPr>
          <p:cNvPr id="10" name="Shape 6"/>
          <p:cNvSpPr/>
          <p:nvPr/>
        </p:nvSpPr>
        <p:spPr>
          <a:xfrm>
            <a:off x="4617720" y="1792224"/>
            <a:ext cx="1170432" cy="274320"/>
          </a:xfrm>
          <a:prstGeom prst="roundRect">
            <a:avLst>
              <a:gd name="adj" fmla="val 50000"/>
            </a:avLst>
          </a:prstGeom>
          <a:solidFill>
            <a:srgbClr val="35C1B1"/>
          </a:solidFill>
          <a:ln/>
        </p:spPr>
      </p:sp>
      <p:sp>
        <p:nvSpPr>
          <p:cNvPr id="11" name="Text 7"/>
          <p:cNvSpPr/>
          <p:nvPr/>
        </p:nvSpPr>
        <p:spPr>
          <a:xfrm>
            <a:off x="4617720" y="1796796"/>
            <a:ext cx="1170432" cy="26517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FREE (BETA)</a:t>
            </a:r>
            <a:endParaRPr lang="en-US" sz="850" dirty="0"/>
          </a:p>
        </p:txBody>
      </p:sp>
      <p:sp>
        <p:nvSpPr>
          <p:cNvPr id="12" name="Text 8"/>
          <p:cNvSpPr/>
          <p:nvPr/>
        </p:nvSpPr>
        <p:spPr>
          <a:xfrm>
            <a:off x="822960" y="2423160"/>
            <a:ext cx="4892040" cy="10058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Reads your website → builds your “Business DNA” → generates on-brand social campaigns.</a:t>
            </a:r>
            <a:endParaRPr lang="en-US" sz="1250" dirty="0"/>
          </a:p>
        </p:txBody>
      </p:sp>
      <p:sp>
        <p:nvSpPr>
          <p:cNvPr id="13" name="Shape 9"/>
          <p:cNvSpPr/>
          <p:nvPr/>
        </p:nvSpPr>
        <p:spPr>
          <a:xfrm>
            <a:off x="6172200" y="1463040"/>
            <a:ext cx="5440680" cy="2103120"/>
          </a:xfrm>
          <a:prstGeom prst="roundRect">
            <a:avLst>
              <a:gd name="adj" fmla="val 3913"/>
            </a:avLst>
          </a:prstGeom>
          <a:solidFill>
            <a:srgbClr val="F5F8FC"/>
          </a:solidFill>
          <a:ln w="12700">
            <a:solidFill>
              <a:srgbClr val="E1E6F0"/>
            </a:solidFill>
            <a:prstDash val="solid"/>
          </a:ln>
        </p:spPr>
      </p:sp>
      <p:sp>
        <p:nvSpPr>
          <p:cNvPr id="14" name="Shape 10"/>
          <p:cNvSpPr/>
          <p:nvPr/>
        </p:nvSpPr>
        <p:spPr>
          <a:xfrm>
            <a:off x="6446520" y="1737360"/>
            <a:ext cx="475488" cy="475488"/>
          </a:xfrm>
          <a:prstGeom prst="ellipse">
            <a:avLst/>
          </a:prstGeom>
          <a:solidFill>
            <a:srgbClr val="35C1B1"/>
          </a:solidFill>
          <a:ln/>
        </p:spPr>
      </p:sp>
      <p:pic>
        <p:nvPicPr>
          <p:cNvPr id="15" name="Image 1" descr="icons/palette.png">    </p:cNvPr>
          <p:cNvPicPr>
            <a:picLocks noChangeAspect="1"/>
          </p:cNvPicPr>
          <p:nvPr/>
        </p:nvPicPr>
        <p:blipFill>
          <a:blip r:embed="rId3"/>
          <a:stretch>
            <a:fillRect/>
          </a:stretch>
        </p:blipFill>
        <p:spPr>
          <a:xfrm>
            <a:off x="6565392" y="1856232"/>
            <a:ext cx="237744" cy="237744"/>
          </a:xfrm>
          <a:prstGeom prst="rect">
            <a:avLst/>
          </a:prstGeom>
        </p:spPr>
      </p:pic>
      <p:sp>
        <p:nvSpPr>
          <p:cNvPr id="16" name="Text 11"/>
          <p:cNvSpPr/>
          <p:nvPr/>
        </p:nvSpPr>
        <p:spPr>
          <a:xfrm>
            <a:off x="7086600" y="1810512"/>
            <a:ext cx="3200400" cy="36576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Canva Magic Studio</a:t>
            </a:r>
            <a:endParaRPr lang="en-US" sz="1450" dirty="0"/>
          </a:p>
        </p:txBody>
      </p:sp>
      <p:sp>
        <p:nvSpPr>
          <p:cNvPr id="17" name="Shape 12"/>
          <p:cNvSpPr/>
          <p:nvPr/>
        </p:nvSpPr>
        <p:spPr>
          <a:xfrm>
            <a:off x="10241280" y="1792224"/>
            <a:ext cx="1170432" cy="274320"/>
          </a:xfrm>
          <a:prstGeom prst="roundRect">
            <a:avLst>
              <a:gd name="adj" fmla="val 50000"/>
            </a:avLst>
          </a:prstGeom>
          <a:solidFill>
            <a:srgbClr val="151F4A"/>
          </a:solidFill>
          <a:ln/>
        </p:spPr>
      </p:sp>
      <p:sp>
        <p:nvSpPr>
          <p:cNvPr id="18" name="Text 13"/>
          <p:cNvSpPr/>
          <p:nvPr/>
        </p:nvSpPr>
        <p:spPr>
          <a:xfrm>
            <a:off x="10241280" y="1796796"/>
            <a:ext cx="1170432" cy="26517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FREE · PRO $18</a:t>
            </a:r>
            <a:endParaRPr lang="en-US" sz="850" dirty="0"/>
          </a:p>
        </p:txBody>
      </p:sp>
      <p:sp>
        <p:nvSpPr>
          <p:cNvPr id="19" name="Text 14"/>
          <p:cNvSpPr/>
          <p:nvPr/>
        </p:nvSpPr>
        <p:spPr>
          <a:xfrm>
            <a:off x="6446520" y="2423160"/>
            <a:ext cx="4892040" cy="10058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Magic Write, Magic Design, background removal — the everything design studio.</a:t>
            </a:r>
            <a:endParaRPr lang="en-US" sz="1250" dirty="0"/>
          </a:p>
        </p:txBody>
      </p:sp>
      <p:sp>
        <p:nvSpPr>
          <p:cNvPr id="20" name="Shape 15"/>
          <p:cNvSpPr/>
          <p:nvPr/>
        </p:nvSpPr>
        <p:spPr>
          <a:xfrm>
            <a:off x="548640" y="3767328"/>
            <a:ext cx="5440680" cy="2103120"/>
          </a:xfrm>
          <a:prstGeom prst="roundRect">
            <a:avLst>
              <a:gd name="adj" fmla="val 3913"/>
            </a:avLst>
          </a:prstGeom>
          <a:solidFill>
            <a:srgbClr val="F5F8FC"/>
          </a:solidFill>
          <a:ln w="12700">
            <a:solidFill>
              <a:srgbClr val="E1E6F0"/>
            </a:solidFill>
            <a:prstDash val="solid"/>
          </a:ln>
        </p:spPr>
      </p:sp>
      <p:sp>
        <p:nvSpPr>
          <p:cNvPr id="21" name="Shape 16"/>
          <p:cNvSpPr/>
          <p:nvPr/>
        </p:nvSpPr>
        <p:spPr>
          <a:xfrm>
            <a:off x="822960" y="4041648"/>
            <a:ext cx="475488" cy="475488"/>
          </a:xfrm>
          <a:prstGeom prst="ellipse">
            <a:avLst/>
          </a:prstGeom>
          <a:solidFill>
            <a:srgbClr val="151F4A"/>
          </a:solidFill>
          <a:ln/>
        </p:spPr>
      </p:sp>
      <p:pic>
        <p:nvPicPr>
          <p:cNvPr id="22" name="Image 2" descr="icons/pen.png">    </p:cNvPr>
          <p:cNvPicPr>
            <a:picLocks noChangeAspect="1"/>
          </p:cNvPicPr>
          <p:nvPr/>
        </p:nvPicPr>
        <p:blipFill>
          <a:blip r:embed="rId4"/>
          <a:stretch>
            <a:fillRect/>
          </a:stretch>
        </p:blipFill>
        <p:spPr>
          <a:xfrm>
            <a:off x="941832" y="4160520"/>
            <a:ext cx="237744" cy="237744"/>
          </a:xfrm>
          <a:prstGeom prst="rect">
            <a:avLst/>
          </a:prstGeom>
        </p:spPr>
      </p:pic>
      <p:sp>
        <p:nvSpPr>
          <p:cNvPr id="23" name="Text 17"/>
          <p:cNvSpPr/>
          <p:nvPr/>
        </p:nvSpPr>
        <p:spPr>
          <a:xfrm>
            <a:off x="1463040" y="4114800"/>
            <a:ext cx="3200400" cy="36576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Looka</a:t>
            </a:r>
            <a:endParaRPr lang="en-US" sz="1450" dirty="0"/>
          </a:p>
        </p:txBody>
      </p:sp>
      <p:sp>
        <p:nvSpPr>
          <p:cNvPr id="24" name="Shape 18"/>
          <p:cNvSpPr/>
          <p:nvPr/>
        </p:nvSpPr>
        <p:spPr>
          <a:xfrm>
            <a:off x="4617720" y="4096512"/>
            <a:ext cx="1170432" cy="274320"/>
          </a:xfrm>
          <a:prstGeom prst="roundRect">
            <a:avLst>
              <a:gd name="adj" fmla="val 50000"/>
            </a:avLst>
          </a:prstGeom>
          <a:solidFill>
            <a:srgbClr val="29A9E1"/>
          </a:solidFill>
          <a:ln/>
        </p:spPr>
      </p:sp>
      <p:sp>
        <p:nvSpPr>
          <p:cNvPr id="25" name="Text 19"/>
          <p:cNvSpPr/>
          <p:nvPr/>
        </p:nvSpPr>
        <p:spPr>
          <a:xfrm>
            <a:off x="4617720" y="4101084"/>
            <a:ext cx="1170432" cy="26517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FROM $20 ONCE</a:t>
            </a:r>
            <a:endParaRPr lang="en-US" sz="850" dirty="0"/>
          </a:p>
        </p:txBody>
      </p:sp>
      <p:sp>
        <p:nvSpPr>
          <p:cNvPr id="26" name="Text 20"/>
          <p:cNvSpPr/>
          <p:nvPr/>
        </p:nvSpPr>
        <p:spPr>
          <a:xfrm>
            <a:off x="822960" y="4727448"/>
            <a:ext cx="4892040" cy="10058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AI logo and complete brand kit — colours, fonts, cards — in minutes.</a:t>
            </a:r>
            <a:endParaRPr lang="en-US" sz="1250" dirty="0"/>
          </a:p>
        </p:txBody>
      </p:sp>
      <p:sp>
        <p:nvSpPr>
          <p:cNvPr id="27" name="Shape 21"/>
          <p:cNvSpPr/>
          <p:nvPr/>
        </p:nvSpPr>
        <p:spPr>
          <a:xfrm>
            <a:off x="6172200" y="3767328"/>
            <a:ext cx="5440680" cy="2103120"/>
          </a:xfrm>
          <a:prstGeom prst="roundRect">
            <a:avLst>
              <a:gd name="adj" fmla="val 3913"/>
            </a:avLst>
          </a:prstGeom>
          <a:solidFill>
            <a:srgbClr val="F5F8FC"/>
          </a:solidFill>
          <a:ln w="12700">
            <a:solidFill>
              <a:srgbClr val="E1E6F0"/>
            </a:solidFill>
            <a:prstDash val="solid"/>
          </a:ln>
        </p:spPr>
      </p:sp>
      <p:sp>
        <p:nvSpPr>
          <p:cNvPr id="28" name="Shape 22"/>
          <p:cNvSpPr/>
          <p:nvPr/>
        </p:nvSpPr>
        <p:spPr>
          <a:xfrm>
            <a:off x="6446520" y="4041648"/>
            <a:ext cx="475488" cy="475488"/>
          </a:xfrm>
          <a:prstGeom prst="ellipse">
            <a:avLst/>
          </a:prstGeom>
          <a:solidFill>
            <a:srgbClr val="29A9E1"/>
          </a:solidFill>
          <a:ln/>
        </p:spPr>
      </p:sp>
      <p:pic>
        <p:nvPicPr>
          <p:cNvPr id="29" name="Image 3" descr="icons/camera.png">    </p:cNvPr>
          <p:cNvPicPr>
            <a:picLocks noChangeAspect="1"/>
          </p:cNvPicPr>
          <p:nvPr/>
        </p:nvPicPr>
        <p:blipFill>
          <a:blip r:embed="rId5"/>
          <a:stretch>
            <a:fillRect/>
          </a:stretch>
        </p:blipFill>
        <p:spPr>
          <a:xfrm>
            <a:off x="6565392" y="4160520"/>
            <a:ext cx="237744" cy="237744"/>
          </a:xfrm>
          <a:prstGeom prst="rect">
            <a:avLst/>
          </a:prstGeom>
        </p:spPr>
      </p:pic>
      <p:sp>
        <p:nvSpPr>
          <p:cNvPr id="30" name="Text 23"/>
          <p:cNvSpPr/>
          <p:nvPr/>
        </p:nvSpPr>
        <p:spPr>
          <a:xfrm>
            <a:off x="7086600" y="4114800"/>
            <a:ext cx="3200400" cy="36576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Adobe Express + Firefly</a:t>
            </a:r>
            <a:endParaRPr lang="en-US" sz="1450" dirty="0"/>
          </a:p>
        </p:txBody>
      </p:sp>
      <p:sp>
        <p:nvSpPr>
          <p:cNvPr id="31" name="Shape 24"/>
          <p:cNvSpPr/>
          <p:nvPr/>
        </p:nvSpPr>
        <p:spPr>
          <a:xfrm>
            <a:off x="10241280" y="4096512"/>
            <a:ext cx="1170432" cy="274320"/>
          </a:xfrm>
          <a:prstGeom prst="roundRect">
            <a:avLst>
              <a:gd name="adj" fmla="val 50000"/>
            </a:avLst>
          </a:prstGeom>
          <a:solidFill>
            <a:srgbClr val="151F4A"/>
          </a:solidFill>
          <a:ln/>
        </p:spPr>
      </p:sp>
      <p:sp>
        <p:nvSpPr>
          <p:cNvPr id="32" name="Text 25"/>
          <p:cNvSpPr/>
          <p:nvPr/>
        </p:nvSpPr>
        <p:spPr>
          <a:xfrm>
            <a:off x="10241280" y="4101084"/>
            <a:ext cx="1170432" cy="26517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FREE · $9.99</a:t>
            </a:r>
            <a:endParaRPr lang="en-US" sz="850" dirty="0"/>
          </a:p>
        </p:txBody>
      </p:sp>
      <p:sp>
        <p:nvSpPr>
          <p:cNvPr id="33" name="Text 26"/>
          <p:cNvSpPr/>
          <p:nvPr/>
        </p:nvSpPr>
        <p:spPr>
          <a:xfrm>
            <a:off x="6446520" y="4727448"/>
            <a:ext cx="4892040" cy="10058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Pro-grade templates plus generative images, safe for commercial use.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SPOTLIGHT</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Pomelli: your brand team in three steps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3520440" cy="2651760"/>
          </a:xfrm>
          <a:prstGeom prst="roundRect">
            <a:avLst>
              <a:gd name="adj" fmla="val 3103"/>
            </a:avLst>
          </a:prstGeom>
          <a:solidFill>
            <a:srgbClr val="F5F8FC"/>
          </a:solidFill>
          <a:ln w="12700">
            <a:solidFill>
              <a:srgbClr val="E1E6F0"/>
            </a:solidFill>
            <a:prstDash val="solid"/>
          </a:ln>
        </p:spPr>
      </p:sp>
      <p:sp>
        <p:nvSpPr>
          <p:cNvPr id="7" name="Shape 4"/>
          <p:cNvSpPr/>
          <p:nvPr/>
        </p:nvSpPr>
        <p:spPr>
          <a:xfrm>
            <a:off x="822960" y="1828800"/>
            <a:ext cx="502920" cy="502920"/>
          </a:xfrm>
          <a:prstGeom prst="ellipse">
            <a:avLst/>
          </a:prstGeom>
          <a:solidFill>
            <a:srgbClr val="29A9E1"/>
          </a:solidFill>
          <a:ln/>
        </p:spPr>
      </p:sp>
      <p:pic>
        <p:nvPicPr>
          <p:cNvPr id="8" name="Image 0" descr="icons/link.png">    </p:cNvPr>
          <p:cNvPicPr>
            <a:picLocks noChangeAspect="1"/>
          </p:cNvPicPr>
          <p:nvPr/>
        </p:nvPicPr>
        <p:blipFill>
          <a:blip r:embed="rId2"/>
          <a:stretch>
            <a:fillRect/>
          </a:stretch>
        </p:blipFill>
        <p:spPr>
          <a:xfrm>
            <a:off x="948690" y="1954530"/>
            <a:ext cx="251460" cy="251460"/>
          </a:xfrm>
          <a:prstGeom prst="rect">
            <a:avLst/>
          </a:prstGeom>
        </p:spPr>
      </p:pic>
      <p:sp>
        <p:nvSpPr>
          <p:cNvPr id="9" name="Text 5"/>
          <p:cNvSpPr/>
          <p:nvPr/>
        </p:nvSpPr>
        <p:spPr>
          <a:xfrm>
            <a:off x="822960" y="2487168"/>
            <a:ext cx="3017520" cy="5486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1 · Paste your website</a:t>
            </a:r>
            <a:endParaRPr lang="en-US" sz="1500" dirty="0"/>
          </a:p>
        </p:txBody>
      </p:sp>
      <p:sp>
        <p:nvSpPr>
          <p:cNvPr id="10" name="Text 6"/>
          <p:cNvSpPr/>
          <p:nvPr/>
        </p:nvSpPr>
        <p:spPr>
          <a:xfrm>
            <a:off x="822960" y="3063240"/>
            <a:ext cx="3017520" cy="10058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Give Pomelli your site or social page URL — that's the whole setup.</a:t>
            </a:r>
            <a:endParaRPr lang="en-US" sz="1250" dirty="0"/>
          </a:p>
        </p:txBody>
      </p:sp>
      <p:pic>
        <p:nvPicPr>
          <p:cNvPr id="11" name="Image 1" descr="icons/arrowRight.png">    </p:cNvPr>
          <p:cNvPicPr>
            <a:picLocks noChangeAspect="1"/>
          </p:cNvPicPr>
          <p:nvPr/>
        </p:nvPicPr>
        <p:blipFill>
          <a:blip r:embed="rId3">
            <a:alphaModFix amt="75000"/>
          </a:blip>
          <a:stretch>
            <a:fillRect/>
          </a:stretch>
        </p:blipFill>
        <p:spPr>
          <a:xfrm>
            <a:off x="4114800" y="2697480"/>
            <a:ext cx="237744" cy="237744"/>
          </a:xfrm>
          <a:prstGeom prst="rect">
            <a:avLst/>
          </a:prstGeom>
        </p:spPr>
      </p:pic>
      <p:sp>
        <p:nvSpPr>
          <p:cNvPr id="12" name="Shape 7"/>
          <p:cNvSpPr/>
          <p:nvPr/>
        </p:nvSpPr>
        <p:spPr>
          <a:xfrm>
            <a:off x="4379976" y="1554480"/>
            <a:ext cx="3520440" cy="2651760"/>
          </a:xfrm>
          <a:prstGeom prst="roundRect">
            <a:avLst>
              <a:gd name="adj" fmla="val 3103"/>
            </a:avLst>
          </a:prstGeom>
          <a:solidFill>
            <a:srgbClr val="F5F8FC"/>
          </a:solidFill>
          <a:ln w="12700">
            <a:solidFill>
              <a:srgbClr val="E1E6F0"/>
            </a:solidFill>
            <a:prstDash val="solid"/>
          </a:ln>
        </p:spPr>
      </p:sp>
      <p:sp>
        <p:nvSpPr>
          <p:cNvPr id="13" name="Shape 8"/>
          <p:cNvSpPr/>
          <p:nvPr/>
        </p:nvSpPr>
        <p:spPr>
          <a:xfrm>
            <a:off x="4654296" y="1828800"/>
            <a:ext cx="502920" cy="502920"/>
          </a:xfrm>
          <a:prstGeom prst="ellipse">
            <a:avLst/>
          </a:prstGeom>
          <a:solidFill>
            <a:srgbClr val="35C1B1"/>
          </a:solidFill>
          <a:ln/>
        </p:spPr>
      </p:sp>
      <p:pic>
        <p:nvPicPr>
          <p:cNvPr id="14" name="Image 2" descr="icons/brain.png">    </p:cNvPr>
          <p:cNvPicPr>
            <a:picLocks noChangeAspect="1"/>
          </p:cNvPicPr>
          <p:nvPr/>
        </p:nvPicPr>
        <p:blipFill>
          <a:blip r:embed="rId4"/>
          <a:stretch>
            <a:fillRect/>
          </a:stretch>
        </p:blipFill>
        <p:spPr>
          <a:xfrm>
            <a:off x="4780026" y="1954530"/>
            <a:ext cx="251460" cy="251460"/>
          </a:xfrm>
          <a:prstGeom prst="rect">
            <a:avLst/>
          </a:prstGeom>
        </p:spPr>
      </p:pic>
      <p:sp>
        <p:nvSpPr>
          <p:cNvPr id="15" name="Text 9"/>
          <p:cNvSpPr/>
          <p:nvPr/>
        </p:nvSpPr>
        <p:spPr>
          <a:xfrm>
            <a:off x="4654296" y="2487168"/>
            <a:ext cx="3017520" cy="5486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2 · It learns your DNA</a:t>
            </a:r>
            <a:endParaRPr lang="en-US" sz="1500" dirty="0"/>
          </a:p>
        </p:txBody>
      </p:sp>
      <p:sp>
        <p:nvSpPr>
          <p:cNvPr id="16" name="Text 10"/>
          <p:cNvSpPr/>
          <p:nvPr/>
        </p:nvSpPr>
        <p:spPr>
          <a:xfrm>
            <a:off x="4654296" y="3063240"/>
            <a:ext cx="3017520" cy="10058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Colours, fonts, tone of voice, imagery — extracted into a “Business DNA” profile.</a:t>
            </a:r>
            <a:endParaRPr lang="en-US" sz="1250" dirty="0"/>
          </a:p>
        </p:txBody>
      </p:sp>
      <p:pic>
        <p:nvPicPr>
          <p:cNvPr id="17" name="Image 3" descr="icons/arrowRight.png">    </p:cNvPr>
          <p:cNvPicPr>
            <a:picLocks noChangeAspect="1"/>
          </p:cNvPicPr>
          <p:nvPr/>
        </p:nvPicPr>
        <p:blipFill>
          <a:blip r:embed="rId5">
            <a:alphaModFix amt="75000"/>
          </a:blip>
          <a:stretch>
            <a:fillRect/>
          </a:stretch>
        </p:blipFill>
        <p:spPr>
          <a:xfrm>
            <a:off x="7946136" y="2697480"/>
            <a:ext cx="237744" cy="237744"/>
          </a:xfrm>
          <a:prstGeom prst="rect">
            <a:avLst/>
          </a:prstGeom>
        </p:spPr>
      </p:pic>
      <p:sp>
        <p:nvSpPr>
          <p:cNvPr id="18" name="Shape 11"/>
          <p:cNvSpPr/>
          <p:nvPr/>
        </p:nvSpPr>
        <p:spPr>
          <a:xfrm>
            <a:off x="8211312" y="1554480"/>
            <a:ext cx="3520440" cy="2651760"/>
          </a:xfrm>
          <a:prstGeom prst="roundRect">
            <a:avLst>
              <a:gd name="adj" fmla="val 3103"/>
            </a:avLst>
          </a:prstGeom>
          <a:solidFill>
            <a:srgbClr val="F5F8FC"/>
          </a:solidFill>
          <a:ln w="12700">
            <a:solidFill>
              <a:srgbClr val="E1E6F0"/>
            </a:solidFill>
            <a:prstDash val="solid"/>
          </a:ln>
        </p:spPr>
      </p:sp>
      <p:sp>
        <p:nvSpPr>
          <p:cNvPr id="19" name="Shape 12"/>
          <p:cNvSpPr/>
          <p:nvPr/>
        </p:nvSpPr>
        <p:spPr>
          <a:xfrm>
            <a:off x="8485632" y="1828800"/>
            <a:ext cx="502920" cy="502920"/>
          </a:xfrm>
          <a:prstGeom prst="ellipse">
            <a:avLst/>
          </a:prstGeom>
          <a:solidFill>
            <a:srgbClr val="151F4A"/>
          </a:solidFill>
          <a:ln/>
        </p:spPr>
      </p:sp>
      <p:pic>
        <p:nvPicPr>
          <p:cNvPr id="20" name="Image 4" descr="icons/wand.png">    </p:cNvPr>
          <p:cNvPicPr>
            <a:picLocks noChangeAspect="1"/>
          </p:cNvPicPr>
          <p:nvPr/>
        </p:nvPicPr>
        <p:blipFill>
          <a:blip r:embed="rId6"/>
          <a:stretch>
            <a:fillRect/>
          </a:stretch>
        </p:blipFill>
        <p:spPr>
          <a:xfrm>
            <a:off x="8611362" y="1954530"/>
            <a:ext cx="251460" cy="251460"/>
          </a:xfrm>
          <a:prstGeom prst="rect">
            <a:avLst/>
          </a:prstGeom>
        </p:spPr>
      </p:pic>
      <p:sp>
        <p:nvSpPr>
          <p:cNvPr id="21" name="Text 13"/>
          <p:cNvSpPr/>
          <p:nvPr/>
        </p:nvSpPr>
        <p:spPr>
          <a:xfrm>
            <a:off x="8485632" y="2487168"/>
            <a:ext cx="3017520" cy="5486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3 · Generate campaigns</a:t>
            </a:r>
            <a:endParaRPr lang="en-US" sz="1500" dirty="0"/>
          </a:p>
        </p:txBody>
      </p:sp>
      <p:sp>
        <p:nvSpPr>
          <p:cNvPr id="22" name="Text 14"/>
          <p:cNvSpPr/>
          <p:nvPr/>
        </p:nvSpPr>
        <p:spPr>
          <a:xfrm>
            <a:off x="8485632" y="3063240"/>
            <a:ext cx="3017520" cy="100584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Editable, on-brand posts for Instagram, Facebook, LinkedIn and X — download and publish.</a:t>
            </a:r>
            <a:endParaRPr lang="en-US" sz="1250" dirty="0"/>
          </a:p>
        </p:txBody>
      </p:sp>
      <p:sp>
        <p:nvSpPr>
          <p:cNvPr id="23" name="Shape 15"/>
          <p:cNvSpPr/>
          <p:nvPr/>
        </p:nvSpPr>
        <p:spPr>
          <a:xfrm>
            <a:off x="548640" y="4572000"/>
            <a:ext cx="11109960" cy="1417320"/>
          </a:xfrm>
          <a:prstGeom prst="roundRect">
            <a:avLst>
              <a:gd name="adj" fmla="val 5806"/>
            </a:avLst>
          </a:prstGeom>
          <a:solidFill>
            <a:srgbClr val="EAF5FC"/>
          </a:solidFill>
          <a:ln/>
        </p:spPr>
      </p:sp>
      <p:sp>
        <p:nvSpPr>
          <p:cNvPr id="24" name="Text 16"/>
          <p:cNvSpPr/>
          <p:nvPr/>
        </p:nvSpPr>
        <p:spPr>
          <a:xfrm>
            <a:off x="868680" y="4800600"/>
            <a:ext cx="10424160" cy="365760"/>
          </a:xfrm>
          <a:prstGeom prst="rect">
            <a:avLst/>
          </a:prstGeom>
          <a:noFill/>
          <a:ln/>
        </p:spPr>
        <p:txBody>
          <a:bodyPr wrap="square" lIns="0" tIns="0" rIns="0" bIns="0" rtlCol="0" anchor="ctr"/>
          <a:lstStyle/>
          <a:p>
            <a:pPr indent="0" marL="0">
              <a:buNone/>
            </a:pPr>
            <a:r>
              <a:rPr lang="en-US" sz="1450" b="1" dirty="0">
                <a:solidFill>
                  <a:srgbClr val="232A3E"/>
                </a:solidFill>
                <a:latin typeface="Calibri" pitchFamily="34" charset="0"/>
                <a:ea typeface="Calibri" pitchFamily="34" charset="-122"/>
                <a:cs typeface="Calibri" pitchFamily="34" charset="-120"/>
              </a:rPr>
              <a:t>Free while in beta</a:t>
            </a:r>
            <a:pPr indent="0" marL="0">
              <a:buNone/>
            </a:pPr>
            <a:r>
              <a:rPr lang="en-US" sz="1450" dirty="0">
                <a:solidFill>
                  <a:srgbClr val="232A3E"/>
                </a:solidFill>
                <a:latin typeface="Calibri" pitchFamily="34" charset="0"/>
                <a:ea typeface="Calibri" pitchFamily="34" charset="-122"/>
                <a:cs typeface="Calibri" pitchFamily="34" charset="-120"/>
              </a:rPr>
              <a:t>  ·  rolled out to 170+ countries in 2026  ·  </a:t>
            </a:r>
            <a:pPr indent="0" marL="0">
              <a:buNone/>
            </a:pPr>
            <a:r>
              <a:rPr lang="en-US" sz="1450" b="1" dirty="0">
                <a:solidFill>
                  <a:srgbClr val="29A9E1"/>
                </a:solidFill>
                <a:latin typeface="Calibri" pitchFamily="34" charset="0"/>
                <a:ea typeface="Calibri" pitchFamily="34" charset="-122"/>
                <a:cs typeface="Calibri" pitchFamily="34" charset="-120"/>
              </a:rPr>
              <a:t>labs.google/pomelli</a:t>
            </a:r>
            <a:endParaRPr lang="en-US" sz="1450" dirty="0"/>
          </a:p>
        </p:txBody>
      </p:sp>
      <p:sp>
        <p:nvSpPr>
          <p:cNvPr id="25" name="Text 17"/>
          <p:cNvSpPr/>
          <p:nvPr/>
        </p:nvSpPr>
        <p:spPr>
          <a:xfrm>
            <a:off x="868680" y="5257800"/>
            <a:ext cx="10424160" cy="365760"/>
          </a:xfrm>
          <a:prstGeom prst="rect">
            <a:avLst/>
          </a:prstGeom>
          <a:noFill/>
          <a:ln/>
        </p:spPr>
        <p:txBody>
          <a:bodyPr wrap="square" lIns="0" tIns="0" rIns="0" bIns="0" rtlCol="0" anchor="ctr"/>
          <a:lstStyle/>
          <a:p>
            <a:pPr indent="0" marL="0">
              <a:buNone/>
            </a:pPr>
            <a:r>
              <a:rPr lang="en-US" sz="1250" i="1" dirty="0">
                <a:solidFill>
                  <a:srgbClr val="68708A"/>
                </a:solidFill>
                <a:latin typeface="Calibri" pitchFamily="34" charset="0"/>
                <a:ea typeface="Calibri" pitchFamily="34" charset="-122"/>
                <a:cs typeface="Calibri" pitchFamily="34" charset="-120"/>
              </a:rPr>
              <a:t>Honest caveat: it creates the assets — you still download and post them yourself.</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CONTENT &amp; PRESENCE</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One idea → content everywhere</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11109960" cy="804672"/>
          </a:xfrm>
          <a:prstGeom prst="roundRect">
            <a:avLst>
              <a:gd name="adj" fmla="val 10227"/>
            </a:avLst>
          </a:prstGeom>
          <a:solidFill>
            <a:srgbClr val="F5F8FC"/>
          </a:solidFill>
          <a:ln w="12700">
            <a:solidFill>
              <a:srgbClr val="E1E6F0"/>
            </a:solidFill>
            <a:prstDash val="solid"/>
          </a:ln>
        </p:spPr>
      </p:sp>
      <p:sp>
        <p:nvSpPr>
          <p:cNvPr id="7" name="Shape 4"/>
          <p:cNvSpPr/>
          <p:nvPr/>
        </p:nvSpPr>
        <p:spPr>
          <a:xfrm>
            <a:off x="777240" y="1627632"/>
            <a:ext cx="457200" cy="457200"/>
          </a:xfrm>
          <a:prstGeom prst="ellipse">
            <a:avLst/>
          </a:prstGeom>
          <a:solidFill>
            <a:srgbClr val="35C1B1"/>
          </a:solidFill>
          <a:ln/>
        </p:spPr>
      </p:sp>
      <p:pic>
        <p:nvPicPr>
          <p:cNvPr id="8" name="Image 0" descr="icons/window.png">    </p:cNvPr>
          <p:cNvPicPr>
            <a:picLocks noChangeAspect="1"/>
          </p:cNvPicPr>
          <p:nvPr/>
        </p:nvPicPr>
        <p:blipFill>
          <a:blip r:embed="rId2"/>
          <a:stretch>
            <a:fillRect/>
          </a:stretch>
        </p:blipFill>
        <p:spPr>
          <a:xfrm>
            <a:off x="891540" y="1741932"/>
            <a:ext cx="228600" cy="228600"/>
          </a:xfrm>
          <a:prstGeom prst="rect">
            <a:avLst/>
          </a:prstGeom>
        </p:spPr>
      </p:pic>
      <p:sp>
        <p:nvSpPr>
          <p:cNvPr id="9" name="Text 5"/>
          <p:cNvSpPr/>
          <p:nvPr/>
        </p:nvSpPr>
        <p:spPr>
          <a:xfrm>
            <a:off x="1417320" y="1554480"/>
            <a:ext cx="201168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Gamma</a:t>
            </a:r>
            <a:endParaRPr lang="en-US" sz="1450" dirty="0"/>
          </a:p>
        </p:txBody>
      </p:sp>
      <p:sp>
        <p:nvSpPr>
          <p:cNvPr id="10" name="Text 6"/>
          <p:cNvSpPr/>
          <p:nvPr/>
        </p:nvSpPr>
        <p:spPr>
          <a:xfrm>
            <a:off x="1417320" y="1865376"/>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Decks, docs and one-page sites from a prompt.</a:t>
            </a:r>
            <a:endParaRPr lang="en-US" sz="1200" dirty="0"/>
          </a:p>
        </p:txBody>
      </p:sp>
      <p:sp>
        <p:nvSpPr>
          <p:cNvPr id="11" name="Text 7"/>
          <p:cNvSpPr/>
          <p:nvPr/>
        </p:nvSpPr>
        <p:spPr>
          <a:xfrm>
            <a:off x="8321040" y="1554480"/>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400 credits · Plus $9/mo</a:t>
            </a:r>
            <a:endParaRPr lang="en-US" sz="1150" dirty="0"/>
          </a:p>
        </p:txBody>
      </p:sp>
      <p:sp>
        <p:nvSpPr>
          <p:cNvPr id="12" name="Shape 8"/>
          <p:cNvSpPr/>
          <p:nvPr/>
        </p:nvSpPr>
        <p:spPr>
          <a:xfrm>
            <a:off x="548640" y="2395728"/>
            <a:ext cx="11109960" cy="804672"/>
          </a:xfrm>
          <a:prstGeom prst="roundRect">
            <a:avLst>
              <a:gd name="adj" fmla="val 10227"/>
            </a:avLst>
          </a:prstGeom>
          <a:solidFill>
            <a:srgbClr val="F5F8FC"/>
          </a:solidFill>
          <a:ln w="12700">
            <a:solidFill>
              <a:srgbClr val="E1E6F0"/>
            </a:solidFill>
            <a:prstDash val="solid"/>
          </a:ln>
        </p:spPr>
      </p:sp>
      <p:sp>
        <p:nvSpPr>
          <p:cNvPr id="13" name="Shape 9"/>
          <p:cNvSpPr/>
          <p:nvPr/>
        </p:nvSpPr>
        <p:spPr>
          <a:xfrm>
            <a:off x="777240" y="2560320"/>
            <a:ext cx="457200" cy="457200"/>
          </a:xfrm>
          <a:prstGeom prst="ellipse">
            <a:avLst/>
          </a:prstGeom>
          <a:solidFill>
            <a:srgbClr val="29A9E1"/>
          </a:solidFill>
          <a:ln/>
        </p:spPr>
      </p:sp>
      <p:pic>
        <p:nvPicPr>
          <p:cNvPr id="14" name="Image 1" descr="icons/video.png">    </p:cNvPr>
          <p:cNvPicPr>
            <a:picLocks noChangeAspect="1"/>
          </p:cNvPicPr>
          <p:nvPr/>
        </p:nvPicPr>
        <p:blipFill>
          <a:blip r:embed="rId3"/>
          <a:stretch>
            <a:fillRect/>
          </a:stretch>
        </p:blipFill>
        <p:spPr>
          <a:xfrm>
            <a:off x="891540" y="2674620"/>
            <a:ext cx="228600" cy="228600"/>
          </a:xfrm>
          <a:prstGeom prst="rect">
            <a:avLst/>
          </a:prstGeom>
        </p:spPr>
      </p:pic>
      <p:sp>
        <p:nvSpPr>
          <p:cNvPr id="15" name="Text 10"/>
          <p:cNvSpPr/>
          <p:nvPr/>
        </p:nvSpPr>
        <p:spPr>
          <a:xfrm>
            <a:off x="1417320" y="2487168"/>
            <a:ext cx="201168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Opus Clip</a:t>
            </a:r>
            <a:endParaRPr lang="en-US" sz="1450" dirty="0"/>
          </a:p>
        </p:txBody>
      </p:sp>
      <p:sp>
        <p:nvSpPr>
          <p:cNvPr id="16" name="Text 11"/>
          <p:cNvSpPr/>
          <p:nvPr/>
        </p:nvSpPr>
        <p:spPr>
          <a:xfrm>
            <a:off x="1417320" y="2798064"/>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One long video → a week of short clips, auto-captioned.</a:t>
            </a:r>
            <a:endParaRPr lang="en-US" sz="1200" dirty="0"/>
          </a:p>
        </p:txBody>
      </p:sp>
      <p:sp>
        <p:nvSpPr>
          <p:cNvPr id="17" name="Text 12"/>
          <p:cNvSpPr/>
          <p:nvPr/>
        </p:nvSpPr>
        <p:spPr>
          <a:xfrm>
            <a:off x="8321040" y="2487168"/>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60 min/mo · from $15</a:t>
            </a:r>
            <a:endParaRPr lang="en-US" sz="1150" dirty="0"/>
          </a:p>
        </p:txBody>
      </p:sp>
      <p:sp>
        <p:nvSpPr>
          <p:cNvPr id="18" name="Shape 13"/>
          <p:cNvSpPr/>
          <p:nvPr/>
        </p:nvSpPr>
        <p:spPr>
          <a:xfrm>
            <a:off x="548640" y="3328416"/>
            <a:ext cx="11109960" cy="804672"/>
          </a:xfrm>
          <a:prstGeom prst="roundRect">
            <a:avLst>
              <a:gd name="adj" fmla="val 10227"/>
            </a:avLst>
          </a:prstGeom>
          <a:solidFill>
            <a:srgbClr val="F5F8FC"/>
          </a:solidFill>
          <a:ln w="12700">
            <a:solidFill>
              <a:srgbClr val="E1E6F0"/>
            </a:solidFill>
            <a:prstDash val="solid"/>
          </a:ln>
        </p:spPr>
      </p:sp>
      <p:sp>
        <p:nvSpPr>
          <p:cNvPr id="19" name="Shape 14"/>
          <p:cNvSpPr/>
          <p:nvPr/>
        </p:nvSpPr>
        <p:spPr>
          <a:xfrm>
            <a:off x="777240" y="3493008"/>
            <a:ext cx="457200" cy="457200"/>
          </a:xfrm>
          <a:prstGeom prst="ellipse">
            <a:avLst/>
          </a:prstGeom>
          <a:solidFill>
            <a:srgbClr val="151F4A"/>
          </a:solidFill>
          <a:ln/>
        </p:spPr>
      </p:sp>
      <p:pic>
        <p:nvPicPr>
          <p:cNvPr id="20" name="Image 2" descr="icons/users.png">    </p:cNvPr>
          <p:cNvPicPr>
            <a:picLocks noChangeAspect="1"/>
          </p:cNvPicPr>
          <p:nvPr/>
        </p:nvPicPr>
        <p:blipFill>
          <a:blip r:embed="rId4"/>
          <a:stretch>
            <a:fillRect/>
          </a:stretch>
        </p:blipFill>
        <p:spPr>
          <a:xfrm>
            <a:off x="891540" y="3607308"/>
            <a:ext cx="228600" cy="228600"/>
          </a:xfrm>
          <a:prstGeom prst="rect">
            <a:avLst/>
          </a:prstGeom>
        </p:spPr>
      </p:pic>
      <p:sp>
        <p:nvSpPr>
          <p:cNvPr id="21" name="Text 15"/>
          <p:cNvSpPr/>
          <p:nvPr/>
        </p:nvSpPr>
        <p:spPr>
          <a:xfrm>
            <a:off x="1417320" y="3419856"/>
            <a:ext cx="201168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HeyGen</a:t>
            </a:r>
            <a:endParaRPr lang="en-US" sz="1450" dirty="0"/>
          </a:p>
        </p:txBody>
      </p:sp>
      <p:sp>
        <p:nvSpPr>
          <p:cNvPr id="22" name="Text 16"/>
          <p:cNvSpPr/>
          <p:nvPr/>
        </p:nvSpPr>
        <p:spPr>
          <a:xfrm>
            <a:off x="1417320" y="3730752"/>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Your AI avatar presents any script, on camera, in minutes.</a:t>
            </a:r>
            <a:endParaRPr lang="en-US" sz="1200" dirty="0"/>
          </a:p>
        </p:txBody>
      </p:sp>
      <p:sp>
        <p:nvSpPr>
          <p:cNvPr id="23" name="Text 17"/>
          <p:cNvSpPr/>
          <p:nvPr/>
        </p:nvSpPr>
        <p:spPr>
          <a:xfrm>
            <a:off x="8321040" y="3419856"/>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3 free videos/mo · from $29</a:t>
            </a:r>
            <a:endParaRPr lang="en-US" sz="1150" dirty="0"/>
          </a:p>
        </p:txBody>
      </p:sp>
      <p:sp>
        <p:nvSpPr>
          <p:cNvPr id="24" name="Shape 18"/>
          <p:cNvSpPr/>
          <p:nvPr/>
        </p:nvSpPr>
        <p:spPr>
          <a:xfrm>
            <a:off x="548640" y="4261104"/>
            <a:ext cx="11109960" cy="804672"/>
          </a:xfrm>
          <a:prstGeom prst="roundRect">
            <a:avLst>
              <a:gd name="adj" fmla="val 10227"/>
            </a:avLst>
          </a:prstGeom>
          <a:solidFill>
            <a:srgbClr val="F5F8FC"/>
          </a:solidFill>
          <a:ln w="12700">
            <a:solidFill>
              <a:srgbClr val="E1E6F0"/>
            </a:solidFill>
            <a:prstDash val="solid"/>
          </a:ln>
        </p:spPr>
      </p:sp>
      <p:sp>
        <p:nvSpPr>
          <p:cNvPr id="25" name="Shape 19"/>
          <p:cNvSpPr/>
          <p:nvPr/>
        </p:nvSpPr>
        <p:spPr>
          <a:xfrm>
            <a:off x="777240" y="4425696"/>
            <a:ext cx="457200" cy="457200"/>
          </a:xfrm>
          <a:prstGeom prst="ellipse">
            <a:avLst/>
          </a:prstGeom>
          <a:solidFill>
            <a:srgbClr val="35C1B1"/>
          </a:solidFill>
          <a:ln/>
        </p:spPr>
      </p:sp>
      <p:pic>
        <p:nvPicPr>
          <p:cNvPr id="26" name="Image 3" descr="icons/microphone.png">    </p:cNvPr>
          <p:cNvPicPr>
            <a:picLocks noChangeAspect="1"/>
          </p:cNvPicPr>
          <p:nvPr/>
        </p:nvPicPr>
        <p:blipFill>
          <a:blip r:embed="rId5"/>
          <a:stretch>
            <a:fillRect/>
          </a:stretch>
        </p:blipFill>
        <p:spPr>
          <a:xfrm>
            <a:off x="891540" y="4539996"/>
            <a:ext cx="228600" cy="228600"/>
          </a:xfrm>
          <a:prstGeom prst="rect">
            <a:avLst/>
          </a:prstGeom>
        </p:spPr>
      </p:pic>
      <p:sp>
        <p:nvSpPr>
          <p:cNvPr id="27" name="Text 20"/>
          <p:cNvSpPr/>
          <p:nvPr/>
        </p:nvSpPr>
        <p:spPr>
          <a:xfrm>
            <a:off x="1417320" y="4352544"/>
            <a:ext cx="201168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ElevenLabs</a:t>
            </a:r>
            <a:endParaRPr lang="en-US" sz="1450" dirty="0"/>
          </a:p>
        </p:txBody>
      </p:sp>
      <p:sp>
        <p:nvSpPr>
          <p:cNvPr id="28" name="Text 21"/>
          <p:cNvSpPr/>
          <p:nvPr/>
        </p:nvSpPr>
        <p:spPr>
          <a:xfrm>
            <a:off x="1417320" y="4663440"/>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Studio voiceovers — including a clone of your own voice.</a:t>
            </a:r>
            <a:endParaRPr lang="en-US" sz="1200" dirty="0"/>
          </a:p>
        </p:txBody>
      </p:sp>
      <p:sp>
        <p:nvSpPr>
          <p:cNvPr id="29" name="Text 22"/>
          <p:cNvSpPr/>
          <p:nvPr/>
        </p:nvSpPr>
        <p:spPr>
          <a:xfrm>
            <a:off x="8321040" y="4352544"/>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tier · from $6/mo</a:t>
            </a:r>
            <a:endParaRPr lang="en-US" sz="1150" dirty="0"/>
          </a:p>
        </p:txBody>
      </p:sp>
      <p:sp>
        <p:nvSpPr>
          <p:cNvPr id="30" name="Shape 23"/>
          <p:cNvSpPr/>
          <p:nvPr/>
        </p:nvSpPr>
        <p:spPr>
          <a:xfrm>
            <a:off x="548640" y="5193792"/>
            <a:ext cx="11109960" cy="804672"/>
          </a:xfrm>
          <a:prstGeom prst="roundRect">
            <a:avLst>
              <a:gd name="adj" fmla="val 10227"/>
            </a:avLst>
          </a:prstGeom>
          <a:solidFill>
            <a:srgbClr val="F5F8FC"/>
          </a:solidFill>
          <a:ln w="12700">
            <a:solidFill>
              <a:srgbClr val="E1E6F0"/>
            </a:solidFill>
            <a:prstDash val="solid"/>
          </a:ln>
        </p:spPr>
      </p:sp>
      <p:sp>
        <p:nvSpPr>
          <p:cNvPr id="31" name="Shape 24"/>
          <p:cNvSpPr/>
          <p:nvPr/>
        </p:nvSpPr>
        <p:spPr>
          <a:xfrm>
            <a:off x="777240" y="5358384"/>
            <a:ext cx="457200" cy="457200"/>
          </a:xfrm>
          <a:prstGeom prst="ellipse">
            <a:avLst/>
          </a:prstGeom>
          <a:solidFill>
            <a:srgbClr val="29A9E1"/>
          </a:solidFill>
          <a:ln/>
        </p:spPr>
      </p:sp>
      <p:pic>
        <p:nvPicPr>
          <p:cNvPr id="32" name="Image 4" descr="icons/calendar.png">    </p:cNvPr>
          <p:cNvPicPr>
            <a:picLocks noChangeAspect="1"/>
          </p:cNvPicPr>
          <p:nvPr/>
        </p:nvPicPr>
        <p:blipFill>
          <a:blip r:embed="rId6"/>
          <a:stretch>
            <a:fillRect/>
          </a:stretch>
        </p:blipFill>
        <p:spPr>
          <a:xfrm>
            <a:off x="891540" y="5472684"/>
            <a:ext cx="228600" cy="228600"/>
          </a:xfrm>
          <a:prstGeom prst="rect">
            <a:avLst/>
          </a:prstGeom>
        </p:spPr>
      </p:pic>
      <p:sp>
        <p:nvSpPr>
          <p:cNvPr id="33" name="Text 25"/>
          <p:cNvSpPr/>
          <p:nvPr/>
        </p:nvSpPr>
        <p:spPr>
          <a:xfrm>
            <a:off x="1417320" y="5285232"/>
            <a:ext cx="201168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Buffer</a:t>
            </a:r>
            <a:endParaRPr lang="en-US" sz="1450" dirty="0"/>
          </a:p>
        </p:txBody>
      </p:sp>
      <p:sp>
        <p:nvSpPr>
          <p:cNvPr id="34" name="Text 26"/>
          <p:cNvSpPr/>
          <p:nvPr/>
        </p:nvSpPr>
        <p:spPr>
          <a:xfrm>
            <a:off x="1417320" y="5596128"/>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Schedule everywhere, with an AI assistant for captions.</a:t>
            </a:r>
            <a:endParaRPr lang="en-US" sz="1200" dirty="0"/>
          </a:p>
        </p:txBody>
      </p:sp>
      <p:sp>
        <p:nvSpPr>
          <p:cNvPr id="35" name="Text 27"/>
          <p:cNvSpPr/>
          <p:nvPr/>
        </p:nvSpPr>
        <p:spPr>
          <a:xfrm>
            <a:off x="8321040" y="5285232"/>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plan · ~$6/channel</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SPOTLIGHT</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Google Flow: a film studio in your browser</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806440" cy="4526280"/>
          </a:xfrm>
          <a:prstGeom prst="roundRect">
            <a:avLst>
              <a:gd name="adj" fmla="val 1818"/>
            </a:avLst>
          </a:prstGeom>
          <a:solidFill>
            <a:srgbClr val="F5F8FC"/>
          </a:solidFill>
          <a:ln w="12700">
            <a:solidFill>
              <a:srgbClr val="E1E6F0"/>
            </a:solidFill>
            <a:prstDash val="solid"/>
          </a:ln>
        </p:spPr>
      </p:sp>
      <p:sp>
        <p:nvSpPr>
          <p:cNvPr id="7" name="Text 4"/>
          <p:cNvSpPr/>
          <p:nvPr/>
        </p:nvSpPr>
        <p:spPr>
          <a:xfrm>
            <a:off x="868680" y="1737360"/>
            <a:ext cx="512064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What it does</a:t>
            </a:r>
            <a:endParaRPr lang="en-US" sz="1500" dirty="0"/>
          </a:p>
        </p:txBody>
      </p:sp>
      <p:sp>
        <p:nvSpPr>
          <p:cNvPr id="8" name="Text 5"/>
          <p:cNvSpPr/>
          <p:nvPr/>
        </p:nvSpPr>
        <p:spPr>
          <a:xfrm>
            <a:off x="868680" y="2194560"/>
            <a:ext cx="5212080" cy="2377440"/>
          </a:xfrm>
          <a:prstGeom prst="rect">
            <a:avLst/>
          </a:prstGeom>
          <a:noFill/>
          <a:ln/>
        </p:spPr>
        <p:txBody>
          <a:bodyPr wrap="square" lIns="0" tIns="0" rIns="0" bIns="0" rtlCol="0" anchor="ctr"/>
          <a:lstStyle/>
          <a:p>
            <a:pPr marL="152400" indent="-152400">
              <a:spcAft>
                <a:spcPts val="1200"/>
              </a:spcAft>
              <a:buSzPct val="100000"/>
              <a:buChar char="•"/>
            </a:pPr>
            <a:r>
              <a:rPr lang="en-US" sz="1350" dirty="0">
                <a:solidFill>
                  <a:srgbClr val="232A3E"/>
                </a:solidFill>
                <a:latin typeface="Calibri" pitchFamily="34" charset="0"/>
                <a:ea typeface="Calibri" pitchFamily="34" charset="-122"/>
                <a:cs typeface="Calibri" pitchFamily="34" charset="-120"/>
              </a:rPr>
              <a:t>Text or photos → cinematic video, powered by Veo 3.1</a:t>
            </a:r>
            <a:endParaRPr lang="en-US" sz="1350" dirty="0"/>
          </a:p>
          <a:p>
            <a:pPr marL="152400" indent="-152400">
              <a:spcAft>
                <a:spcPts val="1200"/>
              </a:spcAft>
              <a:buSzPct val="100000"/>
              <a:buChar char="•"/>
            </a:pPr>
            <a:r>
              <a:rPr lang="en-US" sz="1350" dirty="0">
                <a:solidFill>
                  <a:srgbClr val="232A3E"/>
                </a:solidFill>
                <a:latin typeface="Calibri" pitchFamily="34" charset="0"/>
                <a:ea typeface="Calibri" pitchFamily="34" charset="-122"/>
                <a:cs typeface="Calibri" pitchFamily="34" charset="-120"/>
              </a:rPr>
              <a:t>Scene-builder timeline: string clips into a real ad</a:t>
            </a:r>
            <a:endParaRPr lang="en-US" sz="1350" dirty="0"/>
          </a:p>
          <a:p>
            <a:pPr marL="152400" indent="-152400">
              <a:spcAft>
                <a:spcPts val="1200"/>
              </a:spcAft>
              <a:buSzPct val="100000"/>
              <a:buChar char="•"/>
            </a:pPr>
            <a:r>
              <a:rPr lang="en-US" sz="1350" dirty="0">
                <a:solidFill>
                  <a:srgbClr val="232A3E"/>
                </a:solidFill>
                <a:latin typeface="Calibri" pitchFamily="34" charset="0"/>
                <a:ea typeface="Calibri" pitchFamily="34" charset="-122"/>
                <a:cs typeface="Calibri" pitchFamily="34" charset="-120"/>
              </a:rPr>
              <a:t>Camera moves, styles, and consistent characters</a:t>
            </a:r>
            <a:endParaRPr lang="en-US" sz="1350" dirty="0"/>
          </a:p>
          <a:p>
            <a:pPr marL="152400" indent="-152400">
              <a:spcAft>
                <a:spcPts val="1200"/>
              </a:spcAft>
              <a:buSzPct val="100000"/>
              <a:buChar char="•"/>
            </a:pPr>
            <a:r>
              <a:rPr lang="en-US" sz="1350" dirty="0">
                <a:solidFill>
                  <a:srgbClr val="232A3E"/>
                </a:solidFill>
                <a:latin typeface="Calibri" pitchFamily="34" charset="0"/>
                <a:ea typeface="Calibri" pitchFamily="34" charset="-122"/>
                <a:cs typeface="Calibri" pitchFamily="34" charset="-120"/>
              </a:rPr>
              <a:t>Runs on credits included in Google AI plans</a:t>
            </a:r>
            <a:endParaRPr lang="en-US" sz="1350" dirty="0"/>
          </a:p>
        </p:txBody>
      </p:sp>
      <p:sp>
        <p:nvSpPr>
          <p:cNvPr id="9" name="Text 6"/>
          <p:cNvSpPr/>
          <p:nvPr/>
        </p:nvSpPr>
        <p:spPr>
          <a:xfrm>
            <a:off x="868680" y="5029200"/>
            <a:ext cx="5120640" cy="685800"/>
          </a:xfrm>
          <a:prstGeom prst="rect">
            <a:avLst/>
          </a:prstGeom>
          <a:noFill/>
          <a:ln/>
        </p:spPr>
        <p:txBody>
          <a:bodyPr wrap="square" lIns="0" tIns="0" rIns="0" bIns="0" rtlCol="0" anchor="ctr"/>
          <a:lstStyle/>
          <a:p>
            <a:pPr indent="0" marL="0">
              <a:buNone/>
            </a:pPr>
            <a:r>
              <a:rPr lang="en-US" sz="1350" i="1" dirty="0">
                <a:solidFill>
                  <a:srgbClr val="68708A"/>
                </a:solidFill>
                <a:latin typeface="Calibri" pitchFamily="34" charset="0"/>
                <a:ea typeface="Calibri" pitchFamily="34" charset="-122"/>
                <a:cs typeface="Calibri" pitchFamily="34" charset="-120"/>
              </a:rPr>
              <a:t>Product ads · event recaps · brand stories — without a camera crew.</a:t>
            </a:r>
            <a:endParaRPr lang="en-US" sz="1350" dirty="0"/>
          </a:p>
        </p:txBody>
      </p:sp>
      <p:sp>
        <p:nvSpPr>
          <p:cNvPr id="10" name="Shape 7"/>
          <p:cNvSpPr/>
          <p:nvPr/>
        </p:nvSpPr>
        <p:spPr>
          <a:xfrm>
            <a:off x="6583680" y="1463040"/>
            <a:ext cx="5074920" cy="4526280"/>
          </a:xfrm>
          <a:prstGeom prst="roundRect">
            <a:avLst>
              <a:gd name="adj" fmla="val 1818"/>
            </a:avLst>
          </a:prstGeom>
          <a:solidFill>
            <a:srgbClr val="151F4A"/>
          </a:solidFill>
          <a:ln/>
        </p:spPr>
      </p:sp>
      <p:sp>
        <p:nvSpPr>
          <p:cNvPr id="11" name="Text 8"/>
          <p:cNvSpPr/>
          <p:nvPr/>
        </p:nvSpPr>
        <p:spPr>
          <a:xfrm>
            <a:off x="6903720" y="1755648"/>
            <a:ext cx="4389120" cy="274320"/>
          </a:xfrm>
          <a:prstGeom prst="rect">
            <a:avLst/>
          </a:prstGeom>
          <a:noFill/>
          <a:ln/>
        </p:spPr>
        <p:txBody>
          <a:bodyPr wrap="square" lIns="0" tIns="0" rIns="0" bIns="0" rtlCol="0" anchor="ctr"/>
          <a:lstStyle/>
          <a:p>
            <a:pPr indent="0" marL="0">
              <a:buNone/>
            </a:pPr>
            <a:r>
              <a:rPr lang="en-US" sz="1100" b="1" spc="200" kern="0" dirty="0">
                <a:solidFill>
                  <a:srgbClr val="F0C93C"/>
                </a:solidFill>
                <a:latin typeface="Arial" pitchFamily="34" charset="0"/>
                <a:ea typeface="Arial" pitchFamily="34" charset="-122"/>
                <a:cs typeface="Arial" pitchFamily="34" charset="-120"/>
              </a:rPr>
              <a:t>THE NIGERIA MATH</a:t>
            </a:r>
            <a:endParaRPr lang="en-US" sz="1100" dirty="0"/>
          </a:p>
        </p:txBody>
      </p:sp>
      <p:sp>
        <p:nvSpPr>
          <p:cNvPr id="12" name="Text 9"/>
          <p:cNvSpPr/>
          <p:nvPr/>
        </p:nvSpPr>
        <p:spPr>
          <a:xfrm>
            <a:off x="6903720" y="2103120"/>
            <a:ext cx="4389120" cy="5943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₦7,450 / month</a:t>
            </a:r>
            <a:endParaRPr lang="en-US" sz="3400" dirty="0"/>
          </a:p>
        </p:txBody>
      </p:sp>
      <p:sp>
        <p:nvSpPr>
          <p:cNvPr id="13" name="Text 10"/>
          <p:cNvSpPr/>
          <p:nvPr/>
        </p:nvSpPr>
        <p:spPr>
          <a:xfrm>
            <a:off x="6903720" y="2880360"/>
            <a:ext cx="4434840" cy="2011680"/>
          </a:xfrm>
          <a:prstGeom prst="rect">
            <a:avLst/>
          </a:prstGeom>
          <a:noFill/>
          <a:ln/>
        </p:spPr>
        <p:txBody>
          <a:bodyPr wrap="square" lIns="0" tIns="0" rIns="0" bIns="0" rtlCol="0" anchor="ctr"/>
          <a:lstStyle/>
          <a:p>
            <a:pPr marL="152400" indent="-152400">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Flow + Veo 3 Fast video credits</a:t>
            </a:r>
            <a:endParaRPr lang="en-US" sz="1350" dirty="0"/>
          </a:p>
          <a:p>
            <a:pPr marL="152400" indent="-152400">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Gemini Pro + NotebookLM upgrades</a:t>
            </a:r>
            <a:endParaRPr lang="en-US" sz="1350" dirty="0"/>
          </a:p>
          <a:p>
            <a:pPr marL="152400" indent="-152400">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200 GB storage</a:t>
            </a:r>
            <a:endParaRPr lang="en-US" sz="1350" dirty="0"/>
          </a:p>
          <a:p>
            <a:pPr marL="152400" indent="-152400">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Students: 12 months FREE (Aug 2026)</a:t>
            </a:r>
            <a:endParaRPr lang="en-US" sz="1350" dirty="0"/>
          </a:p>
        </p:txBody>
      </p:sp>
      <p:sp>
        <p:nvSpPr>
          <p:cNvPr id="14" name="Text 11"/>
          <p:cNvSpPr/>
          <p:nvPr/>
        </p:nvSpPr>
        <p:spPr>
          <a:xfrm>
            <a:off x="6903720" y="5257800"/>
            <a:ext cx="4389120" cy="548640"/>
          </a:xfrm>
          <a:prstGeom prst="rect">
            <a:avLst/>
          </a:prstGeom>
          <a:noFill/>
          <a:ln/>
        </p:spPr>
        <p:txBody>
          <a:bodyPr wrap="square" lIns="0" tIns="0" rIns="0" bIns="0" rtlCol="0" anchor="ctr"/>
          <a:lstStyle/>
          <a:p>
            <a:pPr indent="0" marL="0">
              <a:buNone/>
            </a:pPr>
            <a:r>
              <a:rPr lang="en-US" sz="1300" b="1" dirty="0">
                <a:solidFill>
                  <a:srgbClr val="F0C93C"/>
                </a:solidFill>
                <a:latin typeface="Arial" pitchFamily="34" charset="0"/>
                <a:ea typeface="Arial" pitchFamily="34" charset="-122"/>
                <a:cs typeface="Arial" pitchFamily="34" charset="-120"/>
              </a:rPr>
              <a:t>Less than one billboard day — for a video department.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SALES &amp; RESEARCH</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Know your market. Find your buyers.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11109960" cy="804672"/>
          </a:xfrm>
          <a:prstGeom prst="roundRect">
            <a:avLst>
              <a:gd name="adj" fmla="val 10227"/>
            </a:avLst>
          </a:prstGeom>
          <a:solidFill>
            <a:srgbClr val="F5F8FC"/>
          </a:solidFill>
          <a:ln w="12700">
            <a:solidFill>
              <a:srgbClr val="E1E6F0"/>
            </a:solidFill>
            <a:prstDash val="solid"/>
          </a:ln>
        </p:spPr>
      </p:sp>
      <p:sp>
        <p:nvSpPr>
          <p:cNvPr id="7" name="Shape 4"/>
          <p:cNvSpPr/>
          <p:nvPr/>
        </p:nvSpPr>
        <p:spPr>
          <a:xfrm>
            <a:off x="777240" y="1627632"/>
            <a:ext cx="457200" cy="457200"/>
          </a:xfrm>
          <a:prstGeom prst="ellipse">
            <a:avLst/>
          </a:prstGeom>
          <a:solidFill>
            <a:srgbClr val="35C1B1"/>
          </a:solidFill>
          <a:ln/>
        </p:spPr>
      </p:sp>
      <p:pic>
        <p:nvPicPr>
          <p:cNvPr id="8" name="Image 0" descr="icons/magnifier.png">    </p:cNvPr>
          <p:cNvPicPr>
            <a:picLocks noChangeAspect="1"/>
          </p:cNvPicPr>
          <p:nvPr/>
        </p:nvPicPr>
        <p:blipFill>
          <a:blip r:embed="rId2"/>
          <a:stretch>
            <a:fillRect/>
          </a:stretch>
        </p:blipFill>
        <p:spPr>
          <a:xfrm>
            <a:off x="891540" y="1741932"/>
            <a:ext cx="228600" cy="228600"/>
          </a:xfrm>
          <a:prstGeom prst="rect">
            <a:avLst/>
          </a:prstGeom>
        </p:spPr>
      </p:pic>
      <p:sp>
        <p:nvSpPr>
          <p:cNvPr id="9" name="Text 5"/>
          <p:cNvSpPr/>
          <p:nvPr/>
        </p:nvSpPr>
        <p:spPr>
          <a:xfrm>
            <a:off x="1417320" y="1554480"/>
            <a:ext cx="237744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Perplexity</a:t>
            </a:r>
            <a:endParaRPr lang="en-US" sz="1450" dirty="0"/>
          </a:p>
        </p:txBody>
      </p:sp>
      <p:sp>
        <p:nvSpPr>
          <p:cNvPr id="10" name="Text 6"/>
          <p:cNvSpPr/>
          <p:nvPr/>
        </p:nvSpPr>
        <p:spPr>
          <a:xfrm>
            <a:off x="1417320" y="1865376"/>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Research with citations — market scans and competitor checks you can trust.</a:t>
            </a:r>
            <a:endParaRPr lang="en-US" sz="1200" dirty="0"/>
          </a:p>
        </p:txBody>
      </p:sp>
      <p:sp>
        <p:nvSpPr>
          <p:cNvPr id="11" name="Text 7"/>
          <p:cNvSpPr/>
          <p:nvPr/>
        </p:nvSpPr>
        <p:spPr>
          <a:xfrm>
            <a:off x="8321040" y="1554480"/>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 Pro $20/mo</a:t>
            </a:r>
            <a:endParaRPr lang="en-US" sz="1150" dirty="0"/>
          </a:p>
        </p:txBody>
      </p:sp>
      <p:sp>
        <p:nvSpPr>
          <p:cNvPr id="12" name="Shape 8"/>
          <p:cNvSpPr/>
          <p:nvPr/>
        </p:nvSpPr>
        <p:spPr>
          <a:xfrm>
            <a:off x="548640" y="2395728"/>
            <a:ext cx="11109960" cy="804672"/>
          </a:xfrm>
          <a:prstGeom prst="roundRect">
            <a:avLst>
              <a:gd name="adj" fmla="val 10227"/>
            </a:avLst>
          </a:prstGeom>
          <a:solidFill>
            <a:srgbClr val="F5F8FC"/>
          </a:solidFill>
          <a:ln w="12700">
            <a:solidFill>
              <a:srgbClr val="E1E6F0"/>
            </a:solidFill>
            <a:prstDash val="solid"/>
          </a:ln>
        </p:spPr>
      </p:sp>
      <p:sp>
        <p:nvSpPr>
          <p:cNvPr id="13" name="Shape 9"/>
          <p:cNvSpPr/>
          <p:nvPr/>
        </p:nvSpPr>
        <p:spPr>
          <a:xfrm>
            <a:off x="777240" y="2560320"/>
            <a:ext cx="457200" cy="457200"/>
          </a:xfrm>
          <a:prstGeom prst="ellipse">
            <a:avLst/>
          </a:prstGeom>
          <a:solidFill>
            <a:srgbClr val="29A9E1"/>
          </a:solidFill>
          <a:ln/>
        </p:spPr>
      </p:sp>
      <p:pic>
        <p:nvPicPr>
          <p:cNvPr id="14" name="Image 1" descr="icons/brain.png">    </p:cNvPr>
          <p:cNvPicPr>
            <a:picLocks noChangeAspect="1"/>
          </p:cNvPicPr>
          <p:nvPr/>
        </p:nvPicPr>
        <p:blipFill>
          <a:blip r:embed="rId3"/>
          <a:stretch>
            <a:fillRect/>
          </a:stretch>
        </p:blipFill>
        <p:spPr>
          <a:xfrm>
            <a:off x="891540" y="2674620"/>
            <a:ext cx="228600" cy="228600"/>
          </a:xfrm>
          <a:prstGeom prst="rect">
            <a:avLst/>
          </a:prstGeom>
        </p:spPr>
      </p:pic>
      <p:sp>
        <p:nvSpPr>
          <p:cNvPr id="15" name="Text 10"/>
          <p:cNvSpPr/>
          <p:nvPr/>
        </p:nvSpPr>
        <p:spPr>
          <a:xfrm>
            <a:off x="1417320" y="2487168"/>
            <a:ext cx="237744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NotebookLM</a:t>
            </a:r>
            <a:endParaRPr lang="en-US" sz="1450" dirty="0"/>
          </a:p>
        </p:txBody>
      </p:sp>
      <p:sp>
        <p:nvSpPr>
          <p:cNvPr id="16" name="Text 11"/>
          <p:cNvSpPr/>
          <p:nvPr/>
        </p:nvSpPr>
        <p:spPr>
          <a:xfrm>
            <a:off x="1417320" y="2798064"/>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Feed it your documents; ask anything — it even makes a podcast of them.</a:t>
            </a:r>
            <a:endParaRPr lang="en-US" sz="1200" dirty="0"/>
          </a:p>
        </p:txBody>
      </p:sp>
      <p:sp>
        <p:nvSpPr>
          <p:cNvPr id="17" name="Text 12"/>
          <p:cNvSpPr/>
          <p:nvPr/>
        </p:nvSpPr>
        <p:spPr>
          <a:xfrm>
            <a:off x="8321040" y="2487168"/>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(in ₦7,450 plan)</a:t>
            </a:r>
            <a:endParaRPr lang="en-US" sz="1150" dirty="0"/>
          </a:p>
        </p:txBody>
      </p:sp>
      <p:sp>
        <p:nvSpPr>
          <p:cNvPr id="18" name="Shape 13"/>
          <p:cNvSpPr/>
          <p:nvPr/>
        </p:nvSpPr>
        <p:spPr>
          <a:xfrm>
            <a:off x="548640" y="3328416"/>
            <a:ext cx="11109960" cy="804672"/>
          </a:xfrm>
          <a:prstGeom prst="roundRect">
            <a:avLst>
              <a:gd name="adj" fmla="val 10227"/>
            </a:avLst>
          </a:prstGeom>
          <a:solidFill>
            <a:srgbClr val="F5F8FC"/>
          </a:solidFill>
          <a:ln w="12700">
            <a:solidFill>
              <a:srgbClr val="E1E6F0"/>
            </a:solidFill>
            <a:prstDash val="solid"/>
          </a:ln>
        </p:spPr>
      </p:sp>
      <p:sp>
        <p:nvSpPr>
          <p:cNvPr id="19" name="Shape 14"/>
          <p:cNvSpPr/>
          <p:nvPr/>
        </p:nvSpPr>
        <p:spPr>
          <a:xfrm>
            <a:off x="777240" y="3493008"/>
            <a:ext cx="457200" cy="457200"/>
          </a:xfrm>
          <a:prstGeom prst="ellipse">
            <a:avLst/>
          </a:prstGeom>
          <a:solidFill>
            <a:srgbClr val="151F4A"/>
          </a:solidFill>
          <a:ln/>
        </p:spPr>
      </p:sp>
      <p:pic>
        <p:nvPicPr>
          <p:cNvPr id="20" name="Image 2" descr="icons/database.png">    </p:cNvPr>
          <p:cNvPicPr>
            <a:picLocks noChangeAspect="1"/>
          </p:cNvPicPr>
          <p:nvPr/>
        </p:nvPicPr>
        <p:blipFill>
          <a:blip r:embed="rId4"/>
          <a:stretch>
            <a:fillRect/>
          </a:stretch>
        </p:blipFill>
        <p:spPr>
          <a:xfrm>
            <a:off x="891540" y="3607308"/>
            <a:ext cx="228600" cy="228600"/>
          </a:xfrm>
          <a:prstGeom prst="rect">
            <a:avLst/>
          </a:prstGeom>
        </p:spPr>
      </p:pic>
      <p:sp>
        <p:nvSpPr>
          <p:cNvPr id="21" name="Text 15"/>
          <p:cNvSpPr/>
          <p:nvPr/>
        </p:nvSpPr>
        <p:spPr>
          <a:xfrm>
            <a:off x="1417320" y="3419856"/>
            <a:ext cx="237744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Apollo.io</a:t>
            </a:r>
            <a:endParaRPr lang="en-US" sz="1450" dirty="0"/>
          </a:p>
        </p:txBody>
      </p:sp>
      <p:sp>
        <p:nvSpPr>
          <p:cNvPr id="22" name="Text 16"/>
          <p:cNvSpPr/>
          <p:nvPr/>
        </p:nvSpPr>
        <p:spPr>
          <a:xfrm>
            <a:off x="1417320" y="3730752"/>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275M+ B2B contacts, filters, and automated outreach sequences.</a:t>
            </a:r>
            <a:endParaRPr lang="en-US" sz="1200" dirty="0"/>
          </a:p>
        </p:txBody>
      </p:sp>
      <p:sp>
        <p:nvSpPr>
          <p:cNvPr id="23" name="Text 17"/>
          <p:cNvSpPr/>
          <p:nvPr/>
        </p:nvSpPr>
        <p:spPr>
          <a:xfrm>
            <a:off x="8321040" y="3419856"/>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tier · from $49</a:t>
            </a:r>
            <a:endParaRPr lang="en-US" sz="1150" dirty="0"/>
          </a:p>
        </p:txBody>
      </p:sp>
      <p:sp>
        <p:nvSpPr>
          <p:cNvPr id="24" name="Shape 18"/>
          <p:cNvSpPr/>
          <p:nvPr/>
        </p:nvSpPr>
        <p:spPr>
          <a:xfrm>
            <a:off x="548640" y="4261104"/>
            <a:ext cx="11109960" cy="804672"/>
          </a:xfrm>
          <a:prstGeom prst="roundRect">
            <a:avLst>
              <a:gd name="adj" fmla="val 10227"/>
            </a:avLst>
          </a:prstGeom>
          <a:solidFill>
            <a:srgbClr val="F5F8FC"/>
          </a:solidFill>
          <a:ln w="12700">
            <a:solidFill>
              <a:srgbClr val="E1E6F0"/>
            </a:solidFill>
            <a:prstDash val="solid"/>
          </a:ln>
        </p:spPr>
      </p:sp>
      <p:sp>
        <p:nvSpPr>
          <p:cNvPr id="25" name="Shape 19"/>
          <p:cNvSpPr/>
          <p:nvPr/>
        </p:nvSpPr>
        <p:spPr>
          <a:xfrm>
            <a:off x="777240" y="4425696"/>
            <a:ext cx="457200" cy="457200"/>
          </a:xfrm>
          <a:prstGeom prst="ellipse">
            <a:avLst/>
          </a:prstGeom>
          <a:solidFill>
            <a:srgbClr val="35C1B1"/>
          </a:solidFill>
          <a:ln/>
        </p:spPr>
      </p:sp>
      <p:pic>
        <p:nvPicPr>
          <p:cNvPr id="26" name="Image 3" descr="icons/funnel.png">    </p:cNvPr>
          <p:cNvPicPr>
            <a:picLocks noChangeAspect="1"/>
          </p:cNvPicPr>
          <p:nvPr/>
        </p:nvPicPr>
        <p:blipFill>
          <a:blip r:embed="rId5"/>
          <a:stretch>
            <a:fillRect/>
          </a:stretch>
        </p:blipFill>
        <p:spPr>
          <a:xfrm>
            <a:off x="891540" y="4539996"/>
            <a:ext cx="228600" cy="228600"/>
          </a:xfrm>
          <a:prstGeom prst="rect">
            <a:avLst/>
          </a:prstGeom>
        </p:spPr>
      </p:pic>
      <p:sp>
        <p:nvSpPr>
          <p:cNvPr id="27" name="Text 20"/>
          <p:cNvSpPr/>
          <p:nvPr/>
        </p:nvSpPr>
        <p:spPr>
          <a:xfrm>
            <a:off x="1417320" y="4352544"/>
            <a:ext cx="237744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Clay</a:t>
            </a:r>
            <a:endParaRPr lang="en-US" sz="1450" dirty="0"/>
          </a:p>
        </p:txBody>
      </p:sp>
      <p:sp>
        <p:nvSpPr>
          <p:cNvPr id="28" name="Text 21"/>
          <p:cNvSpPr/>
          <p:nvPr/>
        </p:nvSpPr>
        <p:spPr>
          <a:xfrm>
            <a:off x="1417320" y="4663440"/>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Enriches and personalizes lead lists at scale — growth-team grade.</a:t>
            </a:r>
            <a:endParaRPr lang="en-US" sz="1200" dirty="0"/>
          </a:p>
        </p:txBody>
      </p:sp>
      <p:sp>
        <p:nvSpPr>
          <p:cNvPr id="29" name="Text 22"/>
          <p:cNvSpPr/>
          <p:nvPr/>
        </p:nvSpPr>
        <p:spPr>
          <a:xfrm>
            <a:off x="8321040" y="4352544"/>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credits · from $185</a:t>
            </a:r>
            <a:endParaRPr lang="en-US" sz="1150" dirty="0"/>
          </a:p>
        </p:txBody>
      </p:sp>
      <p:sp>
        <p:nvSpPr>
          <p:cNvPr id="30" name="Shape 23"/>
          <p:cNvSpPr/>
          <p:nvPr/>
        </p:nvSpPr>
        <p:spPr>
          <a:xfrm>
            <a:off x="548640" y="5193792"/>
            <a:ext cx="11109960" cy="804672"/>
          </a:xfrm>
          <a:prstGeom prst="roundRect">
            <a:avLst>
              <a:gd name="adj" fmla="val 10227"/>
            </a:avLst>
          </a:prstGeom>
          <a:solidFill>
            <a:srgbClr val="F5F8FC"/>
          </a:solidFill>
          <a:ln w="12700">
            <a:solidFill>
              <a:srgbClr val="E1E6F0"/>
            </a:solidFill>
            <a:prstDash val="solid"/>
          </a:ln>
        </p:spPr>
      </p:sp>
      <p:sp>
        <p:nvSpPr>
          <p:cNvPr id="31" name="Shape 24"/>
          <p:cNvSpPr/>
          <p:nvPr/>
        </p:nvSpPr>
        <p:spPr>
          <a:xfrm>
            <a:off x="777240" y="5358384"/>
            <a:ext cx="457200" cy="457200"/>
          </a:xfrm>
          <a:prstGeom prst="ellipse">
            <a:avLst/>
          </a:prstGeom>
          <a:solidFill>
            <a:srgbClr val="29A9E1"/>
          </a:solidFill>
          <a:ln/>
        </p:spPr>
      </p:sp>
      <p:pic>
        <p:nvPicPr>
          <p:cNvPr id="32" name="Image 4" descr="icons/handshake.png">    </p:cNvPr>
          <p:cNvPicPr>
            <a:picLocks noChangeAspect="1"/>
          </p:cNvPicPr>
          <p:nvPr/>
        </p:nvPicPr>
        <p:blipFill>
          <a:blip r:embed="rId6"/>
          <a:stretch>
            <a:fillRect/>
          </a:stretch>
        </p:blipFill>
        <p:spPr>
          <a:xfrm>
            <a:off x="891540" y="5472684"/>
            <a:ext cx="228600" cy="228600"/>
          </a:xfrm>
          <a:prstGeom prst="rect">
            <a:avLst/>
          </a:prstGeom>
        </p:spPr>
      </p:pic>
      <p:sp>
        <p:nvSpPr>
          <p:cNvPr id="33" name="Text 25"/>
          <p:cNvSpPr/>
          <p:nvPr/>
        </p:nvSpPr>
        <p:spPr>
          <a:xfrm>
            <a:off x="1417320" y="5285232"/>
            <a:ext cx="2377440" cy="320040"/>
          </a:xfrm>
          <a:prstGeom prst="rect">
            <a:avLst/>
          </a:prstGeom>
          <a:noFill/>
          <a:ln/>
        </p:spPr>
        <p:txBody>
          <a:bodyPr wrap="square" lIns="0" tIns="0" rIns="0" bIns="0" rtlCol="0" anchor="ctr"/>
          <a:lstStyle/>
          <a:p>
            <a:pPr indent="0" marL="0">
              <a:buNone/>
            </a:pPr>
            <a:r>
              <a:rPr lang="en-US" sz="1450" b="1" dirty="0">
                <a:solidFill>
                  <a:srgbClr val="151F4A"/>
                </a:solidFill>
                <a:latin typeface="Arial" pitchFamily="34" charset="0"/>
                <a:ea typeface="Arial" pitchFamily="34" charset="-122"/>
                <a:cs typeface="Arial" pitchFamily="34" charset="-120"/>
              </a:rPr>
              <a:t>HubSpot + Breeze</a:t>
            </a:r>
            <a:endParaRPr lang="en-US" sz="1450" dirty="0"/>
          </a:p>
        </p:txBody>
      </p:sp>
      <p:sp>
        <p:nvSpPr>
          <p:cNvPr id="34" name="Text 26"/>
          <p:cNvSpPr/>
          <p:nvPr/>
        </p:nvSpPr>
        <p:spPr>
          <a:xfrm>
            <a:off x="1417320" y="5596128"/>
            <a:ext cx="6675120" cy="36576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A genuinely free CRM with an AI copilot built in.</a:t>
            </a:r>
            <a:endParaRPr lang="en-US" sz="1200" dirty="0"/>
          </a:p>
        </p:txBody>
      </p:sp>
      <p:sp>
        <p:nvSpPr>
          <p:cNvPr id="35" name="Text 27"/>
          <p:cNvSpPr/>
          <p:nvPr/>
        </p:nvSpPr>
        <p:spPr>
          <a:xfrm>
            <a:off x="8321040" y="5285232"/>
            <a:ext cx="3108960" cy="621792"/>
          </a:xfrm>
          <a:prstGeom prst="rect">
            <a:avLst/>
          </a:prstGeom>
          <a:noFill/>
          <a:ln/>
        </p:spPr>
        <p:txBody>
          <a:bodyPr wrap="square" lIns="0" tIns="0" rIns="0" bIns="0" rtlCol="0" anchor="ctr"/>
          <a:lstStyle/>
          <a:p>
            <a:pPr algn="r" indent="0" marL="0">
              <a:buNone/>
            </a:pPr>
            <a:r>
              <a:rPr lang="en-US" sz="1150" b="1" dirty="0">
                <a:solidFill>
                  <a:srgbClr val="35C1B1"/>
                </a:solidFill>
                <a:latin typeface="Arial" pitchFamily="34" charset="0"/>
                <a:ea typeface="Arial" pitchFamily="34" charset="-122"/>
                <a:cs typeface="Arial" pitchFamily="34" charset="-120"/>
              </a:rPr>
              <a:t>Free CRM · AI add-ons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LEAD GENERATION</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An AI-assisted pipeline, end to end</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920240"/>
            <a:ext cx="2103120" cy="3017520"/>
          </a:xfrm>
          <a:prstGeom prst="roundRect">
            <a:avLst>
              <a:gd name="adj" fmla="val 3913"/>
            </a:avLst>
          </a:prstGeom>
          <a:solidFill>
            <a:srgbClr val="EAF6F4"/>
          </a:solidFill>
          <a:ln/>
        </p:spPr>
      </p:sp>
      <p:sp>
        <p:nvSpPr>
          <p:cNvPr id="7" name="Shape 4"/>
          <p:cNvSpPr/>
          <p:nvPr/>
        </p:nvSpPr>
        <p:spPr>
          <a:xfrm>
            <a:off x="1325880" y="2194560"/>
            <a:ext cx="548640" cy="548640"/>
          </a:xfrm>
          <a:prstGeom prst="ellipse">
            <a:avLst/>
          </a:prstGeom>
          <a:solidFill>
            <a:srgbClr val="35C1B1"/>
          </a:solidFill>
          <a:ln/>
        </p:spPr>
      </p:sp>
      <p:pic>
        <p:nvPicPr>
          <p:cNvPr id="8" name="Image 0" descr="icons/wand.png">    </p:cNvPr>
          <p:cNvPicPr>
            <a:picLocks noChangeAspect="1"/>
          </p:cNvPicPr>
          <p:nvPr/>
        </p:nvPicPr>
        <p:blipFill>
          <a:blip r:embed="rId2"/>
          <a:stretch>
            <a:fillRect/>
          </a:stretch>
        </p:blipFill>
        <p:spPr>
          <a:xfrm>
            <a:off x="1463040" y="2331720"/>
            <a:ext cx="274320" cy="274320"/>
          </a:xfrm>
          <a:prstGeom prst="rect">
            <a:avLst/>
          </a:prstGeom>
        </p:spPr>
      </p:pic>
      <p:sp>
        <p:nvSpPr>
          <p:cNvPr id="9" name="Text 5"/>
          <p:cNvSpPr/>
          <p:nvPr/>
        </p:nvSpPr>
        <p:spPr>
          <a:xfrm>
            <a:off x="548640" y="2926080"/>
            <a:ext cx="2103120" cy="320040"/>
          </a:xfrm>
          <a:prstGeom prst="rect">
            <a:avLst/>
          </a:prstGeom>
          <a:noFill/>
          <a:ln/>
        </p:spPr>
        <p:txBody>
          <a:bodyPr wrap="square" lIns="0" tIns="0" rIns="0" bIns="0" rtlCol="0" anchor="ctr"/>
          <a:lstStyle/>
          <a:p>
            <a:pPr algn="ctr" indent="0" marL="0">
              <a:buNone/>
            </a:pPr>
            <a:r>
              <a:rPr lang="en-US" sz="1550" b="1" dirty="0">
                <a:solidFill>
                  <a:srgbClr val="151F4A"/>
                </a:solidFill>
                <a:latin typeface="Arial" pitchFamily="34" charset="0"/>
                <a:ea typeface="Arial" pitchFamily="34" charset="-122"/>
                <a:cs typeface="Arial" pitchFamily="34" charset="-120"/>
              </a:rPr>
              <a:t>Attract</a:t>
            </a:r>
            <a:endParaRPr lang="en-US" sz="1550" dirty="0"/>
          </a:p>
        </p:txBody>
      </p:sp>
      <p:sp>
        <p:nvSpPr>
          <p:cNvPr id="10" name="Text 6"/>
          <p:cNvSpPr/>
          <p:nvPr/>
        </p:nvSpPr>
        <p:spPr>
          <a:xfrm>
            <a:off x="685800" y="3291840"/>
            <a:ext cx="1828800" cy="777240"/>
          </a:xfrm>
          <a:prstGeom prst="rect">
            <a:avLst/>
          </a:prstGeom>
          <a:noFill/>
          <a:ln/>
        </p:spPr>
        <p:txBody>
          <a:bodyPr wrap="square" lIns="0" tIns="0" rIns="0" bIns="0" rtlCol="0" anchor="ctr"/>
          <a:lstStyle/>
          <a:p>
            <a:pPr algn="ctr" indent="0" marL="0">
              <a:buNone/>
            </a:pPr>
            <a:r>
              <a:rPr lang="en-US" sz="1150" dirty="0">
                <a:solidFill>
                  <a:srgbClr val="232A3E"/>
                </a:solidFill>
                <a:latin typeface="Calibri" pitchFamily="34" charset="0"/>
                <a:ea typeface="Calibri" pitchFamily="34" charset="-122"/>
                <a:cs typeface="Calibri" pitchFamily="34" charset="-120"/>
              </a:rPr>
              <a:t>AI content, SEO posts, short video</a:t>
            </a:r>
            <a:endParaRPr lang="en-US" sz="1150" dirty="0"/>
          </a:p>
        </p:txBody>
      </p:sp>
      <p:sp>
        <p:nvSpPr>
          <p:cNvPr id="11" name="Text 7"/>
          <p:cNvSpPr/>
          <p:nvPr/>
        </p:nvSpPr>
        <p:spPr>
          <a:xfrm>
            <a:off x="640080" y="4251960"/>
            <a:ext cx="1920240" cy="548640"/>
          </a:xfrm>
          <a:prstGeom prst="rect">
            <a:avLst/>
          </a:prstGeom>
          <a:noFill/>
          <a:ln/>
        </p:spPr>
        <p:txBody>
          <a:bodyPr wrap="square" lIns="0" tIns="0" rIns="0" bIns="0" rtlCol="0" anchor="ctr"/>
          <a:lstStyle/>
          <a:p>
            <a:pPr algn="ctr" indent="0" marL="0">
              <a:buNone/>
            </a:pPr>
            <a:r>
              <a:rPr lang="en-US" sz="1000" b="1" dirty="0">
                <a:solidFill>
                  <a:srgbClr val="68708A"/>
                </a:solidFill>
                <a:latin typeface="Arial" pitchFamily="34" charset="0"/>
                <a:ea typeface="Arial" pitchFamily="34" charset="-122"/>
                <a:cs typeface="Arial" pitchFamily="34" charset="-120"/>
              </a:rPr>
              <a:t>Pomelli · Canva · Opus</a:t>
            </a:r>
            <a:endParaRPr lang="en-US" sz="1000" dirty="0"/>
          </a:p>
        </p:txBody>
      </p:sp>
      <p:pic>
        <p:nvPicPr>
          <p:cNvPr id="12" name="Image 1" descr="icons/arrowRight.png">    </p:cNvPr>
          <p:cNvPicPr>
            <a:picLocks noChangeAspect="1"/>
          </p:cNvPicPr>
          <p:nvPr/>
        </p:nvPicPr>
        <p:blipFill>
          <a:blip r:embed="rId3">
            <a:alphaModFix amt="75000"/>
          </a:blip>
          <a:stretch>
            <a:fillRect/>
          </a:stretch>
        </p:blipFill>
        <p:spPr>
          <a:xfrm>
            <a:off x="2660904" y="3310128"/>
            <a:ext cx="182880" cy="182880"/>
          </a:xfrm>
          <a:prstGeom prst="rect">
            <a:avLst/>
          </a:prstGeom>
        </p:spPr>
      </p:pic>
      <p:sp>
        <p:nvSpPr>
          <p:cNvPr id="13" name="Shape 8"/>
          <p:cNvSpPr/>
          <p:nvPr/>
        </p:nvSpPr>
        <p:spPr>
          <a:xfrm>
            <a:off x="2843784" y="1920240"/>
            <a:ext cx="2103120" cy="3017520"/>
          </a:xfrm>
          <a:prstGeom prst="roundRect">
            <a:avLst>
              <a:gd name="adj" fmla="val 3913"/>
            </a:avLst>
          </a:prstGeom>
          <a:solidFill>
            <a:srgbClr val="EAF5FC"/>
          </a:solidFill>
          <a:ln/>
        </p:spPr>
      </p:sp>
      <p:sp>
        <p:nvSpPr>
          <p:cNvPr id="14" name="Shape 9"/>
          <p:cNvSpPr/>
          <p:nvPr/>
        </p:nvSpPr>
        <p:spPr>
          <a:xfrm>
            <a:off x="3621024" y="2194560"/>
            <a:ext cx="548640" cy="548640"/>
          </a:xfrm>
          <a:prstGeom prst="ellipse">
            <a:avLst/>
          </a:prstGeom>
          <a:solidFill>
            <a:srgbClr val="29A9E1"/>
          </a:solidFill>
          <a:ln/>
        </p:spPr>
      </p:sp>
      <p:pic>
        <p:nvPicPr>
          <p:cNvPr id="15" name="Image 2" descr="icons/window.png">    </p:cNvPr>
          <p:cNvPicPr>
            <a:picLocks noChangeAspect="1"/>
          </p:cNvPicPr>
          <p:nvPr/>
        </p:nvPicPr>
        <p:blipFill>
          <a:blip r:embed="rId4"/>
          <a:stretch>
            <a:fillRect/>
          </a:stretch>
        </p:blipFill>
        <p:spPr>
          <a:xfrm>
            <a:off x="3758184" y="2331720"/>
            <a:ext cx="274320" cy="274320"/>
          </a:xfrm>
          <a:prstGeom prst="rect">
            <a:avLst/>
          </a:prstGeom>
        </p:spPr>
      </p:pic>
      <p:sp>
        <p:nvSpPr>
          <p:cNvPr id="16" name="Text 10"/>
          <p:cNvSpPr/>
          <p:nvPr/>
        </p:nvSpPr>
        <p:spPr>
          <a:xfrm>
            <a:off x="2843784" y="2926080"/>
            <a:ext cx="2103120" cy="320040"/>
          </a:xfrm>
          <a:prstGeom prst="rect">
            <a:avLst/>
          </a:prstGeom>
          <a:noFill/>
          <a:ln/>
        </p:spPr>
        <p:txBody>
          <a:bodyPr wrap="square" lIns="0" tIns="0" rIns="0" bIns="0" rtlCol="0" anchor="ctr"/>
          <a:lstStyle/>
          <a:p>
            <a:pPr algn="ctr" indent="0" marL="0">
              <a:buNone/>
            </a:pPr>
            <a:r>
              <a:rPr lang="en-US" sz="1550" b="1" dirty="0">
                <a:solidFill>
                  <a:srgbClr val="151F4A"/>
                </a:solidFill>
                <a:latin typeface="Arial" pitchFamily="34" charset="0"/>
                <a:ea typeface="Arial" pitchFamily="34" charset="-122"/>
                <a:cs typeface="Arial" pitchFamily="34" charset="-120"/>
              </a:rPr>
              <a:t>Capture</a:t>
            </a:r>
            <a:endParaRPr lang="en-US" sz="1550" dirty="0"/>
          </a:p>
        </p:txBody>
      </p:sp>
      <p:sp>
        <p:nvSpPr>
          <p:cNvPr id="17" name="Text 11"/>
          <p:cNvSpPr/>
          <p:nvPr/>
        </p:nvSpPr>
        <p:spPr>
          <a:xfrm>
            <a:off x="2980944" y="3291840"/>
            <a:ext cx="1828800" cy="777240"/>
          </a:xfrm>
          <a:prstGeom prst="rect">
            <a:avLst/>
          </a:prstGeom>
          <a:noFill/>
          <a:ln/>
        </p:spPr>
        <p:txBody>
          <a:bodyPr wrap="square" lIns="0" tIns="0" rIns="0" bIns="0" rtlCol="0" anchor="ctr"/>
          <a:lstStyle/>
          <a:p>
            <a:pPr algn="ctr" indent="0" marL="0">
              <a:buNone/>
            </a:pPr>
            <a:r>
              <a:rPr lang="en-US" sz="1150" dirty="0">
                <a:solidFill>
                  <a:srgbClr val="232A3E"/>
                </a:solidFill>
                <a:latin typeface="Calibri" pitchFamily="34" charset="0"/>
                <a:ea typeface="Calibri" pitchFamily="34" charset="-122"/>
                <a:cs typeface="Calibri" pitchFamily="34" charset="-120"/>
              </a:rPr>
              <a:t>AI website + chat + forms</a:t>
            </a:r>
            <a:endParaRPr lang="en-US" sz="1150" dirty="0"/>
          </a:p>
        </p:txBody>
      </p:sp>
      <p:sp>
        <p:nvSpPr>
          <p:cNvPr id="18" name="Text 12"/>
          <p:cNvSpPr/>
          <p:nvPr/>
        </p:nvSpPr>
        <p:spPr>
          <a:xfrm>
            <a:off x="2935224" y="4251960"/>
            <a:ext cx="1920240" cy="548640"/>
          </a:xfrm>
          <a:prstGeom prst="rect">
            <a:avLst/>
          </a:prstGeom>
          <a:noFill/>
          <a:ln/>
        </p:spPr>
        <p:txBody>
          <a:bodyPr wrap="square" lIns="0" tIns="0" rIns="0" bIns="0" rtlCol="0" anchor="ctr"/>
          <a:lstStyle/>
          <a:p>
            <a:pPr algn="ctr" indent="0" marL="0">
              <a:buNone/>
            </a:pPr>
            <a:r>
              <a:rPr lang="en-US" sz="1000" b="1" dirty="0">
                <a:solidFill>
                  <a:srgbClr val="68708A"/>
                </a:solidFill>
                <a:latin typeface="Arial" pitchFamily="34" charset="0"/>
                <a:ea typeface="Arial" pitchFamily="34" charset="-122"/>
                <a:cs typeface="Arial" pitchFamily="34" charset="-120"/>
              </a:rPr>
              <a:t>Wix · Durable · HubSpot</a:t>
            </a:r>
            <a:endParaRPr lang="en-US" sz="1000" dirty="0"/>
          </a:p>
        </p:txBody>
      </p:sp>
      <p:pic>
        <p:nvPicPr>
          <p:cNvPr id="19" name="Image 3" descr="icons/arrowRight.png">    </p:cNvPr>
          <p:cNvPicPr>
            <a:picLocks noChangeAspect="1"/>
          </p:cNvPicPr>
          <p:nvPr/>
        </p:nvPicPr>
        <p:blipFill>
          <a:blip r:embed="rId5">
            <a:alphaModFix amt="75000"/>
          </a:blip>
          <a:stretch>
            <a:fillRect/>
          </a:stretch>
        </p:blipFill>
        <p:spPr>
          <a:xfrm>
            <a:off x="4956048" y="3310128"/>
            <a:ext cx="182880" cy="182880"/>
          </a:xfrm>
          <a:prstGeom prst="rect">
            <a:avLst/>
          </a:prstGeom>
        </p:spPr>
      </p:pic>
      <p:sp>
        <p:nvSpPr>
          <p:cNvPr id="20" name="Shape 13"/>
          <p:cNvSpPr/>
          <p:nvPr/>
        </p:nvSpPr>
        <p:spPr>
          <a:xfrm>
            <a:off x="5138928" y="1920240"/>
            <a:ext cx="2103120" cy="3017520"/>
          </a:xfrm>
          <a:prstGeom prst="roundRect">
            <a:avLst>
              <a:gd name="adj" fmla="val 3913"/>
            </a:avLst>
          </a:prstGeom>
          <a:solidFill>
            <a:srgbClr val="EAF6F4"/>
          </a:solidFill>
          <a:ln/>
        </p:spPr>
      </p:sp>
      <p:sp>
        <p:nvSpPr>
          <p:cNvPr id="21" name="Shape 14"/>
          <p:cNvSpPr/>
          <p:nvPr/>
        </p:nvSpPr>
        <p:spPr>
          <a:xfrm>
            <a:off x="5916168" y="2194560"/>
            <a:ext cx="548640" cy="548640"/>
          </a:xfrm>
          <a:prstGeom prst="ellipse">
            <a:avLst/>
          </a:prstGeom>
          <a:solidFill>
            <a:srgbClr val="151F4A"/>
          </a:solidFill>
          <a:ln/>
        </p:spPr>
      </p:sp>
      <p:pic>
        <p:nvPicPr>
          <p:cNvPr id="22" name="Image 4" descr="icons/funnel.png">    </p:cNvPr>
          <p:cNvPicPr>
            <a:picLocks noChangeAspect="1"/>
          </p:cNvPicPr>
          <p:nvPr/>
        </p:nvPicPr>
        <p:blipFill>
          <a:blip r:embed="rId6"/>
          <a:stretch>
            <a:fillRect/>
          </a:stretch>
        </p:blipFill>
        <p:spPr>
          <a:xfrm>
            <a:off x="6053328" y="2331720"/>
            <a:ext cx="274320" cy="274320"/>
          </a:xfrm>
          <a:prstGeom prst="rect">
            <a:avLst/>
          </a:prstGeom>
        </p:spPr>
      </p:pic>
      <p:sp>
        <p:nvSpPr>
          <p:cNvPr id="23" name="Text 15"/>
          <p:cNvSpPr/>
          <p:nvPr/>
        </p:nvSpPr>
        <p:spPr>
          <a:xfrm>
            <a:off x="5138928" y="2926080"/>
            <a:ext cx="2103120" cy="320040"/>
          </a:xfrm>
          <a:prstGeom prst="rect">
            <a:avLst/>
          </a:prstGeom>
          <a:noFill/>
          <a:ln/>
        </p:spPr>
        <p:txBody>
          <a:bodyPr wrap="square" lIns="0" tIns="0" rIns="0" bIns="0" rtlCol="0" anchor="ctr"/>
          <a:lstStyle/>
          <a:p>
            <a:pPr algn="ctr" indent="0" marL="0">
              <a:buNone/>
            </a:pPr>
            <a:r>
              <a:rPr lang="en-US" sz="1550" b="1" dirty="0">
                <a:solidFill>
                  <a:srgbClr val="151F4A"/>
                </a:solidFill>
                <a:latin typeface="Arial" pitchFamily="34" charset="0"/>
                <a:ea typeface="Arial" pitchFamily="34" charset="-122"/>
                <a:cs typeface="Arial" pitchFamily="34" charset="-120"/>
              </a:rPr>
              <a:t>Qualify</a:t>
            </a:r>
            <a:endParaRPr lang="en-US" sz="1550" dirty="0"/>
          </a:p>
        </p:txBody>
      </p:sp>
      <p:sp>
        <p:nvSpPr>
          <p:cNvPr id="24" name="Text 16"/>
          <p:cNvSpPr/>
          <p:nvPr/>
        </p:nvSpPr>
        <p:spPr>
          <a:xfrm>
            <a:off x="5276088" y="3291840"/>
            <a:ext cx="1828800" cy="777240"/>
          </a:xfrm>
          <a:prstGeom prst="rect">
            <a:avLst/>
          </a:prstGeom>
          <a:noFill/>
          <a:ln/>
        </p:spPr>
        <p:txBody>
          <a:bodyPr wrap="square" lIns="0" tIns="0" rIns="0" bIns="0" rtlCol="0" anchor="ctr"/>
          <a:lstStyle/>
          <a:p>
            <a:pPr algn="ctr" indent="0" marL="0">
              <a:buNone/>
            </a:pPr>
            <a:r>
              <a:rPr lang="en-US" sz="1150" dirty="0">
                <a:solidFill>
                  <a:srgbClr val="232A3E"/>
                </a:solidFill>
                <a:latin typeface="Calibri" pitchFamily="34" charset="0"/>
                <a:ea typeface="Calibri" pitchFamily="34" charset="-122"/>
                <a:cs typeface="Calibri" pitchFamily="34" charset="-120"/>
              </a:rPr>
              <a:t>Enrich &amp; score your leads</a:t>
            </a:r>
            <a:endParaRPr lang="en-US" sz="1150" dirty="0"/>
          </a:p>
        </p:txBody>
      </p:sp>
      <p:sp>
        <p:nvSpPr>
          <p:cNvPr id="25" name="Text 17"/>
          <p:cNvSpPr/>
          <p:nvPr/>
        </p:nvSpPr>
        <p:spPr>
          <a:xfrm>
            <a:off x="5230368" y="4251960"/>
            <a:ext cx="1920240" cy="548640"/>
          </a:xfrm>
          <a:prstGeom prst="rect">
            <a:avLst/>
          </a:prstGeom>
          <a:noFill/>
          <a:ln/>
        </p:spPr>
        <p:txBody>
          <a:bodyPr wrap="square" lIns="0" tIns="0" rIns="0" bIns="0" rtlCol="0" anchor="ctr"/>
          <a:lstStyle/>
          <a:p>
            <a:pPr algn="ctr" indent="0" marL="0">
              <a:buNone/>
            </a:pPr>
            <a:r>
              <a:rPr lang="en-US" sz="1000" b="1" dirty="0">
                <a:solidFill>
                  <a:srgbClr val="68708A"/>
                </a:solidFill>
                <a:latin typeface="Arial" pitchFamily="34" charset="0"/>
                <a:ea typeface="Arial" pitchFamily="34" charset="-122"/>
                <a:cs typeface="Arial" pitchFamily="34" charset="-120"/>
              </a:rPr>
              <a:t>Clay · Apollo</a:t>
            </a:r>
            <a:endParaRPr lang="en-US" sz="1000" dirty="0"/>
          </a:p>
        </p:txBody>
      </p:sp>
      <p:pic>
        <p:nvPicPr>
          <p:cNvPr id="26" name="Image 5" descr="icons/arrowRight.png">    </p:cNvPr>
          <p:cNvPicPr>
            <a:picLocks noChangeAspect="1"/>
          </p:cNvPicPr>
          <p:nvPr/>
        </p:nvPicPr>
        <p:blipFill>
          <a:blip r:embed="rId7">
            <a:alphaModFix amt="75000"/>
          </a:blip>
          <a:stretch>
            <a:fillRect/>
          </a:stretch>
        </p:blipFill>
        <p:spPr>
          <a:xfrm>
            <a:off x="7251192" y="3310128"/>
            <a:ext cx="182880" cy="182880"/>
          </a:xfrm>
          <a:prstGeom prst="rect">
            <a:avLst/>
          </a:prstGeom>
        </p:spPr>
      </p:pic>
      <p:sp>
        <p:nvSpPr>
          <p:cNvPr id="27" name="Shape 18"/>
          <p:cNvSpPr/>
          <p:nvPr/>
        </p:nvSpPr>
        <p:spPr>
          <a:xfrm>
            <a:off x="7434072" y="1920240"/>
            <a:ext cx="2103120" cy="3017520"/>
          </a:xfrm>
          <a:prstGeom prst="roundRect">
            <a:avLst>
              <a:gd name="adj" fmla="val 3913"/>
            </a:avLst>
          </a:prstGeom>
          <a:solidFill>
            <a:srgbClr val="EAF5FC"/>
          </a:solidFill>
          <a:ln/>
        </p:spPr>
      </p:sp>
      <p:sp>
        <p:nvSpPr>
          <p:cNvPr id="28" name="Shape 19"/>
          <p:cNvSpPr/>
          <p:nvPr/>
        </p:nvSpPr>
        <p:spPr>
          <a:xfrm>
            <a:off x="8211312" y="2194560"/>
            <a:ext cx="548640" cy="548640"/>
          </a:xfrm>
          <a:prstGeom prst="ellipse">
            <a:avLst/>
          </a:prstGeom>
          <a:solidFill>
            <a:srgbClr val="35C1B1"/>
          </a:solidFill>
          <a:ln/>
        </p:spPr>
      </p:sp>
      <p:pic>
        <p:nvPicPr>
          <p:cNvPr id="29" name="Image 6" descr="icons/paperPlane.png">    </p:cNvPr>
          <p:cNvPicPr>
            <a:picLocks noChangeAspect="1"/>
          </p:cNvPicPr>
          <p:nvPr/>
        </p:nvPicPr>
        <p:blipFill>
          <a:blip r:embed="rId8"/>
          <a:stretch>
            <a:fillRect/>
          </a:stretch>
        </p:blipFill>
        <p:spPr>
          <a:xfrm>
            <a:off x="8348472" y="2331720"/>
            <a:ext cx="274320" cy="274320"/>
          </a:xfrm>
          <a:prstGeom prst="rect">
            <a:avLst/>
          </a:prstGeom>
        </p:spPr>
      </p:pic>
      <p:sp>
        <p:nvSpPr>
          <p:cNvPr id="30" name="Text 20"/>
          <p:cNvSpPr/>
          <p:nvPr/>
        </p:nvSpPr>
        <p:spPr>
          <a:xfrm>
            <a:off x="7434072" y="2926080"/>
            <a:ext cx="2103120" cy="320040"/>
          </a:xfrm>
          <a:prstGeom prst="rect">
            <a:avLst/>
          </a:prstGeom>
          <a:noFill/>
          <a:ln/>
        </p:spPr>
        <p:txBody>
          <a:bodyPr wrap="square" lIns="0" tIns="0" rIns="0" bIns="0" rtlCol="0" anchor="ctr"/>
          <a:lstStyle/>
          <a:p>
            <a:pPr algn="ctr" indent="0" marL="0">
              <a:buNone/>
            </a:pPr>
            <a:r>
              <a:rPr lang="en-US" sz="1550" b="1" dirty="0">
                <a:solidFill>
                  <a:srgbClr val="151F4A"/>
                </a:solidFill>
                <a:latin typeface="Arial" pitchFamily="34" charset="0"/>
                <a:ea typeface="Arial" pitchFamily="34" charset="-122"/>
                <a:cs typeface="Arial" pitchFamily="34" charset="-120"/>
              </a:rPr>
              <a:t>Outreach</a:t>
            </a:r>
            <a:endParaRPr lang="en-US" sz="1550" dirty="0"/>
          </a:p>
        </p:txBody>
      </p:sp>
      <p:sp>
        <p:nvSpPr>
          <p:cNvPr id="31" name="Text 21"/>
          <p:cNvSpPr/>
          <p:nvPr/>
        </p:nvSpPr>
        <p:spPr>
          <a:xfrm>
            <a:off x="7571232" y="3291840"/>
            <a:ext cx="1828800" cy="777240"/>
          </a:xfrm>
          <a:prstGeom prst="rect">
            <a:avLst/>
          </a:prstGeom>
          <a:noFill/>
          <a:ln/>
        </p:spPr>
        <p:txBody>
          <a:bodyPr wrap="square" lIns="0" tIns="0" rIns="0" bIns="0" rtlCol="0" anchor="ctr"/>
          <a:lstStyle/>
          <a:p>
            <a:pPr algn="ctr" indent="0" marL="0">
              <a:buNone/>
            </a:pPr>
            <a:r>
              <a:rPr lang="en-US" sz="1150" dirty="0">
                <a:solidFill>
                  <a:srgbClr val="232A3E"/>
                </a:solidFill>
                <a:latin typeface="Calibri" pitchFamily="34" charset="0"/>
                <a:ea typeface="Calibri" pitchFamily="34" charset="-122"/>
                <a:cs typeface="Calibri" pitchFamily="34" charset="-120"/>
              </a:rPr>
              <a:t>Personalized drafts at scale</a:t>
            </a:r>
            <a:endParaRPr lang="en-US" sz="1150" dirty="0"/>
          </a:p>
        </p:txBody>
      </p:sp>
      <p:sp>
        <p:nvSpPr>
          <p:cNvPr id="32" name="Text 22"/>
          <p:cNvSpPr/>
          <p:nvPr/>
        </p:nvSpPr>
        <p:spPr>
          <a:xfrm>
            <a:off x="7525512" y="4251960"/>
            <a:ext cx="1920240" cy="548640"/>
          </a:xfrm>
          <a:prstGeom prst="rect">
            <a:avLst/>
          </a:prstGeom>
          <a:noFill/>
          <a:ln/>
        </p:spPr>
        <p:txBody>
          <a:bodyPr wrap="square" lIns="0" tIns="0" rIns="0" bIns="0" rtlCol="0" anchor="ctr"/>
          <a:lstStyle/>
          <a:p>
            <a:pPr algn="ctr" indent="0" marL="0">
              <a:buNone/>
            </a:pPr>
            <a:r>
              <a:rPr lang="en-US" sz="1000" b="1" dirty="0">
                <a:solidFill>
                  <a:srgbClr val="68708A"/>
                </a:solidFill>
                <a:latin typeface="Arial" pitchFamily="34" charset="0"/>
                <a:ea typeface="Arial" pitchFamily="34" charset="-122"/>
                <a:cs typeface="Arial" pitchFamily="34" charset="-120"/>
              </a:rPr>
              <a:t>Apollo · ChatGPT/Claude</a:t>
            </a:r>
            <a:endParaRPr lang="en-US" sz="1000" dirty="0"/>
          </a:p>
        </p:txBody>
      </p:sp>
      <p:pic>
        <p:nvPicPr>
          <p:cNvPr id="33" name="Image 7" descr="icons/arrowRight.png">    </p:cNvPr>
          <p:cNvPicPr>
            <a:picLocks noChangeAspect="1"/>
          </p:cNvPicPr>
          <p:nvPr/>
        </p:nvPicPr>
        <p:blipFill>
          <a:blip r:embed="rId9">
            <a:alphaModFix amt="75000"/>
          </a:blip>
          <a:stretch>
            <a:fillRect/>
          </a:stretch>
        </p:blipFill>
        <p:spPr>
          <a:xfrm>
            <a:off x="9546336" y="3310128"/>
            <a:ext cx="182880" cy="182880"/>
          </a:xfrm>
          <a:prstGeom prst="rect">
            <a:avLst/>
          </a:prstGeom>
        </p:spPr>
      </p:pic>
      <p:sp>
        <p:nvSpPr>
          <p:cNvPr id="34" name="Shape 23"/>
          <p:cNvSpPr/>
          <p:nvPr/>
        </p:nvSpPr>
        <p:spPr>
          <a:xfrm>
            <a:off x="9729216" y="1920240"/>
            <a:ext cx="2103120" cy="3017520"/>
          </a:xfrm>
          <a:prstGeom prst="roundRect">
            <a:avLst>
              <a:gd name="adj" fmla="val 3913"/>
            </a:avLst>
          </a:prstGeom>
          <a:solidFill>
            <a:srgbClr val="EAF6F4"/>
          </a:solidFill>
          <a:ln/>
        </p:spPr>
      </p:sp>
      <p:sp>
        <p:nvSpPr>
          <p:cNvPr id="35" name="Shape 24"/>
          <p:cNvSpPr/>
          <p:nvPr/>
        </p:nvSpPr>
        <p:spPr>
          <a:xfrm>
            <a:off x="10506456" y="2194560"/>
            <a:ext cx="548640" cy="548640"/>
          </a:xfrm>
          <a:prstGeom prst="ellipse">
            <a:avLst/>
          </a:prstGeom>
          <a:solidFill>
            <a:srgbClr val="29A9E1"/>
          </a:solidFill>
          <a:ln/>
        </p:spPr>
      </p:sp>
      <p:pic>
        <p:nvPicPr>
          <p:cNvPr id="36" name="Image 8" descr="icons/repeat.png">    </p:cNvPr>
          <p:cNvPicPr>
            <a:picLocks noChangeAspect="1"/>
          </p:cNvPicPr>
          <p:nvPr/>
        </p:nvPicPr>
        <p:blipFill>
          <a:blip r:embed="rId10"/>
          <a:stretch>
            <a:fillRect/>
          </a:stretch>
        </p:blipFill>
        <p:spPr>
          <a:xfrm>
            <a:off x="10643616" y="2331720"/>
            <a:ext cx="274320" cy="274320"/>
          </a:xfrm>
          <a:prstGeom prst="rect">
            <a:avLst/>
          </a:prstGeom>
        </p:spPr>
      </p:pic>
      <p:sp>
        <p:nvSpPr>
          <p:cNvPr id="37" name="Text 25"/>
          <p:cNvSpPr/>
          <p:nvPr/>
        </p:nvSpPr>
        <p:spPr>
          <a:xfrm>
            <a:off x="9729216" y="2926080"/>
            <a:ext cx="2103120" cy="320040"/>
          </a:xfrm>
          <a:prstGeom prst="rect">
            <a:avLst/>
          </a:prstGeom>
          <a:noFill/>
          <a:ln/>
        </p:spPr>
        <p:txBody>
          <a:bodyPr wrap="square" lIns="0" tIns="0" rIns="0" bIns="0" rtlCol="0" anchor="ctr"/>
          <a:lstStyle/>
          <a:p>
            <a:pPr algn="ctr" indent="0" marL="0">
              <a:buNone/>
            </a:pPr>
            <a:r>
              <a:rPr lang="en-US" sz="1550" b="1" dirty="0">
                <a:solidFill>
                  <a:srgbClr val="151F4A"/>
                </a:solidFill>
                <a:latin typeface="Arial" pitchFamily="34" charset="0"/>
                <a:ea typeface="Arial" pitchFamily="34" charset="-122"/>
                <a:cs typeface="Arial" pitchFamily="34" charset="-120"/>
              </a:rPr>
              <a:t>Nurture</a:t>
            </a:r>
            <a:endParaRPr lang="en-US" sz="1550" dirty="0"/>
          </a:p>
        </p:txBody>
      </p:sp>
      <p:sp>
        <p:nvSpPr>
          <p:cNvPr id="38" name="Text 26"/>
          <p:cNvSpPr/>
          <p:nvPr/>
        </p:nvSpPr>
        <p:spPr>
          <a:xfrm>
            <a:off x="9866376" y="3291840"/>
            <a:ext cx="1828800" cy="777240"/>
          </a:xfrm>
          <a:prstGeom prst="rect">
            <a:avLst/>
          </a:prstGeom>
          <a:noFill/>
          <a:ln/>
        </p:spPr>
        <p:txBody>
          <a:bodyPr wrap="square" lIns="0" tIns="0" rIns="0" bIns="0" rtlCol="0" anchor="ctr"/>
          <a:lstStyle/>
          <a:p>
            <a:pPr algn="ctr" indent="0" marL="0">
              <a:buNone/>
            </a:pPr>
            <a:r>
              <a:rPr lang="en-US" sz="1150" dirty="0">
                <a:solidFill>
                  <a:srgbClr val="232A3E"/>
                </a:solidFill>
                <a:latin typeface="Calibri" pitchFamily="34" charset="0"/>
                <a:ea typeface="Calibri" pitchFamily="34" charset="-122"/>
                <a:cs typeface="Calibri" pitchFamily="34" charset="-120"/>
              </a:rPr>
              <a:t>Automated follow-up sequences</a:t>
            </a:r>
            <a:endParaRPr lang="en-US" sz="1150" dirty="0"/>
          </a:p>
        </p:txBody>
      </p:sp>
      <p:sp>
        <p:nvSpPr>
          <p:cNvPr id="39" name="Text 27"/>
          <p:cNvSpPr/>
          <p:nvPr/>
        </p:nvSpPr>
        <p:spPr>
          <a:xfrm>
            <a:off x="9820656" y="4251960"/>
            <a:ext cx="1920240" cy="548640"/>
          </a:xfrm>
          <a:prstGeom prst="rect">
            <a:avLst/>
          </a:prstGeom>
          <a:noFill/>
          <a:ln/>
        </p:spPr>
        <p:txBody>
          <a:bodyPr wrap="square" lIns="0" tIns="0" rIns="0" bIns="0" rtlCol="0" anchor="ctr"/>
          <a:lstStyle/>
          <a:p>
            <a:pPr algn="ctr" indent="0" marL="0">
              <a:buNone/>
            </a:pPr>
            <a:r>
              <a:rPr lang="en-US" sz="1000" b="1" dirty="0">
                <a:solidFill>
                  <a:srgbClr val="68708A"/>
                </a:solidFill>
                <a:latin typeface="Arial" pitchFamily="34" charset="0"/>
                <a:ea typeface="Arial" pitchFamily="34" charset="-122"/>
                <a:cs typeface="Arial" pitchFamily="34" charset="-120"/>
              </a:rPr>
              <a:t>HubSpot · Zapier · Buffer</a:t>
            </a:r>
            <a:endParaRPr lang="en-US" sz="1000" dirty="0"/>
          </a:p>
        </p:txBody>
      </p:sp>
      <p:sp>
        <p:nvSpPr>
          <p:cNvPr id="40" name="Text 28"/>
          <p:cNvSpPr/>
          <p:nvPr/>
        </p:nvSpPr>
        <p:spPr>
          <a:xfrm>
            <a:off x="548640" y="5440680"/>
            <a:ext cx="11064240" cy="411480"/>
          </a:xfrm>
          <a:prstGeom prst="rect">
            <a:avLst/>
          </a:prstGeom>
          <a:noFill/>
          <a:ln/>
        </p:spPr>
        <p:txBody>
          <a:bodyPr wrap="square" lIns="0" tIns="0" rIns="0" bIns="0" rtlCol="0" anchor="ctr"/>
          <a:lstStyle/>
          <a:p>
            <a:pPr algn="ctr" indent="0" marL="0">
              <a:buNone/>
            </a:pPr>
            <a:r>
              <a:rPr lang="en-US" sz="1450" i="1" dirty="0">
                <a:solidFill>
                  <a:srgbClr val="232A3E"/>
                </a:solidFill>
                <a:latin typeface="Calibri" pitchFamily="34" charset="0"/>
                <a:ea typeface="Calibri" pitchFamily="34" charset="-122"/>
                <a:cs typeface="Calibri" pitchFamily="34" charset="-120"/>
              </a:rPr>
              <a:t>You don't need a marketing team. You need a system — and a human eye before anything sends.</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WORKFLOW AUTOMATION</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“When X happens, AI does Y” — while you sleep</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3611880" cy="3108960"/>
          </a:xfrm>
          <a:prstGeom prst="roundRect">
            <a:avLst>
              <a:gd name="adj" fmla="val 2647"/>
            </a:avLst>
          </a:prstGeom>
          <a:solidFill>
            <a:srgbClr val="F5F8FC"/>
          </a:solidFill>
          <a:ln w="12700">
            <a:solidFill>
              <a:srgbClr val="E1E6F0"/>
            </a:solidFill>
            <a:prstDash val="solid"/>
          </a:ln>
        </p:spPr>
      </p:sp>
      <p:sp>
        <p:nvSpPr>
          <p:cNvPr id="7" name="Shape 4"/>
          <p:cNvSpPr/>
          <p:nvPr/>
        </p:nvSpPr>
        <p:spPr>
          <a:xfrm>
            <a:off x="822960" y="1828800"/>
            <a:ext cx="502920" cy="502920"/>
          </a:xfrm>
          <a:prstGeom prst="ellipse">
            <a:avLst/>
          </a:prstGeom>
          <a:solidFill>
            <a:srgbClr val="35C1B1"/>
          </a:solidFill>
          <a:ln/>
        </p:spPr>
      </p:sp>
      <p:pic>
        <p:nvPicPr>
          <p:cNvPr id="8" name="Image 0" descr="icons/bolt.png">    </p:cNvPr>
          <p:cNvPicPr>
            <a:picLocks noChangeAspect="1"/>
          </p:cNvPicPr>
          <p:nvPr/>
        </p:nvPicPr>
        <p:blipFill>
          <a:blip r:embed="rId2"/>
          <a:stretch>
            <a:fillRect/>
          </a:stretch>
        </p:blipFill>
        <p:spPr>
          <a:xfrm>
            <a:off x="948690" y="1954530"/>
            <a:ext cx="251460" cy="251460"/>
          </a:xfrm>
          <a:prstGeom prst="rect">
            <a:avLst/>
          </a:prstGeom>
        </p:spPr>
      </p:pic>
      <p:sp>
        <p:nvSpPr>
          <p:cNvPr id="9" name="Text 5"/>
          <p:cNvSpPr/>
          <p:nvPr/>
        </p:nvSpPr>
        <p:spPr>
          <a:xfrm>
            <a:off x="1463040" y="1920240"/>
            <a:ext cx="2560320" cy="320040"/>
          </a:xfrm>
          <a:prstGeom prst="rect">
            <a:avLst/>
          </a:prstGeom>
          <a:noFill/>
          <a:ln/>
        </p:spPr>
        <p:txBody>
          <a:bodyPr wrap="square" lIns="0" tIns="0" rIns="0" bIns="0" rtlCol="0" anchor="ctr"/>
          <a:lstStyle/>
          <a:p>
            <a:pPr indent="0" marL="0">
              <a:buNone/>
            </a:pPr>
            <a:r>
              <a:rPr lang="en-US" sz="1600" b="1" dirty="0">
                <a:solidFill>
                  <a:srgbClr val="151F4A"/>
                </a:solidFill>
                <a:latin typeface="Arial" pitchFamily="34" charset="0"/>
                <a:ea typeface="Arial" pitchFamily="34" charset="-122"/>
                <a:cs typeface="Arial" pitchFamily="34" charset="-120"/>
              </a:rPr>
              <a:t>Zapier</a:t>
            </a:r>
            <a:endParaRPr lang="en-US" sz="1600" dirty="0"/>
          </a:p>
        </p:txBody>
      </p:sp>
      <p:sp>
        <p:nvSpPr>
          <p:cNvPr id="10" name="Text 6"/>
          <p:cNvSpPr/>
          <p:nvPr/>
        </p:nvSpPr>
        <p:spPr>
          <a:xfrm>
            <a:off x="822960" y="2514600"/>
            <a:ext cx="3063240" cy="137160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8,000+ apps. Describe the workflow in plain English — it builds it. Agents included.</a:t>
            </a:r>
            <a:endParaRPr lang="en-US" sz="1250" dirty="0"/>
          </a:p>
        </p:txBody>
      </p:sp>
      <p:sp>
        <p:nvSpPr>
          <p:cNvPr id="11" name="Shape 7"/>
          <p:cNvSpPr/>
          <p:nvPr/>
        </p:nvSpPr>
        <p:spPr>
          <a:xfrm>
            <a:off x="822960" y="3977640"/>
            <a:ext cx="3063240" cy="0"/>
          </a:xfrm>
          <a:prstGeom prst="line">
            <a:avLst/>
          </a:prstGeom>
          <a:noFill/>
          <a:ln w="12700">
            <a:solidFill>
              <a:srgbClr val="E1E6F0"/>
            </a:solidFill>
            <a:prstDash val="solid"/>
          </a:ln>
        </p:spPr>
      </p:sp>
      <p:sp>
        <p:nvSpPr>
          <p:cNvPr id="12" name="Text 8"/>
          <p:cNvSpPr/>
          <p:nvPr/>
        </p:nvSpPr>
        <p:spPr>
          <a:xfrm>
            <a:off x="822960" y="4096512"/>
            <a:ext cx="3063240" cy="320040"/>
          </a:xfrm>
          <a:prstGeom prst="rect">
            <a:avLst/>
          </a:prstGeom>
          <a:noFill/>
          <a:ln/>
        </p:spPr>
        <p:txBody>
          <a:bodyPr wrap="square" lIns="0" tIns="0" rIns="0" bIns="0" rtlCol="0" anchor="ctr"/>
          <a:lstStyle/>
          <a:p>
            <a:pPr indent="0" marL="0">
              <a:buNone/>
            </a:pPr>
            <a:r>
              <a:rPr lang="en-US" sz="1150" b="1" dirty="0">
                <a:solidFill>
                  <a:srgbClr val="35C1B1"/>
                </a:solidFill>
                <a:latin typeface="Arial" pitchFamily="34" charset="0"/>
                <a:ea typeface="Arial" pitchFamily="34" charset="-122"/>
                <a:cs typeface="Arial" pitchFamily="34" charset="-120"/>
              </a:rPr>
              <a:t>Free plan · from $20/mo</a:t>
            </a:r>
            <a:endParaRPr lang="en-US" sz="1150" dirty="0"/>
          </a:p>
        </p:txBody>
      </p:sp>
      <p:sp>
        <p:nvSpPr>
          <p:cNvPr id="13" name="Shape 9"/>
          <p:cNvSpPr/>
          <p:nvPr/>
        </p:nvSpPr>
        <p:spPr>
          <a:xfrm>
            <a:off x="4379976" y="1554480"/>
            <a:ext cx="3611880" cy="3108960"/>
          </a:xfrm>
          <a:prstGeom prst="roundRect">
            <a:avLst>
              <a:gd name="adj" fmla="val 2647"/>
            </a:avLst>
          </a:prstGeom>
          <a:solidFill>
            <a:srgbClr val="F5F8FC"/>
          </a:solidFill>
          <a:ln w="12700">
            <a:solidFill>
              <a:srgbClr val="E1E6F0"/>
            </a:solidFill>
            <a:prstDash val="solid"/>
          </a:ln>
        </p:spPr>
      </p:sp>
      <p:sp>
        <p:nvSpPr>
          <p:cNvPr id="14" name="Shape 10"/>
          <p:cNvSpPr/>
          <p:nvPr/>
        </p:nvSpPr>
        <p:spPr>
          <a:xfrm>
            <a:off x="4654296" y="1828800"/>
            <a:ext cx="502920" cy="502920"/>
          </a:xfrm>
          <a:prstGeom prst="ellipse">
            <a:avLst/>
          </a:prstGeom>
          <a:solidFill>
            <a:srgbClr val="29A9E1"/>
          </a:solidFill>
          <a:ln/>
        </p:spPr>
      </p:sp>
      <p:pic>
        <p:nvPicPr>
          <p:cNvPr id="15" name="Image 1" descr="icons/diagram.png">    </p:cNvPr>
          <p:cNvPicPr>
            <a:picLocks noChangeAspect="1"/>
          </p:cNvPicPr>
          <p:nvPr/>
        </p:nvPicPr>
        <p:blipFill>
          <a:blip r:embed="rId3"/>
          <a:stretch>
            <a:fillRect/>
          </a:stretch>
        </p:blipFill>
        <p:spPr>
          <a:xfrm>
            <a:off x="4780026" y="1954530"/>
            <a:ext cx="251460" cy="251460"/>
          </a:xfrm>
          <a:prstGeom prst="rect">
            <a:avLst/>
          </a:prstGeom>
        </p:spPr>
      </p:pic>
      <p:sp>
        <p:nvSpPr>
          <p:cNvPr id="16" name="Text 11"/>
          <p:cNvSpPr/>
          <p:nvPr/>
        </p:nvSpPr>
        <p:spPr>
          <a:xfrm>
            <a:off x="5294376" y="1920240"/>
            <a:ext cx="2560320" cy="320040"/>
          </a:xfrm>
          <a:prstGeom prst="rect">
            <a:avLst/>
          </a:prstGeom>
          <a:noFill/>
          <a:ln/>
        </p:spPr>
        <p:txBody>
          <a:bodyPr wrap="square" lIns="0" tIns="0" rIns="0" bIns="0" rtlCol="0" anchor="ctr"/>
          <a:lstStyle/>
          <a:p>
            <a:pPr indent="0" marL="0">
              <a:buNone/>
            </a:pPr>
            <a:r>
              <a:rPr lang="en-US" sz="1600" b="1" dirty="0">
                <a:solidFill>
                  <a:srgbClr val="151F4A"/>
                </a:solidFill>
                <a:latin typeface="Arial" pitchFamily="34" charset="0"/>
                <a:ea typeface="Arial" pitchFamily="34" charset="-122"/>
                <a:cs typeface="Arial" pitchFamily="34" charset="-120"/>
              </a:rPr>
              <a:t>Make</a:t>
            </a:r>
            <a:endParaRPr lang="en-US" sz="1600" dirty="0"/>
          </a:p>
        </p:txBody>
      </p:sp>
      <p:sp>
        <p:nvSpPr>
          <p:cNvPr id="17" name="Text 12"/>
          <p:cNvSpPr/>
          <p:nvPr/>
        </p:nvSpPr>
        <p:spPr>
          <a:xfrm>
            <a:off x="4654296" y="2514600"/>
            <a:ext cx="3063240" cy="137160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Visual drag-and-drop scenarios — see your whole workflow as a map.</a:t>
            </a:r>
            <a:endParaRPr lang="en-US" sz="1250" dirty="0"/>
          </a:p>
        </p:txBody>
      </p:sp>
      <p:sp>
        <p:nvSpPr>
          <p:cNvPr id="18" name="Shape 13"/>
          <p:cNvSpPr/>
          <p:nvPr/>
        </p:nvSpPr>
        <p:spPr>
          <a:xfrm>
            <a:off x="4654296" y="3977640"/>
            <a:ext cx="3063240" cy="0"/>
          </a:xfrm>
          <a:prstGeom prst="line">
            <a:avLst/>
          </a:prstGeom>
          <a:noFill/>
          <a:ln w="12700">
            <a:solidFill>
              <a:srgbClr val="E1E6F0"/>
            </a:solidFill>
            <a:prstDash val="solid"/>
          </a:ln>
        </p:spPr>
      </p:sp>
      <p:sp>
        <p:nvSpPr>
          <p:cNvPr id="19" name="Text 14"/>
          <p:cNvSpPr/>
          <p:nvPr/>
        </p:nvSpPr>
        <p:spPr>
          <a:xfrm>
            <a:off x="4654296" y="4096512"/>
            <a:ext cx="3063240" cy="320040"/>
          </a:xfrm>
          <a:prstGeom prst="rect">
            <a:avLst/>
          </a:prstGeom>
          <a:noFill/>
          <a:ln/>
        </p:spPr>
        <p:txBody>
          <a:bodyPr wrap="square" lIns="0" tIns="0" rIns="0" bIns="0" rtlCol="0" anchor="ctr"/>
          <a:lstStyle/>
          <a:p>
            <a:pPr indent="0" marL="0">
              <a:buNone/>
            </a:pPr>
            <a:r>
              <a:rPr lang="en-US" sz="1150" b="1" dirty="0">
                <a:solidFill>
                  <a:srgbClr val="35C1B1"/>
                </a:solidFill>
                <a:latin typeface="Arial" pitchFamily="34" charset="0"/>
                <a:ea typeface="Arial" pitchFamily="34" charset="-122"/>
                <a:cs typeface="Arial" pitchFamily="34" charset="-120"/>
              </a:rPr>
              <a:t>Free tier · from $9/mo</a:t>
            </a:r>
            <a:endParaRPr lang="en-US" sz="1150" dirty="0"/>
          </a:p>
        </p:txBody>
      </p:sp>
      <p:sp>
        <p:nvSpPr>
          <p:cNvPr id="20" name="Shape 15"/>
          <p:cNvSpPr/>
          <p:nvPr/>
        </p:nvSpPr>
        <p:spPr>
          <a:xfrm>
            <a:off x="8211312" y="1554480"/>
            <a:ext cx="3611880" cy="3108960"/>
          </a:xfrm>
          <a:prstGeom prst="roundRect">
            <a:avLst>
              <a:gd name="adj" fmla="val 2647"/>
            </a:avLst>
          </a:prstGeom>
          <a:solidFill>
            <a:srgbClr val="F5F8FC"/>
          </a:solidFill>
          <a:ln w="12700">
            <a:solidFill>
              <a:srgbClr val="E1E6F0"/>
            </a:solidFill>
            <a:prstDash val="solid"/>
          </a:ln>
        </p:spPr>
      </p:sp>
      <p:sp>
        <p:nvSpPr>
          <p:cNvPr id="21" name="Shape 16"/>
          <p:cNvSpPr/>
          <p:nvPr/>
        </p:nvSpPr>
        <p:spPr>
          <a:xfrm>
            <a:off x="8485632" y="1828800"/>
            <a:ext cx="502920" cy="502920"/>
          </a:xfrm>
          <a:prstGeom prst="ellipse">
            <a:avLst/>
          </a:prstGeom>
          <a:solidFill>
            <a:srgbClr val="151F4A"/>
          </a:solidFill>
          <a:ln/>
        </p:spPr>
      </p:sp>
      <p:pic>
        <p:nvPicPr>
          <p:cNvPr id="22" name="Image 2" descr="icons/code.png">    </p:cNvPr>
          <p:cNvPicPr>
            <a:picLocks noChangeAspect="1"/>
          </p:cNvPicPr>
          <p:nvPr/>
        </p:nvPicPr>
        <p:blipFill>
          <a:blip r:embed="rId4"/>
          <a:stretch>
            <a:fillRect/>
          </a:stretch>
        </p:blipFill>
        <p:spPr>
          <a:xfrm>
            <a:off x="8611362" y="1954530"/>
            <a:ext cx="251460" cy="251460"/>
          </a:xfrm>
          <a:prstGeom prst="rect">
            <a:avLst/>
          </a:prstGeom>
        </p:spPr>
      </p:pic>
      <p:sp>
        <p:nvSpPr>
          <p:cNvPr id="23" name="Text 17"/>
          <p:cNvSpPr/>
          <p:nvPr/>
        </p:nvSpPr>
        <p:spPr>
          <a:xfrm>
            <a:off x="9125712" y="1920240"/>
            <a:ext cx="2560320" cy="320040"/>
          </a:xfrm>
          <a:prstGeom prst="rect">
            <a:avLst/>
          </a:prstGeom>
          <a:noFill/>
          <a:ln/>
        </p:spPr>
        <p:txBody>
          <a:bodyPr wrap="square" lIns="0" tIns="0" rIns="0" bIns="0" rtlCol="0" anchor="ctr"/>
          <a:lstStyle/>
          <a:p>
            <a:pPr indent="0" marL="0">
              <a:buNone/>
            </a:pPr>
            <a:r>
              <a:rPr lang="en-US" sz="1600" b="1" dirty="0">
                <a:solidFill>
                  <a:srgbClr val="151F4A"/>
                </a:solidFill>
                <a:latin typeface="Arial" pitchFamily="34" charset="0"/>
                <a:ea typeface="Arial" pitchFamily="34" charset="-122"/>
                <a:cs typeface="Arial" pitchFamily="34" charset="-120"/>
              </a:rPr>
              <a:t>n8n</a:t>
            </a:r>
            <a:endParaRPr lang="en-US" sz="1600" dirty="0"/>
          </a:p>
        </p:txBody>
      </p:sp>
      <p:sp>
        <p:nvSpPr>
          <p:cNvPr id="24" name="Text 18"/>
          <p:cNvSpPr/>
          <p:nvPr/>
        </p:nvSpPr>
        <p:spPr>
          <a:xfrm>
            <a:off x="8485632" y="2514600"/>
            <a:ext cx="3063240" cy="137160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Open source. Self-host it free, AI-native nodes, no per-task fees.</a:t>
            </a:r>
            <a:endParaRPr lang="en-US" sz="1250" dirty="0"/>
          </a:p>
        </p:txBody>
      </p:sp>
      <p:sp>
        <p:nvSpPr>
          <p:cNvPr id="25" name="Shape 19"/>
          <p:cNvSpPr/>
          <p:nvPr/>
        </p:nvSpPr>
        <p:spPr>
          <a:xfrm>
            <a:off x="8485632" y="3977640"/>
            <a:ext cx="3063240" cy="0"/>
          </a:xfrm>
          <a:prstGeom prst="line">
            <a:avLst/>
          </a:prstGeom>
          <a:noFill/>
          <a:ln w="12700">
            <a:solidFill>
              <a:srgbClr val="E1E6F0"/>
            </a:solidFill>
            <a:prstDash val="solid"/>
          </a:ln>
        </p:spPr>
      </p:sp>
      <p:sp>
        <p:nvSpPr>
          <p:cNvPr id="26" name="Text 20"/>
          <p:cNvSpPr/>
          <p:nvPr/>
        </p:nvSpPr>
        <p:spPr>
          <a:xfrm>
            <a:off x="8485632" y="4096512"/>
            <a:ext cx="3063240" cy="320040"/>
          </a:xfrm>
          <a:prstGeom prst="rect">
            <a:avLst/>
          </a:prstGeom>
          <a:noFill/>
          <a:ln/>
        </p:spPr>
        <p:txBody>
          <a:bodyPr wrap="square" lIns="0" tIns="0" rIns="0" bIns="0" rtlCol="0" anchor="ctr"/>
          <a:lstStyle/>
          <a:p>
            <a:pPr indent="0" marL="0">
              <a:buNone/>
            </a:pPr>
            <a:r>
              <a:rPr lang="en-US" sz="1150" b="1" dirty="0">
                <a:solidFill>
                  <a:srgbClr val="35C1B1"/>
                </a:solidFill>
                <a:latin typeface="Arial" pitchFamily="34" charset="0"/>
                <a:ea typeface="Arial" pitchFamily="34" charset="-122"/>
                <a:cs typeface="Arial" pitchFamily="34" charset="-120"/>
              </a:rPr>
              <a:t>Self-host ₦0 · cloud $20</a:t>
            </a:r>
            <a:endParaRPr lang="en-US" sz="1150" dirty="0"/>
          </a:p>
        </p:txBody>
      </p:sp>
      <p:sp>
        <p:nvSpPr>
          <p:cNvPr id="27" name="Shape 21"/>
          <p:cNvSpPr/>
          <p:nvPr/>
        </p:nvSpPr>
        <p:spPr>
          <a:xfrm>
            <a:off x="548640" y="4983480"/>
            <a:ext cx="11109960" cy="1005840"/>
          </a:xfrm>
          <a:prstGeom prst="roundRect">
            <a:avLst>
              <a:gd name="adj" fmla="val 8182"/>
            </a:avLst>
          </a:prstGeom>
          <a:solidFill>
            <a:srgbClr val="EAF5FC"/>
          </a:solidFill>
          <a:ln/>
        </p:spPr>
      </p:sp>
      <p:sp>
        <p:nvSpPr>
          <p:cNvPr id="28" name="Text 22"/>
          <p:cNvSpPr/>
          <p:nvPr/>
        </p:nvSpPr>
        <p:spPr>
          <a:xfrm>
            <a:off x="868680" y="5138928"/>
            <a:ext cx="10515600" cy="685800"/>
          </a:xfrm>
          <a:prstGeom prst="rect">
            <a:avLst/>
          </a:prstGeom>
          <a:noFill/>
          <a:ln/>
        </p:spPr>
        <p:txBody>
          <a:bodyPr wrap="square" lIns="0" tIns="0" rIns="0" bIns="0" rtlCol="0" anchor="ctr"/>
          <a:lstStyle/>
          <a:p>
            <a:pPr indent="0" marL="0">
              <a:buNone/>
            </a:pPr>
            <a:r>
              <a:rPr lang="en-US" sz="1450" b="1" dirty="0">
                <a:solidFill>
                  <a:srgbClr val="151F4A"/>
                </a:solidFill>
                <a:latin typeface="Calibri" pitchFamily="34" charset="0"/>
                <a:ea typeface="Calibri" pitchFamily="34" charset="-122"/>
                <a:cs typeface="Calibri" pitchFamily="34" charset="-120"/>
              </a:rPr>
              <a:t>The formula:  </a:t>
            </a:r>
            <a:pPr indent="0" marL="0">
              <a:buNone/>
            </a:pPr>
            <a:r>
              <a:rPr lang="en-US" sz="1450" dirty="0">
                <a:solidFill>
                  <a:srgbClr val="151F4A"/>
                </a:solidFill>
                <a:latin typeface="Calibri" pitchFamily="34" charset="0"/>
                <a:ea typeface="Calibri" pitchFamily="34" charset="-122"/>
                <a:cs typeface="Calibri" pitchFamily="34" charset="-120"/>
              </a:rPr>
              <a:t>Trigger (new lead, new DM, new order)  →  AI step (draft, summarize, decide)  →  Action (reply, log, notify you).</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REAL EXAMPLE</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A lead machine you could build this weekend</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2011680"/>
            <a:ext cx="2103120" cy="2377440"/>
          </a:xfrm>
          <a:prstGeom prst="roundRect">
            <a:avLst>
              <a:gd name="adj" fmla="val 3913"/>
            </a:avLst>
          </a:prstGeom>
          <a:solidFill>
            <a:srgbClr val="F5F8FC"/>
          </a:solidFill>
          <a:ln w="12700">
            <a:solidFill>
              <a:srgbClr val="E1E6F0"/>
            </a:solidFill>
            <a:prstDash val="solid"/>
          </a:ln>
        </p:spPr>
      </p:sp>
      <p:sp>
        <p:nvSpPr>
          <p:cNvPr id="7" name="Shape 4"/>
          <p:cNvSpPr/>
          <p:nvPr/>
        </p:nvSpPr>
        <p:spPr>
          <a:xfrm>
            <a:off x="1325880" y="2286000"/>
            <a:ext cx="548640" cy="548640"/>
          </a:xfrm>
          <a:prstGeom prst="ellipse">
            <a:avLst/>
          </a:prstGeom>
          <a:solidFill>
            <a:srgbClr val="29A9E1"/>
          </a:solidFill>
          <a:ln/>
        </p:spPr>
      </p:sp>
      <p:pic>
        <p:nvPicPr>
          <p:cNvPr id="8" name="Image 0" descr="icons/comments.png">    </p:cNvPr>
          <p:cNvPicPr>
            <a:picLocks noChangeAspect="1"/>
          </p:cNvPicPr>
          <p:nvPr/>
        </p:nvPicPr>
        <p:blipFill>
          <a:blip r:embed="rId2"/>
          <a:stretch>
            <a:fillRect/>
          </a:stretch>
        </p:blipFill>
        <p:spPr>
          <a:xfrm>
            <a:off x="1463040" y="2423160"/>
            <a:ext cx="274320" cy="274320"/>
          </a:xfrm>
          <a:prstGeom prst="rect">
            <a:avLst/>
          </a:prstGeom>
        </p:spPr>
      </p:pic>
      <p:sp>
        <p:nvSpPr>
          <p:cNvPr id="9" name="Text 5"/>
          <p:cNvSpPr/>
          <p:nvPr/>
        </p:nvSpPr>
        <p:spPr>
          <a:xfrm>
            <a:off x="621792" y="3063240"/>
            <a:ext cx="1956816" cy="502920"/>
          </a:xfrm>
          <a:prstGeom prst="rect">
            <a:avLst/>
          </a:prstGeom>
          <a:noFill/>
          <a:ln/>
        </p:spPr>
        <p:txBody>
          <a:bodyPr wrap="square" lIns="0" tIns="0" rIns="0" bIns="0" rtlCol="0" anchor="ctr"/>
          <a:lstStyle/>
          <a:p>
            <a:pPr algn="ctr" indent="0" marL="0">
              <a:buNone/>
            </a:pPr>
            <a:r>
              <a:rPr lang="en-US" sz="1350" b="1" dirty="0">
                <a:solidFill>
                  <a:srgbClr val="151F4A"/>
                </a:solidFill>
                <a:latin typeface="Arial" pitchFamily="34" charset="0"/>
                <a:ea typeface="Arial" pitchFamily="34" charset="-122"/>
                <a:cs typeface="Arial" pitchFamily="34" charset="-120"/>
              </a:rPr>
              <a:t>New enquiry</a:t>
            </a:r>
            <a:endParaRPr lang="en-US" sz="1350" dirty="0"/>
          </a:p>
        </p:txBody>
      </p:sp>
      <p:sp>
        <p:nvSpPr>
          <p:cNvPr id="10" name="Text 6"/>
          <p:cNvSpPr/>
          <p:nvPr/>
        </p:nvSpPr>
        <p:spPr>
          <a:xfrm>
            <a:off x="658368" y="3611880"/>
            <a:ext cx="1883664" cy="64008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IG DM · WhatsApp · web form</a:t>
            </a:r>
            <a:endParaRPr lang="en-US" sz="1100" dirty="0"/>
          </a:p>
        </p:txBody>
      </p:sp>
      <p:pic>
        <p:nvPicPr>
          <p:cNvPr id="11" name="Image 1" descr="icons/arrowRight.png">    </p:cNvPr>
          <p:cNvPicPr>
            <a:picLocks noChangeAspect="1"/>
          </p:cNvPicPr>
          <p:nvPr/>
        </p:nvPicPr>
        <p:blipFill>
          <a:blip r:embed="rId3">
            <a:alphaModFix amt="75000"/>
          </a:blip>
          <a:stretch>
            <a:fillRect/>
          </a:stretch>
        </p:blipFill>
        <p:spPr>
          <a:xfrm>
            <a:off x="2660904" y="2926080"/>
            <a:ext cx="182880" cy="182880"/>
          </a:xfrm>
          <a:prstGeom prst="rect">
            <a:avLst/>
          </a:prstGeom>
        </p:spPr>
      </p:pic>
      <p:sp>
        <p:nvSpPr>
          <p:cNvPr id="12" name="Shape 7"/>
          <p:cNvSpPr/>
          <p:nvPr/>
        </p:nvSpPr>
        <p:spPr>
          <a:xfrm>
            <a:off x="2843784" y="2011680"/>
            <a:ext cx="2103120" cy="2377440"/>
          </a:xfrm>
          <a:prstGeom prst="roundRect">
            <a:avLst>
              <a:gd name="adj" fmla="val 3913"/>
            </a:avLst>
          </a:prstGeom>
          <a:solidFill>
            <a:srgbClr val="F5F8FC"/>
          </a:solidFill>
          <a:ln w="12700">
            <a:solidFill>
              <a:srgbClr val="E1E6F0"/>
            </a:solidFill>
            <a:prstDash val="solid"/>
          </a:ln>
        </p:spPr>
      </p:sp>
      <p:sp>
        <p:nvSpPr>
          <p:cNvPr id="13" name="Shape 8"/>
          <p:cNvSpPr/>
          <p:nvPr/>
        </p:nvSpPr>
        <p:spPr>
          <a:xfrm>
            <a:off x="3621024" y="2286000"/>
            <a:ext cx="548640" cy="548640"/>
          </a:xfrm>
          <a:prstGeom prst="ellipse">
            <a:avLst/>
          </a:prstGeom>
          <a:solidFill>
            <a:srgbClr val="35C1B1"/>
          </a:solidFill>
          <a:ln/>
        </p:spPr>
      </p:sp>
      <p:pic>
        <p:nvPicPr>
          <p:cNvPr id="14" name="Image 2" descr="icons/pen.png">    </p:cNvPr>
          <p:cNvPicPr>
            <a:picLocks noChangeAspect="1"/>
          </p:cNvPicPr>
          <p:nvPr/>
        </p:nvPicPr>
        <p:blipFill>
          <a:blip r:embed="rId4"/>
          <a:stretch>
            <a:fillRect/>
          </a:stretch>
        </p:blipFill>
        <p:spPr>
          <a:xfrm>
            <a:off x="3758184" y="2423160"/>
            <a:ext cx="274320" cy="274320"/>
          </a:xfrm>
          <a:prstGeom prst="rect">
            <a:avLst/>
          </a:prstGeom>
        </p:spPr>
      </p:pic>
      <p:sp>
        <p:nvSpPr>
          <p:cNvPr id="15" name="Text 9"/>
          <p:cNvSpPr/>
          <p:nvPr/>
        </p:nvSpPr>
        <p:spPr>
          <a:xfrm>
            <a:off x="2916936" y="3063240"/>
            <a:ext cx="1956816" cy="502920"/>
          </a:xfrm>
          <a:prstGeom prst="rect">
            <a:avLst/>
          </a:prstGeom>
          <a:noFill/>
          <a:ln/>
        </p:spPr>
        <p:txBody>
          <a:bodyPr wrap="square" lIns="0" tIns="0" rIns="0" bIns="0" rtlCol="0" anchor="ctr"/>
          <a:lstStyle/>
          <a:p>
            <a:pPr algn="ctr" indent="0" marL="0">
              <a:buNone/>
            </a:pPr>
            <a:r>
              <a:rPr lang="en-US" sz="1350" b="1" dirty="0">
                <a:solidFill>
                  <a:srgbClr val="151F4A"/>
                </a:solidFill>
                <a:latin typeface="Arial" pitchFamily="34" charset="0"/>
                <a:ea typeface="Arial" pitchFamily="34" charset="-122"/>
                <a:cs typeface="Arial" pitchFamily="34" charset="-120"/>
              </a:rPr>
              <a:t>AI drafts reply</a:t>
            </a:r>
            <a:endParaRPr lang="en-US" sz="1350" dirty="0"/>
          </a:p>
        </p:txBody>
      </p:sp>
      <p:sp>
        <p:nvSpPr>
          <p:cNvPr id="16" name="Text 10"/>
          <p:cNvSpPr/>
          <p:nvPr/>
        </p:nvSpPr>
        <p:spPr>
          <a:xfrm>
            <a:off x="2953512" y="3611880"/>
            <a:ext cx="1883664" cy="64008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In your voice, from your FAQ</a:t>
            </a:r>
            <a:endParaRPr lang="en-US" sz="1100" dirty="0"/>
          </a:p>
        </p:txBody>
      </p:sp>
      <p:pic>
        <p:nvPicPr>
          <p:cNvPr id="17" name="Image 3" descr="icons/arrowRight.png">    </p:cNvPr>
          <p:cNvPicPr>
            <a:picLocks noChangeAspect="1"/>
          </p:cNvPicPr>
          <p:nvPr/>
        </p:nvPicPr>
        <p:blipFill>
          <a:blip r:embed="rId5">
            <a:alphaModFix amt="75000"/>
          </a:blip>
          <a:stretch>
            <a:fillRect/>
          </a:stretch>
        </p:blipFill>
        <p:spPr>
          <a:xfrm>
            <a:off x="4956048" y="2926080"/>
            <a:ext cx="182880" cy="182880"/>
          </a:xfrm>
          <a:prstGeom prst="rect">
            <a:avLst/>
          </a:prstGeom>
        </p:spPr>
      </p:pic>
      <p:sp>
        <p:nvSpPr>
          <p:cNvPr id="18" name="Shape 11"/>
          <p:cNvSpPr/>
          <p:nvPr/>
        </p:nvSpPr>
        <p:spPr>
          <a:xfrm>
            <a:off x="5138928" y="2011680"/>
            <a:ext cx="2103120" cy="2377440"/>
          </a:xfrm>
          <a:prstGeom prst="roundRect">
            <a:avLst>
              <a:gd name="adj" fmla="val 3913"/>
            </a:avLst>
          </a:prstGeom>
          <a:solidFill>
            <a:srgbClr val="F5F8FC"/>
          </a:solidFill>
          <a:ln w="12700">
            <a:solidFill>
              <a:srgbClr val="E1E6F0"/>
            </a:solidFill>
            <a:prstDash val="solid"/>
          </a:ln>
        </p:spPr>
      </p:sp>
      <p:sp>
        <p:nvSpPr>
          <p:cNvPr id="19" name="Shape 12"/>
          <p:cNvSpPr/>
          <p:nvPr/>
        </p:nvSpPr>
        <p:spPr>
          <a:xfrm>
            <a:off x="5916168" y="2286000"/>
            <a:ext cx="548640" cy="548640"/>
          </a:xfrm>
          <a:prstGeom prst="ellipse">
            <a:avLst/>
          </a:prstGeom>
          <a:solidFill>
            <a:srgbClr val="151F4A"/>
          </a:solidFill>
          <a:ln/>
        </p:spPr>
      </p:sp>
      <p:pic>
        <p:nvPicPr>
          <p:cNvPr id="20" name="Image 4" descr="icons/database.png">    </p:cNvPr>
          <p:cNvPicPr>
            <a:picLocks noChangeAspect="1"/>
          </p:cNvPicPr>
          <p:nvPr/>
        </p:nvPicPr>
        <p:blipFill>
          <a:blip r:embed="rId6"/>
          <a:stretch>
            <a:fillRect/>
          </a:stretch>
        </p:blipFill>
        <p:spPr>
          <a:xfrm>
            <a:off x="6053328" y="2423160"/>
            <a:ext cx="274320" cy="274320"/>
          </a:xfrm>
          <a:prstGeom prst="rect">
            <a:avLst/>
          </a:prstGeom>
        </p:spPr>
      </p:pic>
      <p:sp>
        <p:nvSpPr>
          <p:cNvPr id="21" name="Text 13"/>
          <p:cNvSpPr/>
          <p:nvPr/>
        </p:nvSpPr>
        <p:spPr>
          <a:xfrm>
            <a:off x="5212080" y="3063240"/>
            <a:ext cx="1956816" cy="502920"/>
          </a:xfrm>
          <a:prstGeom prst="rect">
            <a:avLst/>
          </a:prstGeom>
          <a:noFill/>
          <a:ln/>
        </p:spPr>
        <p:txBody>
          <a:bodyPr wrap="square" lIns="0" tIns="0" rIns="0" bIns="0" rtlCol="0" anchor="ctr"/>
          <a:lstStyle/>
          <a:p>
            <a:pPr algn="ctr" indent="0" marL="0">
              <a:buNone/>
            </a:pPr>
            <a:r>
              <a:rPr lang="en-US" sz="1350" b="1" dirty="0">
                <a:solidFill>
                  <a:srgbClr val="151F4A"/>
                </a:solidFill>
                <a:latin typeface="Arial" pitchFamily="34" charset="0"/>
                <a:ea typeface="Arial" pitchFamily="34" charset="-122"/>
                <a:cs typeface="Arial" pitchFamily="34" charset="-120"/>
              </a:rPr>
              <a:t>Lead logged</a:t>
            </a:r>
            <a:endParaRPr lang="en-US" sz="1350" dirty="0"/>
          </a:p>
        </p:txBody>
      </p:sp>
      <p:sp>
        <p:nvSpPr>
          <p:cNvPr id="22" name="Text 14"/>
          <p:cNvSpPr/>
          <p:nvPr/>
        </p:nvSpPr>
        <p:spPr>
          <a:xfrm>
            <a:off x="5248656" y="3611880"/>
            <a:ext cx="1883664" cy="64008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Sheet or free CRM, auto-tagged</a:t>
            </a:r>
            <a:endParaRPr lang="en-US" sz="1100" dirty="0"/>
          </a:p>
        </p:txBody>
      </p:sp>
      <p:pic>
        <p:nvPicPr>
          <p:cNvPr id="23" name="Image 5" descr="icons/arrowRight.png">    </p:cNvPr>
          <p:cNvPicPr>
            <a:picLocks noChangeAspect="1"/>
          </p:cNvPicPr>
          <p:nvPr/>
        </p:nvPicPr>
        <p:blipFill>
          <a:blip r:embed="rId7">
            <a:alphaModFix amt="75000"/>
          </a:blip>
          <a:stretch>
            <a:fillRect/>
          </a:stretch>
        </p:blipFill>
        <p:spPr>
          <a:xfrm>
            <a:off x="7251192" y="2926080"/>
            <a:ext cx="182880" cy="182880"/>
          </a:xfrm>
          <a:prstGeom prst="rect">
            <a:avLst/>
          </a:prstGeom>
        </p:spPr>
      </p:pic>
      <p:sp>
        <p:nvSpPr>
          <p:cNvPr id="24" name="Shape 15"/>
          <p:cNvSpPr/>
          <p:nvPr/>
        </p:nvSpPr>
        <p:spPr>
          <a:xfrm>
            <a:off x="7434072" y="2011680"/>
            <a:ext cx="2103120" cy="2377440"/>
          </a:xfrm>
          <a:prstGeom prst="roundRect">
            <a:avLst>
              <a:gd name="adj" fmla="val 3913"/>
            </a:avLst>
          </a:prstGeom>
          <a:solidFill>
            <a:srgbClr val="F5F8FC"/>
          </a:solidFill>
          <a:ln w="12700">
            <a:solidFill>
              <a:srgbClr val="E1E6F0"/>
            </a:solidFill>
            <a:prstDash val="solid"/>
          </a:ln>
        </p:spPr>
      </p:sp>
      <p:sp>
        <p:nvSpPr>
          <p:cNvPr id="25" name="Shape 16"/>
          <p:cNvSpPr/>
          <p:nvPr/>
        </p:nvSpPr>
        <p:spPr>
          <a:xfrm>
            <a:off x="8211312" y="2286000"/>
            <a:ext cx="548640" cy="548640"/>
          </a:xfrm>
          <a:prstGeom prst="ellipse">
            <a:avLst/>
          </a:prstGeom>
          <a:solidFill>
            <a:srgbClr val="35C1B1"/>
          </a:solidFill>
          <a:ln/>
        </p:spPr>
      </p:sp>
      <p:pic>
        <p:nvPicPr>
          <p:cNvPr id="26" name="Image 6" descr="icons/repeat.png">    </p:cNvPr>
          <p:cNvPicPr>
            <a:picLocks noChangeAspect="1"/>
          </p:cNvPicPr>
          <p:nvPr/>
        </p:nvPicPr>
        <p:blipFill>
          <a:blip r:embed="rId8"/>
          <a:stretch>
            <a:fillRect/>
          </a:stretch>
        </p:blipFill>
        <p:spPr>
          <a:xfrm>
            <a:off x="8348472" y="2423160"/>
            <a:ext cx="274320" cy="274320"/>
          </a:xfrm>
          <a:prstGeom prst="rect">
            <a:avLst/>
          </a:prstGeom>
        </p:spPr>
      </p:pic>
      <p:sp>
        <p:nvSpPr>
          <p:cNvPr id="27" name="Text 17"/>
          <p:cNvSpPr/>
          <p:nvPr/>
        </p:nvSpPr>
        <p:spPr>
          <a:xfrm>
            <a:off x="7507224" y="3063240"/>
            <a:ext cx="1956816" cy="502920"/>
          </a:xfrm>
          <a:prstGeom prst="rect">
            <a:avLst/>
          </a:prstGeom>
          <a:noFill/>
          <a:ln/>
        </p:spPr>
        <p:txBody>
          <a:bodyPr wrap="square" lIns="0" tIns="0" rIns="0" bIns="0" rtlCol="0" anchor="ctr"/>
          <a:lstStyle/>
          <a:p>
            <a:pPr algn="ctr" indent="0" marL="0">
              <a:buNone/>
            </a:pPr>
            <a:r>
              <a:rPr lang="en-US" sz="1350" b="1" dirty="0">
                <a:solidFill>
                  <a:srgbClr val="151F4A"/>
                </a:solidFill>
                <a:latin typeface="Arial" pitchFamily="34" charset="0"/>
                <a:ea typeface="Arial" pitchFamily="34" charset="-122"/>
                <a:cs typeface="Arial" pitchFamily="34" charset="-120"/>
              </a:rPr>
              <a:t>Day-3 follow-up</a:t>
            </a:r>
            <a:endParaRPr lang="en-US" sz="1350" dirty="0"/>
          </a:p>
        </p:txBody>
      </p:sp>
      <p:sp>
        <p:nvSpPr>
          <p:cNvPr id="28" name="Text 18"/>
          <p:cNvSpPr/>
          <p:nvPr/>
        </p:nvSpPr>
        <p:spPr>
          <a:xfrm>
            <a:off x="7543800" y="3611880"/>
            <a:ext cx="1883664" cy="64008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Polite nudge if no response</a:t>
            </a:r>
            <a:endParaRPr lang="en-US" sz="1100" dirty="0"/>
          </a:p>
        </p:txBody>
      </p:sp>
      <p:pic>
        <p:nvPicPr>
          <p:cNvPr id="29" name="Image 7" descr="icons/arrowRight.png">    </p:cNvPr>
          <p:cNvPicPr>
            <a:picLocks noChangeAspect="1"/>
          </p:cNvPicPr>
          <p:nvPr/>
        </p:nvPicPr>
        <p:blipFill>
          <a:blip r:embed="rId9">
            <a:alphaModFix amt="75000"/>
          </a:blip>
          <a:stretch>
            <a:fillRect/>
          </a:stretch>
        </p:blipFill>
        <p:spPr>
          <a:xfrm>
            <a:off x="9546336" y="2926080"/>
            <a:ext cx="182880" cy="182880"/>
          </a:xfrm>
          <a:prstGeom prst="rect">
            <a:avLst/>
          </a:prstGeom>
        </p:spPr>
      </p:pic>
      <p:sp>
        <p:nvSpPr>
          <p:cNvPr id="30" name="Shape 19"/>
          <p:cNvSpPr/>
          <p:nvPr/>
        </p:nvSpPr>
        <p:spPr>
          <a:xfrm>
            <a:off x="9729216" y="2011680"/>
            <a:ext cx="2103120" cy="2377440"/>
          </a:xfrm>
          <a:prstGeom prst="roundRect">
            <a:avLst>
              <a:gd name="adj" fmla="val 3913"/>
            </a:avLst>
          </a:prstGeom>
          <a:solidFill>
            <a:srgbClr val="F5F8FC"/>
          </a:solidFill>
          <a:ln w="12700">
            <a:solidFill>
              <a:srgbClr val="E1E6F0"/>
            </a:solidFill>
            <a:prstDash val="solid"/>
          </a:ln>
        </p:spPr>
      </p:sp>
      <p:sp>
        <p:nvSpPr>
          <p:cNvPr id="31" name="Shape 20"/>
          <p:cNvSpPr/>
          <p:nvPr/>
        </p:nvSpPr>
        <p:spPr>
          <a:xfrm>
            <a:off x="10506456" y="2286000"/>
            <a:ext cx="548640" cy="548640"/>
          </a:xfrm>
          <a:prstGeom prst="ellipse">
            <a:avLst/>
          </a:prstGeom>
          <a:solidFill>
            <a:srgbClr val="29A9E1"/>
          </a:solidFill>
          <a:ln/>
        </p:spPr>
      </p:sp>
      <p:pic>
        <p:nvPicPr>
          <p:cNvPr id="32" name="Image 8" descr="icons/envelope.png">    </p:cNvPr>
          <p:cNvPicPr>
            <a:picLocks noChangeAspect="1"/>
          </p:cNvPicPr>
          <p:nvPr/>
        </p:nvPicPr>
        <p:blipFill>
          <a:blip r:embed="rId10"/>
          <a:stretch>
            <a:fillRect/>
          </a:stretch>
        </p:blipFill>
        <p:spPr>
          <a:xfrm>
            <a:off x="10643616" y="2423160"/>
            <a:ext cx="274320" cy="274320"/>
          </a:xfrm>
          <a:prstGeom prst="rect">
            <a:avLst/>
          </a:prstGeom>
        </p:spPr>
      </p:pic>
      <p:sp>
        <p:nvSpPr>
          <p:cNvPr id="33" name="Text 21"/>
          <p:cNvSpPr/>
          <p:nvPr/>
        </p:nvSpPr>
        <p:spPr>
          <a:xfrm>
            <a:off x="9802368" y="3063240"/>
            <a:ext cx="1956816" cy="502920"/>
          </a:xfrm>
          <a:prstGeom prst="rect">
            <a:avLst/>
          </a:prstGeom>
          <a:noFill/>
          <a:ln/>
        </p:spPr>
        <p:txBody>
          <a:bodyPr wrap="square" lIns="0" tIns="0" rIns="0" bIns="0" rtlCol="0" anchor="ctr"/>
          <a:lstStyle/>
          <a:p>
            <a:pPr algn="ctr" indent="0" marL="0">
              <a:buNone/>
            </a:pPr>
            <a:r>
              <a:rPr lang="en-US" sz="1350" b="1" dirty="0">
                <a:solidFill>
                  <a:srgbClr val="151F4A"/>
                </a:solidFill>
                <a:latin typeface="Arial" pitchFamily="34" charset="0"/>
                <a:ea typeface="Arial" pitchFamily="34" charset="-122"/>
                <a:cs typeface="Arial" pitchFamily="34" charset="-120"/>
              </a:rPr>
              <a:t>Monday 8 AM</a:t>
            </a:r>
            <a:endParaRPr lang="en-US" sz="1350" dirty="0"/>
          </a:p>
        </p:txBody>
      </p:sp>
      <p:sp>
        <p:nvSpPr>
          <p:cNvPr id="34" name="Text 22"/>
          <p:cNvSpPr/>
          <p:nvPr/>
        </p:nvSpPr>
        <p:spPr>
          <a:xfrm>
            <a:off x="9838944" y="3611880"/>
            <a:ext cx="1883664" cy="640080"/>
          </a:xfrm>
          <a:prstGeom prst="rect">
            <a:avLst/>
          </a:prstGeom>
          <a:noFill/>
          <a:ln/>
        </p:spPr>
        <p:txBody>
          <a:bodyPr wrap="square" lIns="0" tIns="0" rIns="0" bIns="0" rtlCol="0" anchor="ctr"/>
          <a:lstStyle/>
          <a:p>
            <a:pPr algn="ctr" indent="0" marL="0">
              <a:buNone/>
            </a:pPr>
            <a:r>
              <a:rPr lang="en-US" sz="1100" dirty="0">
                <a:solidFill>
                  <a:srgbClr val="68708A"/>
                </a:solidFill>
                <a:latin typeface="Calibri" pitchFamily="34" charset="0"/>
                <a:ea typeface="Calibri" pitchFamily="34" charset="-122"/>
                <a:cs typeface="Calibri" pitchFamily="34" charset="-120"/>
              </a:rPr>
              <a:t>Summary of every lead, to you</a:t>
            </a:r>
            <a:endParaRPr lang="en-US" sz="1100" dirty="0"/>
          </a:p>
        </p:txBody>
      </p:sp>
      <p:sp>
        <p:nvSpPr>
          <p:cNvPr id="35" name="Shape 23"/>
          <p:cNvSpPr/>
          <p:nvPr/>
        </p:nvSpPr>
        <p:spPr>
          <a:xfrm>
            <a:off x="548640" y="4892040"/>
            <a:ext cx="11109960" cy="1097280"/>
          </a:xfrm>
          <a:prstGeom prst="roundRect">
            <a:avLst>
              <a:gd name="adj" fmla="val 7500"/>
            </a:avLst>
          </a:prstGeom>
          <a:solidFill>
            <a:srgbClr val="F0C93C"/>
          </a:solidFill>
          <a:ln/>
        </p:spPr>
      </p:sp>
      <p:sp>
        <p:nvSpPr>
          <p:cNvPr id="36" name="Text 24"/>
          <p:cNvSpPr/>
          <p:nvPr/>
        </p:nvSpPr>
        <p:spPr>
          <a:xfrm>
            <a:off x="868680" y="5029200"/>
            <a:ext cx="10515600" cy="82296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Runs 24/7.  Costs ₦0–$20/month.  </a:t>
            </a:r>
            <a:pPr indent="0" marL="0">
              <a:buNone/>
            </a:pPr>
            <a:r>
              <a:rPr lang="en-US" sz="1500" dirty="0">
                <a:solidFill>
                  <a:srgbClr val="151F4A"/>
                </a:solidFill>
                <a:latin typeface="Arial" pitchFamily="34" charset="0"/>
                <a:ea typeface="Arial" pitchFamily="34" charset="-122"/>
                <a:cs typeface="Arial" pitchFamily="34" charset="-120"/>
              </a:rPr>
              <a:t>Your job shrinks to one thing: review and approve. AI drafts — you decide.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58368" y="914400"/>
            <a:ext cx="4114800" cy="1554480"/>
          </a:xfrm>
          <a:prstGeom prst="rect">
            <a:avLst/>
          </a:prstGeom>
          <a:noFill/>
          <a:ln/>
        </p:spPr>
        <p:txBody>
          <a:bodyPr wrap="square" lIns="0" tIns="0" rIns="0" bIns="0" rtlCol="0" anchor="ctr"/>
          <a:lstStyle/>
          <a:p>
            <a:pPr indent="0" marL="0">
              <a:buNone/>
            </a:pPr>
            <a:r>
              <a:rPr lang="en-US" sz="9200" b="1" dirty="0">
                <a:solidFill>
                  <a:srgbClr val="F0C93C"/>
                </a:solidFill>
                <a:latin typeface="Arial" pitchFamily="34" charset="0"/>
                <a:ea typeface="Arial" pitchFamily="34" charset="-122"/>
                <a:cs typeface="Arial" pitchFamily="34" charset="-120"/>
              </a:rPr>
              <a:t>05</a:t>
            </a:r>
            <a:endParaRPr lang="en-US" sz="9200" dirty="0"/>
          </a:p>
        </p:txBody>
      </p:sp>
      <p:sp>
        <p:nvSpPr>
          <p:cNvPr id="3" name="Text 1"/>
          <p:cNvSpPr/>
          <p:nvPr/>
        </p:nvSpPr>
        <p:spPr>
          <a:xfrm>
            <a:off x="685800" y="2788920"/>
            <a:ext cx="9692640" cy="12344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Build it tonight</a:t>
            </a:r>
            <a:endParaRPr lang="en-US" sz="3800" dirty="0"/>
          </a:p>
        </p:txBody>
      </p:sp>
      <p:sp>
        <p:nvSpPr>
          <p:cNvPr id="4" name="Text 2"/>
          <p:cNvSpPr/>
          <p:nvPr/>
        </p:nvSpPr>
        <p:spPr>
          <a:xfrm>
            <a:off x="685800" y="4114800"/>
            <a:ext cx="8412480" cy="868680"/>
          </a:xfrm>
          <a:prstGeom prst="rect">
            <a:avLst/>
          </a:prstGeom>
          <a:noFill/>
          <a:ln/>
        </p:spPr>
        <p:txBody>
          <a:bodyPr wrap="square" lIns="0" tIns="0" rIns="0" bIns="0" rtlCol="0" anchor="ctr"/>
          <a:lstStyle/>
          <a:p>
            <a:pPr indent="0" marL="0">
              <a:buNone/>
            </a:pPr>
            <a:r>
              <a:rPr lang="en-US" sz="1700" dirty="0">
                <a:solidFill>
                  <a:srgbClr val="C9D4EE"/>
                </a:solidFill>
                <a:latin typeface="Calibri" pitchFamily="34" charset="0"/>
                <a:ea typeface="Calibri" pitchFamily="34" charset="-122"/>
                <a:cs typeface="Calibri" pitchFamily="34" charset="-120"/>
              </a:rPr>
              <a:t>Your personal website — designed by AI, hosted free, live before the weekend ends.</a:t>
            </a:r>
            <a:endParaRPr lang="en-US" sz="1700" dirty="0"/>
          </a:p>
        </p:txBody>
      </p:sp>
      <p:sp>
        <p:nvSpPr>
          <p:cNvPr id="5" name="Shape 3"/>
          <p:cNvSpPr/>
          <p:nvPr/>
        </p:nvSpPr>
        <p:spPr>
          <a:xfrm>
            <a:off x="10378440" y="914400"/>
            <a:ext cx="1051560" cy="1051560"/>
          </a:xfrm>
          <a:prstGeom prst="ellipse">
            <a:avLst/>
          </a:prstGeom>
          <a:solidFill>
            <a:srgbClr val="35C1B1"/>
          </a:solidFill>
          <a:ln/>
        </p:spPr>
      </p:sp>
      <p:pic>
        <p:nvPicPr>
          <p:cNvPr id="6" name="Image 0" descr="icons/globe.png">    </p:cNvPr>
          <p:cNvPicPr>
            <a:picLocks noChangeAspect="1"/>
          </p:cNvPicPr>
          <p:nvPr/>
        </p:nvPicPr>
        <p:blipFill>
          <a:blip r:embed="rId2"/>
          <a:stretch>
            <a:fillRect/>
          </a:stretch>
        </p:blipFill>
        <p:spPr>
          <a:xfrm>
            <a:off x="10641330" y="1177290"/>
            <a:ext cx="525780" cy="5257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WEBSITE BUILDERS</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Two roads to a website — both start with a sentence</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440680" cy="4526280"/>
          </a:xfrm>
          <a:prstGeom prst="roundRect">
            <a:avLst>
              <a:gd name="adj" fmla="val 1818"/>
            </a:avLst>
          </a:prstGeom>
          <a:solidFill>
            <a:srgbClr val="F5F8FC"/>
          </a:solidFill>
          <a:ln w="12700">
            <a:solidFill>
              <a:srgbClr val="E1E6F0"/>
            </a:solidFill>
            <a:prstDash val="solid"/>
          </a:ln>
        </p:spPr>
      </p:sp>
      <p:sp>
        <p:nvSpPr>
          <p:cNvPr id="7" name="Shape 4"/>
          <p:cNvSpPr/>
          <p:nvPr/>
        </p:nvSpPr>
        <p:spPr>
          <a:xfrm>
            <a:off x="868680" y="1719072"/>
            <a:ext cx="457200" cy="457200"/>
          </a:xfrm>
          <a:prstGeom prst="ellipse">
            <a:avLst/>
          </a:prstGeom>
          <a:solidFill>
            <a:srgbClr val="35C1B1"/>
          </a:solidFill>
          <a:ln/>
        </p:spPr>
      </p:sp>
      <p:pic>
        <p:nvPicPr>
          <p:cNvPr id="8" name="Image 0" descr="icons/mobile.png">    </p:cNvPr>
          <p:cNvPicPr>
            <a:picLocks noChangeAspect="1"/>
          </p:cNvPicPr>
          <p:nvPr/>
        </p:nvPicPr>
        <p:blipFill>
          <a:blip r:embed="rId2"/>
          <a:stretch>
            <a:fillRect/>
          </a:stretch>
        </p:blipFill>
        <p:spPr>
          <a:xfrm>
            <a:off x="982980" y="1833372"/>
            <a:ext cx="228600" cy="228600"/>
          </a:xfrm>
          <a:prstGeom prst="rect">
            <a:avLst/>
          </a:prstGeom>
        </p:spPr>
      </p:pic>
      <p:sp>
        <p:nvSpPr>
          <p:cNvPr id="9" name="Text 5"/>
          <p:cNvSpPr/>
          <p:nvPr/>
        </p:nvSpPr>
        <p:spPr>
          <a:xfrm>
            <a:off x="1463040" y="1783080"/>
            <a:ext cx="420624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No-code lane — easiest</a:t>
            </a:r>
            <a:endParaRPr lang="en-US" sz="1500" dirty="0"/>
          </a:p>
        </p:txBody>
      </p:sp>
      <p:sp>
        <p:nvSpPr>
          <p:cNvPr id="10" name="Text 6"/>
          <p:cNvSpPr/>
          <p:nvPr/>
        </p:nvSpPr>
        <p:spPr>
          <a:xfrm>
            <a:off x="868680" y="2331720"/>
            <a:ext cx="4846320" cy="2743200"/>
          </a:xfrm>
          <a:prstGeom prst="rect">
            <a:avLst/>
          </a:prstGeom>
          <a:noFill/>
          <a:ln/>
        </p:spPr>
        <p:txBody>
          <a:bodyPr wrap="square" lIns="0" tIns="0" rIns="0" bIns="0" rtlCol="0" anchor="ctr"/>
          <a:lstStyle/>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Durable</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full business site in ~30 seconds (publish from ~$12/mo)</a:t>
            </a:r>
            <a:endParaRPr lang="en-US" sz="1300" dirty="0"/>
          </a:p>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Wix AI</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chat your site into existence (free with Wix branding)</a:t>
            </a:r>
            <a:endParaRPr lang="en-US" sz="1300" dirty="0"/>
          </a:p>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Framer</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designer-grade polish (free on a framer subdomain)</a:t>
            </a:r>
            <a:endParaRPr lang="en-US" sz="1300" dirty="0"/>
          </a:p>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Lovable</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full apps with payments &amp; login, zero code (free · $25)</a:t>
            </a:r>
            <a:endParaRPr lang="en-US" sz="1300" dirty="0"/>
          </a:p>
        </p:txBody>
      </p:sp>
      <p:sp>
        <p:nvSpPr>
          <p:cNvPr id="11" name="Text 7"/>
          <p:cNvSpPr/>
          <p:nvPr/>
        </p:nvSpPr>
        <p:spPr>
          <a:xfrm>
            <a:off x="868680" y="5349240"/>
            <a:ext cx="4754880" cy="365760"/>
          </a:xfrm>
          <a:prstGeom prst="rect">
            <a:avLst/>
          </a:prstGeom>
          <a:noFill/>
          <a:ln/>
        </p:spPr>
        <p:txBody>
          <a:bodyPr wrap="square" lIns="0" tIns="0" rIns="0" bIns="0" rtlCol="0" anchor="ctr"/>
          <a:lstStyle/>
          <a:p>
            <a:pPr indent="0" marL="0">
              <a:buNone/>
            </a:pPr>
            <a:r>
              <a:rPr lang="en-US" sz="1250" i="1" dirty="0">
                <a:solidFill>
                  <a:srgbClr val="68708A"/>
                </a:solidFill>
                <a:latin typeface="Calibri" pitchFamily="34" charset="0"/>
                <a:ea typeface="Calibri" pitchFamily="34" charset="-122"/>
                <a:cs typeface="Calibri" pitchFamily="34" charset="-120"/>
              </a:rPr>
              <a:t>Best if you never want to see code.</a:t>
            </a:r>
            <a:endParaRPr lang="en-US" sz="1250" dirty="0"/>
          </a:p>
        </p:txBody>
      </p:sp>
      <p:sp>
        <p:nvSpPr>
          <p:cNvPr id="12" name="Shape 8"/>
          <p:cNvSpPr/>
          <p:nvPr/>
        </p:nvSpPr>
        <p:spPr>
          <a:xfrm>
            <a:off x="6217920" y="1463040"/>
            <a:ext cx="5440680" cy="4526280"/>
          </a:xfrm>
          <a:prstGeom prst="roundRect">
            <a:avLst>
              <a:gd name="adj" fmla="val 1818"/>
            </a:avLst>
          </a:prstGeom>
          <a:solidFill>
            <a:srgbClr val="F5F8FC"/>
          </a:solidFill>
          <a:ln w="12700">
            <a:solidFill>
              <a:srgbClr val="E1E6F0"/>
            </a:solidFill>
            <a:prstDash val="solid"/>
          </a:ln>
        </p:spPr>
      </p:sp>
      <p:sp>
        <p:nvSpPr>
          <p:cNvPr id="13" name="Shape 9"/>
          <p:cNvSpPr/>
          <p:nvPr/>
        </p:nvSpPr>
        <p:spPr>
          <a:xfrm>
            <a:off x="6537960" y="1719072"/>
            <a:ext cx="457200" cy="457200"/>
          </a:xfrm>
          <a:prstGeom prst="ellipse">
            <a:avLst/>
          </a:prstGeom>
          <a:solidFill>
            <a:srgbClr val="29A9E1"/>
          </a:solidFill>
          <a:ln/>
        </p:spPr>
      </p:sp>
      <p:pic>
        <p:nvPicPr>
          <p:cNvPr id="14" name="Image 1" descr="icons/code.png">    </p:cNvPr>
          <p:cNvPicPr>
            <a:picLocks noChangeAspect="1"/>
          </p:cNvPicPr>
          <p:nvPr/>
        </p:nvPicPr>
        <p:blipFill>
          <a:blip r:embed="rId3"/>
          <a:stretch>
            <a:fillRect/>
          </a:stretch>
        </p:blipFill>
        <p:spPr>
          <a:xfrm>
            <a:off x="6652260" y="1833372"/>
            <a:ext cx="228600" cy="228600"/>
          </a:xfrm>
          <a:prstGeom prst="rect">
            <a:avLst/>
          </a:prstGeom>
        </p:spPr>
      </p:pic>
      <p:sp>
        <p:nvSpPr>
          <p:cNvPr id="15" name="Text 10"/>
          <p:cNvSpPr/>
          <p:nvPr/>
        </p:nvSpPr>
        <p:spPr>
          <a:xfrm>
            <a:off x="7132320" y="1783080"/>
            <a:ext cx="420624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Vibe-code lane — free-est</a:t>
            </a:r>
            <a:endParaRPr lang="en-US" sz="1500" dirty="0"/>
          </a:p>
        </p:txBody>
      </p:sp>
      <p:sp>
        <p:nvSpPr>
          <p:cNvPr id="16" name="Text 11"/>
          <p:cNvSpPr/>
          <p:nvPr/>
        </p:nvSpPr>
        <p:spPr>
          <a:xfrm>
            <a:off x="6537960" y="2331720"/>
            <a:ext cx="4846320" cy="2743200"/>
          </a:xfrm>
          <a:prstGeom prst="rect">
            <a:avLst/>
          </a:prstGeom>
          <a:noFill/>
          <a:ln/>
        </p:spPr>
        <p:txBody>
          <a:bodyPr wrap="square" lIns="0" tIns="0" rIns="0" bIns="0" rtlCol="0" anchor="ctr"/>
          <a:lstStyle/>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Claude / ChatGPT</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describe it, get a complete one-file website, free</a:t>
            </a:r>
            <a:endParaRPr lang="en-US" sz="1300" dirty="0"/>
          </a:p>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v0 by Vercel</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prompt-to-app for the technical (free tier)</a:t>
            </a:r>
            <a:endParaRPr lang="en-US" sz="1300" dirty="0"/>
          </a:p>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Bolt.new</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full-stack apps in the browser (free tier)</a:t>
            </a:r>
            <a:endParaRPr lang="en-US" sz="1300" dirty="0"/>
          </a:p>
          <a:p>
            <a:pPr marL="152400" indent="-152400">
              <a:spcAft>
                <a:spcPts val="1400"/>
              </a:spcAft>
              <a:buSzPct val="100000"/>
              <a:buChar char="•"/>
            </a:pPr>
            <a:r>
              <a:rPr lang="en-US" sz="1300" b="1" dirty="0">
                <a:solidFill>
                  <a:srgbClr val="232A3E"/>
                </a:solidFill>
                <a:latin typeface="Calibri" pitchFamily="34" charset="0"/>
                <a:ea typeface="Calibri" pitchFamily="34" charset="-122"/>
                <a:cs typeface="Calibri" pitchFamily="34" charset="-120"/>
              </a:rPr>
              <a:t>Your edge</a:t>
            </a:r>
            <a:pPr indent="0" marL="0">
              <a:spcAft>
                <a:spcPts val="1400"/>
              </a:spcAft>
              <a:buNone/>
            </a:pPr>
            <a:r>
              <a:rPr lang="en-US" sz="1300" dirty="0">
                <a:solidFill>
                  <a:srgbClr val="232A3E"/>
                </a:solidFill>
                <a:latin typeface="Calibri" pitchFamily="34" charset="0"/>
                <a:ea typeface="Calibri" pitchFamily="34" charset="-122"/>
                <a:cs typeface="Calibri" pitchFamily="34" charset="-120"/>
              </a:rPr>
              <a:t> — total control, ₦0, and you learn as you go</a:t>
            </a:r>
            <a:endParaRPr lang="en-US" sz="1300" dirty="0"/>
          </a:p>
        </p:txBody>
      </p:sp>
      <p:sp>
        <p:nvSpPr>
          <p:cNvPr id="17" name="Text 12"/>
          <p:cNvSpPr/>
          <p:nvPr/>
        </p:nvSpPr>
        <p:spPr>
          <a:xfrm>
            <a:off x="6537960" y="5349240"/>
            <a:ext cx="4754880" cy="365760"/>
          </a:xfrm>
          <a:prstGeom prst="rect">
            <a:avLst/>
          </a:prstGeom>
          <a:noFill/>
          <a:ln/>
        </p:spPr>
        <p:txBody>
          <a:bodyPr wrap="square" lIns="0" tIns="0" rIns="0" bIns="0" rtlCol="0" anchor="ctr"/>
          <a:lstStyle/>
          <a:p>
            <a:pPr indent="0" marL="0">
              <a:buNone/>
            </a:pPr>
            <a:r>
              <a:rPr lang="en-US" sz="1250" i="1" dirty="0">
                <a:solidFill>
                  <a:srgbClr val="68708A"/>
                </a:solidFill>
                <a:latin typeface="Calibri" pitchFamily="34" charset="0"/>
                <a:ea typeface="Calibri" pitchFamily="34" charset="-122"/>
                <a:cs typeface="Calibri" pitchFamily="34" charset="-120"/>
              </a:rPr>
              <a:t>Best if you want it free and fully yours.</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SHIP IT</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Live on the internet in four steps — for ₦0</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440680" cy="1965960"/>
          </a:xfrm>
          <a:prstGeom prst="roundRect">
            <a:avLst>
              <a:gd name="adj" fmla="val 4186"/>
            </a:avLst>
          </a:prstGeom>
          <a:solidFill>
            <a:srgbClr val="F5F8FC"/>
          </a:solidFill>
          <a:ln w="12700">
            <a:solidFill>
              <a:srgbClr val="E1E6F0"/>
            </a:solidFill>
            <a:prstDash val="solid"/>
          </a:ln>
        </p:spPr>
      </p:sp>
      <p:sp>
        <p:nvSpPr>
          <p:cNvPr id="7" name="Shape 4"/>
          <p:cNvSpPr/>
          <p:nvPr/>
        </p:nvSpPr>
        <p:spPr>
          <a:xfrm>
            <a:off x="822960" y="1719072"/>
            <a:ext cx="475488" cy="475488"/>
          </a:xfrm>
          <a:prstGeom prst="ellipse">
            <a:avLst/>
          </a:prstGeom>
          <a:solidFill>
            <a:srgbClr val="29A9E1"/>
          </a:solidFill>
          <a:ln/>
        </p:spPr>
      </p:sp>
      <p:pic>
        <p:nvPicPr>
          <p:cNvPr id="8" name="Image 0" descr="icons/comments.png">    </p:cNvPr>
          <p:cNvPicPr>
            <a:picLocks noChangeAspect="1"/>
          </p:cNvPicPr>
          <p:nvPr/>
        </p:nvPicPr>
        <p:blipFill>
          <a:blip r:embed="rId2"/>
          <a:stretch>
            <a:fillRect/>
          </a:stretch>
        </p:blipFill>
        <p:spPr>
          <a:xfrm>
            <a:off x="941832" y="1837944"/>
            <a:ext cx="237744" cy="237744"/>
          </a:xfrm>
          <a:prstGeom prst="rect">
            <a:avLst/>
          </a:prstGeom>
        </p:spPr>
      </p:pic>
      <p:sp>
        <p:nvSpPr>
          <p:cNvPr id="9" name="Text 5"/>
          <p:cNvSpPr/>
          <p:nvPr/>
        </p:nvSpPr>
        <p:spPr>
          <a:xfrm>
            <a:off x="1463040" y="179222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1 · Prompt it</a:t>
            </a:r>
            <a:endParaRPr lang="en-US" sz="1500" dirty="0"/>
          </a:p>
        </p:txBody>
      </p:sp>
      <p:sp>
        <p:nvSpPr>
          <p:cNvPr id="10" name="Text 6"/>
          <p:cNvSpPr/>
          <p:nvPr/>
        </p:nvSpPr>
        <p:spPr>
          <a:xfrm>
            <a:off x="822960" y="2331720"/>
            <a:ext cx="4892040" cy="10058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“One-page personal brand site: my name, services, testimonials, WhatsApp contact. Navy &amp; teal, mobile-first, single HTML file.”</a:t>
            </a:r>
            <a:endParaRPr lang="en-US" sz="1200" dirty="0"/>
          </a:p>
        </p:txBody>
      </p:sp>
      <p:sp>
        <p:nvSpPr>
          <p:cNvPr id="11" name="Shape 7"/>
          <p:cNvSpPr/>
          <p:nvPr/>
        </p:nvSpPr>
        <p:spPr>
          <a:xfrm>
            <a:off x="6172200" y="1463040"/>
            <a:ext cx="5440680" cy="1965960"/>
          </a:xfrm>
          <a:prstGeom prst="roundRect">
            <a:avLst>
              <a:gd name="adj" fmla="val 4186"/>
            </a:avLst>
          </a:prstGeom>
          <a:solidFill>
            <a:srgbClr val="F5F8FC"/>
          </a:solidFill>
          <a:ln w="12700">
            <a:solidFill>
              <a:srgbClr val="E1E6F0"/>
            </a:solidFill>
            <a:prstDash val="solid"/>
          </a:ln>
        </p:spPr>
      </p:sp>
      <p:sp>
        <p:nvSpPr>
          <p:cNvPr id="12" name="Shape 8"/>
          <p:cNvSpPr/>
          <p:nvPr/>
        </p:nvSpPr>
        <p:spPr>
          <a:xfrm>
            <a:off x="6446520" y="1719072"/>
            <a:ext cx="475488" cy="475488"/>
          </a:xfrm>
          <a:prstGeom prst="ellipse">
            <a:avLst/>
          </a:prstGeom>
          <a:solidFill>
            <a:srgbClr val="35C1B1"/>
          </a:solidFill>
          <a:ln/>
        </p:spPr>
      </p:sp>
      <p:pic>
        <p:nvPicPr>
          <p:cNvPr id="13" name="Image 1" descr="icons/repeat.png">    </p:cNvPr>
          <p:cNvPicPr>
            <a:picLocks noChangeAspect="1"/>
          </p:cNvPicPr>
          <p:nvPr/>
        </p:nvPicPr>
        <p:blipFill>
          <a:blip r:embed="rId3"/>
          <a:stretch>
            <a:fillRect/>
          </a:stretch>
        </p:blipFill>
        <p:spPr>
          <a:xfrm>
            <a:off x="6565392" y="1837944"/>
            <a:ext cx="237744" cy="237744"/>
          </a:xfrm>
          <a:prstGeom prst="rect">
            <a:avLst/>
          </a:prstGeom>
        </p:spPr>
      </p:pic>
      <p:sp>
        <p:nvSpPr>
          <p:cNvPr id="14" name="Text 9"/>
          <p:cNvSpPr/>
          <p:nvPr/>
        </p:nvSpPr>
        <p:spPr>
          <a:xfrm>
            <a:off x="7086600" y="179222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2 · Iterate</a:t>
            </a:r>
            <a:endParaRPr lang="en-US" sz="1500" dirty="0"/>
          </a:p>
        </p:txBody>
      </p:sp>
      <p:sp>
        <p:nvSpPr>
          <p:cNvPr id="15" name="Text 10"/>
          <p:cNvSpPr/>
          <p:nvPr/>
        </p:nvSpPr>
        <p:spPr>
          <a:xfrm>
            <a:off x="6446520" y="2331720"/>
            <a:ext cx="4892040" cy="10058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“Bolder hero.” “Add my photo.” “Make the buttons teal.” Plain English until it feels like you.</a:t>
            </a:r>
            <a:endParaRPr lang="en-US" sz="1200" dirty="0"/>
          </a:p>
        </p:txBody>
      </p:sp>
      <p:sp>
        <p:nvSpPr>
          <p:cNvPr id="16" name="Shape 11"/>
          <p:cNvSpPr/>
          <p:nvPr/>
        </p:nvSpPr>
        <p:spPr>
          <a:xfrm>
            <a:off x="548640" y="3611880"/>
            <a:ext cx="5440680" cy="1965960"/>
          </a:xfrm>
          <a:prstGeom prst="roundRect">
            <a:avLst>
              <a:gd name="adj" fmla="val 4186"/>
            </a:avLst>
          </a:prstGeom>
          <a:solidFill>
            <a:srgbClr val="F5F8FC"/>
          </a:solidFill>
          <a:ln w="12700">
            <a:solidFill>
              <a:srgbClr val="E1E6F0"/>
            </a:solidFill>
            <a:prstDash val="solid"/>
          </a:ln>
        </p:spPr>
      </p:sp>
      <p:sp>
        <p:nvSpPr>
          <p:cNvPr id="17" name="Shape 12"/>
          <p:cNvSpPr/>
          <p:nvPr/>
        </p:nvSpPr>
        <p:spPr>
          <a:xfrm>
            <a:off x="822960" y="3867912"/>
            <a:ext cx="475488" cy="475488"/>
          </a:xfrm>
          <a:prstGeom prst="ellipse">
            <a:avLst/>
          </a:prstGeom>
          <a:solidFill>
            <a:srgbClr val="151F4A"/>
          </a:solidFill>
          <a:ln/>
        </p:spPr>
      </p:sp>
      <p:pic>
        <p:nvPicPr>
          <p:cNvPr id="18" name="Image 2" descr="icons/cloud.png">    </p:cNvPr>
          <p:cNvPicPr>
            <a:picLocks noChangeAspect="1"/>
          </p:cNvPicPr>
          <p:nvPr/>
        </p:nvPicPr>
        <p:blipFill>
          <a:blip r:embed="rId4"/>
          <a:stretch>
            <a:fillRect/>
          </a:stretch>
        </p:blipFill>
        <p:spPr>
          <a:xfrm>
            <a:off x="941832" y="3986784"/>
            <a:ext cx="237744" cy="237744"/>
          </a:xfrm>
          <a:prstGeom prst="rect">
            <a:avLst/>
          </a:prstGeom>
        </p:spPr>
      </p:pic>
      <p:sp>
        <p:nvSpPr>
          <p:cNvPr id="19" name="Text 13"/>
          <p:cNvSpPr/>
          <p:nvPr/>
        </p:nvSpPr>
        <p:spPr>
          <a:xfrm>
            <a:off x="1463040" y="394106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3 · Host free</a:t>
            </a:r>
            <a:endParaRPr lang="en-US" sz="1500" dirty="0"/>
          </a:p>
        </p:txBody>
      </p:sp>
      <p:sp>
        <p:nvSpPr>
          <p:cNvPr id="20" name="Text 14"/>
          <p:cNvSpPr/>
          <p:nvPr/>
        </p:nvSpPr>
        <p:spPr>
          <a:xfrm>
            <a:off x="822960" y="4480560"/>
            <a:ext cx="4892040" cy="10058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Vercel · Netlify · Cloudflare Pages · GitHub Pages — free tiers cover a personal site with ease.</a:t>
            </a:r>
            <a:endParaRPr lang="en-US" sz="1200" dirty="0"/>
          </a:p>
        </p:txBody>
      </p:sp>
      <p:sp>
        <p:nvSpPr>
          <p:cNvPr id="21" name="Shape 15"/>
          <p:cNvSpPr/>
          <p:nvPr/>
        </p:nvSpPr>
        <p:spPr>
          <a:xfrm>
            <a:off x="6172200" y="3611880"/>
            <a:ext cx="5440680" cy="1965960"/>
          </a:xfrm>
          <a:prstGeom prst="roundRect">
            <a:avLst>
              <a:gd name="adj" fmla="val 4186"/>
            </a:avLst>
          </a:prstGeom>
          <a:solidFill>
            <a:srgbClr val="F5F8FC"/>
          </a:solidFill>
          <a:ln w="12700">
            <a:solidFill>
              <a:srgbClr val="E1E6F0"/>
            </a:solidFill>
            <a:prstDash val="solid"/>
          </a:ln>
        </p:spPr>
      </p:sp>
      <p:sp>
        <p:nvSpPr>
          <p:cNvPr id="22" name="Shape 16"/>
          <p:cNvSpPr/>
          <p:nvPr/>
        </p:nvSpPr>
        <p:spPr>
          <a:xfrm>
            <a:off x="6446520" y="3867912"/>
            <a:ext cx="475488" cy="475488"/>
          </a:xfrm>
          <a:prstGeom prst="ellipse">
            <a:avLst/>
          </a:prstGeom>
          <a:solidFill>
            <a:srgbClr val="29A9E1"/>
          </a:solidFill>
          <a:ln/>
        </p:spPr>
      </p:sp>
      <p:pic>
        <p:nvPicPr>
          <p:cNvPr id="23" name="Image 3" descr="icons/globe.png">    </p:cNvPr>
          <p:cNvPicPr>
            <a:picLocks noChangeAspect="1"/>
          </p:cNvPicPr>
          <p:nvPr/>
        </p:nvPicPr>
        <p:blipFill>
          <a:blip r:embed="rId5"/>
          <a:stretch>
            <a:fillRect/>
          </a:stretch>
        </p:blipFill>
        <p:spPr>
          <a:xfrm>
            <a:off x="6565392" y="3986784"/>
            <a:ext cx="237744" cy="237744"/>
          </a:xfrm>
          <a:prstGeom prst="rect">
            <a:avLst/>
          </a:prstGeom>
        </p:spPr>
      </p:pic>
      <p:sp>
        <p:nvSpPr>
          <p:cNvPr id="24" name="Text 17"/>
          <p:cNvSpPr/>
          <p:nvPr/>
        </p:nvSpPr>
        <p:spPr>
          <a:xfrm>
            <a:off x="7086600" y="394106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4 · Domain (optional)</a:t>
            </a:r>
            <a:endParaRPr lang="en-US" sz="1500" dirty="0"/>
          </a:p>
        </p:txBody>
      </p:sp>
      <p:sp>
        <p:nvSpPr>
          <p:cNvPr id="25" name="Text 18"/>
          <p:cNvSpPr/>
          <p:nvPr/>
        </p:nvSpPr>
        <p:spPr>
          <a:xfrm>
            <a:off x="6446520" y="4480560"/>
            <a:ext cx="4892040" cy="1005840"/>
          </a:xfrm>
          <a:prstGeom prst="rect">
            <a:avLst/>
          </a:prstGeom>
          <a:noFill/>
          <a:ln/>
        </p:spPr>
        <p:txBody>
          <a:bodyPr wrap="square" lIns="0" tIns="0" rIns="0" bIns="0" rtlCol="0" anchor="ctr"/>
          <a:lstStyle/>
          <a:p>
            <a:pPr indent="0" marL="0">
              <a:buNone/>
            </a:pPr>
            <a:r>
              <a:rPr lang="en-US" sz="1200" dirty="0">
                <a:solidFill>
                  <a:srgbClr val="232A3E"/>
                </a:solidFill>
                <a:latin typeface="Calibri" pitchFamily="34" charset="0"/>
                <a:ea typeface="Calibri" pitchFamily="34" charset="-122"/>
                <a:cs typeface="Calibri" pitchFamily="34" charset="-120"/>
              </a:rPr>
              <a:t>$5–12/year for .me or .com.ng. Until then, the free subdomain works fine.</a:t>
            </a:r>
            <a:endParaRPr lang="en-US" sz="1200" dirty="0"/>
          </a:p>
        </p:txBody>
      </p:sp>
      <p:sp>
        <p:nvSpPr>
          <p:cNvPr id="26" name="Shape 19"/>
          <p:cNvSpPr/>
          <p:nvPr/>
        </p:nvSpPr>
        <p:spPr>
          <a:xfrm>
            <a:off x="548640" y="5715000"/>
            <a:ext cx="11109960" cy="658368"/>
          </a:xfrm>
          <a:prstGeom prst="roundRect">
            <a:avLst>
              <a:gd name="adj" fmla="val 12500"/>
            </a:avLst>
          </a:prstGeom>
          <a:solidFill>
            <a:srgbClr val="F0C93C"/>
          </a:solidFill>
          <a:ln/>
        </p:spPr>
      </p:sp>
      <p:sp>
        <p:nvSpPr>
          <p:cNvPr id="27" name="Text 20"/>
          <p:cNvSpPr/>
          <p:nvPr/>
        </p:nvSpPr>
        <p:spPr>
          <a:xfrm>
            <a:off x="548640" y="5715000"/>
            <a:ext cx="11109960" cy="658368"/>
          </a:xfrm>
          <a:prstGeom prst="rect">
            <a:avLst/>
          </a:prstGeom>
          <a:noFill/>
          <a:ln/>
        </p:spPr>
        <p:txBody>
          <a:bodyPr wrap="square" lIns="0" tIns="0" rIns="0" bIns="0" rtlCol="0" anchor="ctr"/>
          <a:lstStyle/>
          <a:p>
            <a:pPr algn="ctr" indent="0" marL="0">
              <a:buNone/>
            </a:pPr>
            <a:r>
              <a:rPr lang="en-US" sz="1500" b="1" dirty="0">
                <a:solidFill>
                  <a:srgbClr val="151F4A"/>
                </a:solidFill>
                <a:latin typeface="Arial" pitchFamily="34" charset="0"/>
                <a:ea typeface="Arial" pitchFamily="34" charset="-122"/>
                <a:cs typeface="Arial" pitchFamily="34" charset="-120"/>
              </a:rPr>
              <a:t>Total cost: ₦0 — plus a domain only if you want one.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PUTTING IT TOGETHER</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Your AI personal-brand stack</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5440680" cy="2057400"/>
          </a:xfrm>
          <a:prstGeom prst="roundRect">
            <a:avLst>
              <a:gd name="adj" fmla="val 4000"/>
            </a:avLst>
          </a:prstGeom>
          <a:solidFill>
            <a:srgbClr val="F5F8FC"/>
          </a:solidFill>
          <a:ln w="12700">
            <a:solidFill>
              <a:srgbClr val="E1E6F0"/>
            </a:solidFill>
            <a:prstDash val="solid"/>
          </a:ln>
        </p:spPr>
      </p:sp>
      <p:sp>
        <p:nvSpPr>
          <p:cNvPr id="7" name="Shape 4"/>
          <p:cNvSpPr/>
          <p:nvPr/>
        </p:nvSpPr>
        <p:spPr>
          <a:xfrm>
            <a:off x="822960" y="1828800"/>
            <a:ext cx="475488" cy="475488"/>
          </a:xfrm>
          <a:prstGeom prst="ellipse">
            <a:avLst/>
          </a:prstGeom>
          <a:solidFill>
            <a:srgbClr val="35C1B1"/>
          </a:solidFill>
          <a:ln/>
        </p:spPr>
      </p:sp>
      <p:pic>
        <p:nvPicPr>
          <p:cNvPr id="8" name="Image 0" descr="icons/globe.png">    </p:cNvPr>
          <p:cNvPicPr>
            <a:picLocks noChangeAspect="1"/>
          </p:cNvPicPr>
          <p:nvPr/>
        </p:nvPicPr>
        <p:blipFill>
          <a:blip r:embed="rId2"/>
          <a:stretch>
            <a:fillRect/>
          </a:stretch>
        </p:blipFill>
        <p:spPr>
          <a:xfrm>
            <a:off x="941832" y="1947672"/>
            <a:ext cx="237744" cy="237744"/>
          </a:xfrm>
          <a:prstGeom prst="rect">
            <a:avLst/>
          </a:prstGeom>
        </p:spPr>
      </p:pic>
      <p:sp>
        <p:nvSpPr>
          <p:cNvPr id="9" name="Text 5"/>
          <p:cNvSpPr/>
          <p:nvPr/>
        </p:nvSpPr>
        <p:spPr>
          <a:xfrm>
            <a:off x="1463040" y="1901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A home base you own</a:t>
            </a:r>
            <a:endParaRPr lang="en-US" sz="1500" dirty="0"/>
          </a:p>
        </p:txBody>
      </p:sp>
      <p:sp>
        <p:nvSpPr>
          <p:cNvPr id="10" name="Text 6"/>
          <p:cNvSpPr/>
          <p:nvPr/>
        </p:nvSpPr>
        <p:spPr>
          <a:xfrm>
            <a:off x="822960" y="2514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Your own website + link hub — AI-built, free-hosted. No algorithm can take it away.</a:t>
            </a:r>
            <a:endParaRPr lang="en-US" sz="1250" dirty="0"/>
          </a:p>
        </p:txBody>
      </p:sp>
      <p:sp>
        <p:nvSpPr>
          <p:cNvPr id="11" name="Shape 7"/>
          <p:cNvSpPr/>
          <p:nvPr/>
        </p:nvSpPr>
        <p:spPr>
          <a:xfrm>
            <a:off x="6172200" y="1554480"/>
            <a:ext cx="5440680" cy="2057400"/>
          </a:xfrm>
          <a:prstGeom prst="roundRect">
            <a:avLst>
              <a:gd name="adj" fmla="val 4000"/>
            </a:avLst>
          </a:prstGeom>
          <a:solidFill>
            <a:srgbClr val="F5F8FC"/>
          </a:solidFill>
          <a:ln w="12700">
            <a:solidFill>
              <a:srgbClr val="E1E6F0"/>
            </a:solidFill>
            <a:prstDash val="solid"/>
          </a:ln>
        </p:spPr>
      </p:sp>
      <p:sp>
        <p:nvSpPr>
          <p:cNvPr id="12" name="Shape 8"/>
          <p:cNvSpPr/>
          <p:nvPr/>
        </p:nvSpPr>
        <p:spPr>
          <a:xfrm>
            <a:off x="6446520" y="1828800"/>
            <a:ext cx="475488" cy="475488"/>
          </a:xfrm>
          <a:prstGeom prst="ellipse">
            <a:avLst/>
          </a:prstGeom>
          <a:solidFill>
            <a:srgbClr val="29A9E1"/>
          </a:solidFill>
          <a:ln/>
        </p:spPr>
      </p:sp>
      <p:pic>
        <p:nvPicPr>
          <p:cNvPr id="13" name="Image 1" descr="icons/linkedin.png">    </p:cNvPr>
          <p:cNvPicPr>
            <a:picLocks noChangeAspect="1"/>
          </p:cNvPicPr>
          <p:nvPr/>
        </p:nvPicPr>
        <p:blipFill>
          <a:blip r:embed="rId3"/>
          <a:stretch>
            <a:fillRect/>
          </a:stretch>
        </p:blipFill>
        <p:spPr>
          <a:xfrm>
            <a:off x="6565392" y="1947672"/>
            <a:ext cx="237744" cy="237744"/>
          </a:xfrm>
          <a:prstGeom prst="rect">
            <a:avLst/>
          </a:prstGeom>
        </p:spPr>
      </p:pic>
      <p:sp>
        <p:nvSpPr>
          <p:cNvPr id="14" name="Text 9"/>
          <p:cNvSpPr/>
          <p:nvPr/>
        </p:nvSpPr>
        <p:spPr>
          <a:xfrm>
            <a:off x="7086600" y="1901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A LinkedIn that sells you</a:t>
            </a:r>
            <a:endParaRPr lang="en-US" sz="1500" dirty="0"/>
          </a:p>
        </p:txBody>
      </p:sp>
      <p:sp>
        <p:nvSpPr>
          <p:cNvPr id="15" name="Text 10"/>
          <p:cNvSpPr/>
          <p:nvPr/>
        </p:nvSpPr>
        <p:spPr>
          <a:xfrm>
            <a:off x="6446520" y="2514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Headline, About, Featured — AI-drafted, you-edited. It's where clients check first.</a:t>
            </a:r>
            <a:endParaRPr lang="en-US" sz="1250" dirty="0"/>
          </a:p>
        </p:txBody>
      </p:sp>
      <p:sp>
        <p:nvSpPr>
          <p:cNvPr id="16" name="Shape 11"/>
          <p:cNvSpPr/>
          <p:nvPr/>
        </p:nvSpPr>
        <p:spPr>
          <a:xfrm>
            <a:off x="548640" y="3840480"/>
            <a:ext cx="5440680" cy="2057400"/>
          </a:xfrm>
          <a:prstGeom prst="roundRect">
            <a:avLst>
              <a:gd name="adj" fmla="val 4000"/>
            </a:avLst>
          </a:prstGeom>
          <a:solidFill>
            <a:srgbClr val="F5F8FC"/>
          </a:solidFill>
          <a:ln w="12700">
            <a:solidFill>
              <a:srgbClr val="E1E6F0"/>
            </a:solidFill>
            <a:prstDash val="solid"/>
          </a:ln>
        </p:spPr>
      </p:sp>
      <p:sp>
        <p:nvSpPr>
          <p:cNvPr id="17" name="Shape 12"/>
          <p:cNvSpPr/>
          <p:nvPr/>
        </p:nvSpPr>
        <p:spPr>
          <a:xfrm>
            <a:off x="822960" y="4114800"/>
            <a:ext cx="475488" cy="475488"/>
          </a:xfrm>
          <a:prstGeom prst="ellipse">
            <a:avLst/>
          </a:prstGeom>
          <a:solidFill>
            <a:srgbClr val="151F4A"/>
          </a:solidFill>
          <a:ln/>
        </p:spPr>
      </p:sp>
      <p:pic>
        <p:nvPicPr>
          <p:cNvPr id="18" name="Image 2" descr="icons/video.png">    </p:cNvPr>
          <p:cNvPicPr>
            <a:picLocks noChangeAspect="1"/>
          </p:cNvPicPr>
          <p:nvPr/>
        </p:nvPicPr>
        <p:blipFill>
          <a:blip r:embed="rId4"/>
          <a:stretch>
            <a:fillRect/>
          </a:stretch>
        </p:blipFill>
        <p:spPr>
          <a:xfrm>
            <a:off x="941832" y="4233672"/>
            <a:ext cx="237744" cy="237744"/>
          </a:xfrm>
          <a:prstGeom prst="rect">
            <a:avLst/>
          </a:prstGeom>
        </p:spPr>
      </p:pic>
      <p:sp>
        <p:nvSpPr>
          <p:cNvPr id="19" name="Text 13"/>
          <p:cNvSpPr/>
          <p:nvPr/>
        </p:nvSpPr>
        <p:spPr>
          <a:xfrm>
            <a:off x="1463040" y="4187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A content engine</a:t>
            </a:r>
            <a:endParaRPr lang="en-US" sz="1500" dirty="0"/>
          </a:p>
        </p:txBody>
      </p:sp>
      <p:sp>
        <p:nvSpPr>
          <p:cNvPr id="20" name="Text 14"/>
          <p:cNvSpPr/>
          <p:nvPr/>
        </p:nvSpPr>
        <p:spPr>
          <a:xfrm>
            <a:off x="822960" y="4800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One substantial piece a week → AI turns it into posts, clips, captions, a newsletter.</a:t>
            </a:r>
            <a:endParaRPr lang="en-US" sz="1250" dirty="0"/>
          </a:p>
        </p:txBody>
      </p:sp>
      <p:sp>
        <p:nvSpPr>
          <p:cNvPr id="21" name="Shape 15"/>
          <p:cNvSpPr/>
          <p:nvPr/>
        </p:nvSpPr>
        <p:spPr>
          <a:xfrm>
            <a:off x="6172200" y="3840480"/>
            <a:ext cx="5440680" cy="2057400"/>
          </a:xfrm>
          <a:prstGeom prst="roundRect">
            <a:avLst>
              <a:gd name="adj" fmla="val 4000"/>
            </a:avLst>
          </a:prstGeom>
          <a:solidFill>
            <a:srgbClr val="F5F8FC"/>
          </a:solidFill>
          <a:ln w="12700">
            <a:solidFill>
              <a:srgbClr val="E1E6F0"/>
            </a:solidFill>
            <a:prstDash val="solid"/>
          </a:ln>
        </p:spPr>
      </p:sp>
      <p:sp>
        <p:nvSpPr>
          <p:cNvPr id="22" name="Shape 16"/>
          <p:cNvSpPr/>
          <p:nvPr/>
        </p:nvSpPr>
        <p:spPr>
          <a:xfrm>
            <a:off x="6446520" y="4114800"/>
            <a:ext cx="475488" cy="475488"/>
          </a:xfrm>
          <a:prstGeom prst="ellipse">
            <a:avLst/>
          </a:prstGeom>
          <a:solidFill>
            <a:srgbClr val="35C1B1"/>
          </a:solidFill>
          <a:ln/>
        </p:spPr>
      </p:sp>
      <p:pic>
        <p:nvPicPr>
          <p:cNvPr id="23" name="Image 3" descr="icons/palette.png">    </p:cNvPr>
          <p:cNvPicPr>
            <a:picLocks noChangeAspect="1"/>
          </p:cNvPicPr>
          <p:nvPr/>
        </p:nvPicPr>
        <p:blipFill>
          <a:blip r:embed="rId5"/>
          <a:stretch>
            <a:fillRect/>
          </a:stretch>
        </p:blipFill>
        <p:spPr>
          <a:xfrm>
            <a:off x="6565392" y="4233672"/>
            <a:ext cx="237744" cy="237744"/>
          </a:xfrm>
          <a:prstGeom prst="rect">
            <a:avLst/>
          </a:prstGeom>
        </p:spPr>
      </p:pic>
      <p:sp>
        <p:nvSpPr>
          <p:cNvPr id="24" name="Text 17"/>
          <p:cNvSpPr/>
          <p:nvPr/>
        </p:nvSpPr>
        <p:spPr>
          <a:xfrm>
            <a:off x="7086600" y="4187952"/>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One visual identity</a:t>
            </a:r>
            <a:endParaRPr lang="en-US" sz="1500" dirty="0"/>
          </a:p>
        </p:txBody>
      </p:sp>
      <p:sp>
        <p:nvSpPr>
          <p:cNvPr id="25" name="Text 18"/>
          <p:cNvSpPr/>
          <p:nvPr/>
        </p:nvSpPr>
        <p:spPr>
          <a:xfrm>
            <a:off x="6446520" y="4800600"/>
            <a:ext cx="4892040" cy="96012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Same palette, fonts and tone everywhere — your brand kit makes it automatic.</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SCALING WITH AI</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One person + AI = a small firm</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440680" cy="1874520"/>
          </a:xfrm>
          <a:prstGeom prst="roundRect">
            <a:avLst>
              <a:gd name="adj" fmla="val 4390"/>
            </a:avLst>
          </a:prstGeom>
          <a:solidFill>
            <a:srgbClr val="F5F8FC"/>
          </a:solidFill>
          <a:ln w="12700">
            <a:solidFill>
              <a:srgbClr val="E1E6F0"/>
            </a:solidFill>
            <a:prstDash val="solid"/>
          </a:ln>
        </p:spPr>
      </p:sp>
      <p:sp>
        <p:nvSpPr>
          <p:cNvPr id="7" name="Shape 4"/>
          <p:cNvSpPr/>
          <p:nvPr/>
        </p:nvSpPr>
        <p:spPr>
          <a:xfrm>
            <a:off x="822960" y="1719072"/>
            <a:ext cx="475488" cy="475488"/>
          </a:xfrm>
          <a:prstGeom prst="ellipse">
            <a:avLst/>
          </a:prstGeom>
          <a:solidFill>
            <a:srgbClr val="35C1B1"/>
          </a:solidFill>
          <a:ln/>
        </p:spPr>
      </p:sp>
      <p:pic>
        <p:nvPicPr>
          <p:cNvPr id="8" name="Image 0" descr="icons/bolt.png">    </p:cNvPr>
          <p:cNvPicPr>
            <a:picLocks noChangeAspect="1"/>
          </p:cNvPicPr>
          <p:nvPr/>
        </p:nvPicPr>
        <p:blipFill>
          <a:blip r:embed="rId2"/>
          <a:stretch>
            <a:fillRect/>
          </a:stretch>
        </p:blipFill>
        <p:spPr>
          <a:xfrm>
            <a:off x="941832" y="1837944"/>
            <a:ext cx="237744" cy="237744"/>
          </a:xfrm>
          <a:prstGeom prst="rect">
            <a:avLst/>
          </a:prstGeom>
        </p:spPr>
      </p:pic>
      <p:sp>
        <p:nvSpPr>
          <p:cNvPr id="9" name="Text 5"/>
          <p:cNvSpPr/>
          <p:nvPr/>
        </p:nvSpPr>
        <p:spPr>
          <a:xfrm>
            <a:off x="1463040" y="179222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Delegate the repetitive</a:t>
            </a:r>
            <a:endParaRPr lang="en-US" sz="1500" dirty="0"/>
          </a:p>
        </p:txBody>
      </p:sp>
      <p:sp>
        <p:nvSpPr>
          <p:cNvPr id="10" name="Text 6"/>
          <p:cNvSpPr/>
          <p:nvPr/>
        </p:nvSpPr>
        <p:spPr>
          <a:xfrm>
            <a:off x="822960" y="2331720"/>
            <a:ext cx="4892040" cy="91440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Automations answer, log, remind and report — 24/7, no salary.</a:t>
            </a:r>
            <a:endParaRPr lang="en-US" sz="1250" dirty="0"/>
          </a:p>
        </p:txBody>
      </p:sp>
      <p:sp>
        <p:nvSpPr>
          <p:cNvPr id="11" name="Shape 7"/>
          <p:cNvSpPr/>
          <p:nvPr/>
        </p:nvSpPr>
        <p:spPr>
          <a:xfrm>
            <a:off x="6172200" y="1463040"/>
            <a:ext cx="5440680" cy="1874520"/>
          </a:xfrm>
          <a:prstGeom prst="roundRect">
            <a:avLst>
              <a:gd name="adj" fmla="val 4390"/>
            </a:avLst>
          </a:prstGeom>
          <a:solidFill>
            <a:srgbClr val="F5F8FC"/>
          </a:solidFill>
          <a:ln w="12700">
            <a:solidFill>
              <a:srgbClr val="E1E6F0"/>
            </a:solidFill>
            <a:prstDash val="solid"/>
          </a:ln>
        </p:spPr>
      </p:sp>
      <p:sp>
        <p:nvSpPr>
          <p:cNvPr id="12" name="Shape 8"/>
          <p:cNvSpPr/>
          <p:nvPr/>
        </p:nvSpPr>
        <p:spPr>
          <a:xfrm>
            <a:off x="6446520" y="1719072"/>
            <a:ext cx="475488" cy="475488"/>
          </a:xfrm>
          <a:prstGeom prst="ellipse">
            <a:avLst/>
          </a:prstGeom>
          <a:solidFill>
            <a:srgbClr val="29A9E1"/>
          </a:solidFill>
          <a:ln/>
        </p:spPr>
      </p:sp>
      <p:pic>
        <p:nvPicPr>
          <p:cNvPr id="13" name="Image 1" descr="icons/layerGroup.png">    </p:cNvPr>
          <p:cNvPicPr>
            <a:picLocks noChangeAspect="1"/>
          </p:cNvPicPr>
          <p:nvPr/>
        </p:nvPicPr>
        <p:blipFill>
          <a:blip r:embed="rId3"/>
          <a:stretch>
            <a:fillRect/>
          </a:stretch>
        </p:blipFill>
        <p:spPr>
          <a:xfrm>
            <a:off x="6565392" y="1837944"/>
            <a:ext cx="237744" cy="237744"/>
          </a:xfrm>
          <a:prstGeom prst="rect">
            <a:avLst/>
          </a:prstGeom>
        </p:spPr>
      </p:pic>
      <p:sp>
        <p:nvSpPr>
          <p:cNvPr id="14" name="Text 9"/>
          <p:cNvSpPr/>
          <p:nvPr/>
        </p:nvSpPr>
        <p:spPr>
          <a:xfrm>
            <a:off x="7086600" y="179222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Multiply your content</a:t>
            </a:r>
            <a:endParaRPr lang="en-US" sz="1500" dirty="0"/>
          </a:p>
        </p:txBody>
      </p:sp>
      <p:sp>
        <p:nvSpPr>
          <p:cNvPr id="15" name="Text 10"/>
          <p:cNvSpPr/>
          <p:nvPr/>
        </p:nvSpPr>
        <p:spPr>
          <a:xfrm>
            <a:off x="6446520" y="2331720"/>
            <a:ext cx="4892040" cy="91440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One idea becomes a post, a clip, a carousel, a newsletter — same day.</a:t>
            </a:r>
            <a:endParaRPr lang="en-US" sz="1250" dirty="0"/>
          </a:p>
        </p:txBody>
      </p:sp>
      <p:sp>
        <p:nvSpPr>
          <p:cNvPr id="16" name="Shape 11"/>
          <p:cNvSpPr/>
          <p:nvPr/>
        </p:nvSpPr>
        <p:spPr>
          <a:xfrm>
            <a:off x="548640" y="3520440"/>
            <a:ext cx="5440680" cy="1874520"/>
          </a:xfrm>
          <a:prstGeom prst="roundRect">
            <a:avLst>
              <a:gd name="adj" fmla="val 4390"/>
            </a:avLst>
          </a:prstGeom>
          <a:solidFill>
            <a:srgbClr val="F5F8FC"/>
          </a:solidFill>
          <a:ln w="12700">
            <a:solidFill>
              <a:srgbClr val="E1E6F0"/>
            </a:solidFill>
            <a:prstDash val="solid"/>
          </a:ln>
        </p:spPr>
      </p:sp>
      <p:sp>
        <p:nvSpPr>
          <p:cNvPr id="17" name="Shape 12"/>
          <p:cNvSpPr/>
          <p:nvPr/>
        </p:nvSpPr>
        <p:spPr>
          <a:xfrm>
            <a:off x="822960" y="3776472"/>
            <a:ext cx="475488" cy="475488"/>
          </a:xfrm>
          <a:prstGeom prst="ellipse">
            <a:avLst/>
          </a:prstGeom>
          <a:solidFill>
            <a:srgbClr val="151F4A"/>
          </a:solidFill>
          <a:ln/>
        </p:spPr>
      </p:sp>
      <p:pic>
        <p:nvPicPr>
          <p:cNvPr id="18" name="Image 2" descr="icons/robot.png">    </p:cNvPr>
          <p:cNvPicPr>
            <a:picLocks noChangeAspect="1"/>
          </p:cNvPicPr>
          <p:nvPr/>
        </p:nvPicPr>
        <p:blipFill>
          <a:blip r:embed="rId4"/>
          <a:stretch>
            <a:fillRect/>
          </a:stretch>
        </p:blipFill>
        <p:spPr>
          <a:xfrm>
            <a:off x="941832" y="3895344"/>
            <a:ext cx="237744" cy="237744"/>
          </a:xfrm>
          <a:prstGeom prst="rect">
            <a:avLst/>
          </a:prstGeom>
        </p:spPr>
      </p:pic>
      <p:sp>
        <p:nvSpPr>
          <p:cNvPr id="19" name="Text 13"/>
          <p:cNvSpPr/>
          <p:nvPr/>
        </p:nvSpPr>
        <p:spPr>
          <a:xfrm>
            <a:off x="1463040" y="384962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Hire agents as junior staff</a:t>
            </a:r>
            <a:endParaRPr lang="en-US" sz="1500" dirty="0"/>
          </a:p>
        </p:txBody>
      </p:sp>
      <p:sp>
        <p:nvSpPr>
          <p:cNvPr id="20" name="Text 14"/>
          <p:cNvSpPr/>
          <p:nvPr/>
        </p:nvSpPr>
        <p:spPr>
          <a:xfrm>
            <a:off x="822960" y="4389120"/>
            <a:ext cx="4892040" cy="91440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Research, first drafts, data entry, QA — briefed like interns, reviewed like interns.</a:t>
            </a:r>
            <a:endParaRPr lang="en-US" sz="1250" dirty="0"/>
          </a:p>
        </p:txBody>
      </p:sp>
      <p:sp>
        <p:nvSpPr>
          <p:cNvPr id="21" name="Shape 15"/>
          <p:cNvSpPr/>
          <p:nvPr/>
        </p:nvSpPr>
        <p:spPr>
          <a:xfrm>
            <a:off x="6172200" y="3520440"/>
            <a:ext cx="5440680" cy="1874520"/>
          </a:xfrm>
          <a:prstGeom prst="roundRect">
            <a:avLst>
              <a:gd name="adj" fmla="val 4390"/>
            </a:avLst>
          </a:prstGeom>
          <a:solidFill>
            <a:srgbClr val="F5F8FC"/>
          </a:solidFill>
          <a:ln w="12700">
            <a:solidFill>
              <a:srgbClr val="E1E6F0"/>
            </a:solidFill>
            <a:prstDash val="solid"/>
          </a:ln>
        </p:spPr>
      </p:sp>
      <p:sp>
        <p:nvSpPr>
          <p:cNvPr id="22" name="Shape 16"/>
          <p:cNvSpPr/>
          <p:nvPr/>
        </p:nvSpPr>
        <p:spPr>
          <a:xfrm>
            <a:off x="6446520" y="3776472"/>
            <a:ext cx="475488" cy="475488"/>
          </a:xfrm>
          <a:prstGeom prst="ellipse">
            <a:avLst/>
          </a:prstGeom>
          <a:solidFill>
            <a:srgbClr val="35C1B1"/>
          </a:solidFill>
          <a:ln/>
        </p:spPr>
      </p:sp>
      <p:pic>
        <p:nvPicPr>
          <p:cNvPr id="23" name="Image 3" descr="icons/diagram.png">    </p:cNvPr>
          <p:cNvPicPr>
            <a:picLocks noChangeAspect="1"/>
          </p:cNvPicPr>
          <p:nvPr/>
        </p:nvPicPr>
        <p:blipFill>
          <a:blip r:embed="rId5"/>
          <a:stretch>
            <a:fillRect/>
          </a:stretch>
        </p:blipFill>
        <p:spPr>
          <a:xfrm>
            <a:off x="6565392" y="3895344"/>
            <a:ext cx="237744" cy="237744"/>
          </a:xfrm>
          <a:prstGeom prst="rect">
            <a:avLst/>
          </a:prstGeom>
        </p:spPr>
      </p:pic>
      <p:sp>
        <p:nvSpPr>
          <p:cNvPr id="24" name="Text 17"/>
          <p:cNvSpPr/>
          <p:nvPr/>
        </p:nvSpPr>
        <p:spPr>
          <a:xfrm>
            <a:off x="7086600" y="3849624"/>
            <a:ext cx="429768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Systemize your best work</a:t>
            </a:r>
            <a:endParaRPr lang="en-US" sz="1500" dirty="0"/>
          </a:p>
        </p:txBody>
      </p:sp>
      <p:sp>
        <p:nvSpPr>
          <p:cNvPr id="25" name="Text 18"/>
          <p:cNvSpPr/>
          <p:nvPr/>
        </p:nvSpPr>
        <p:spPr>
          <a:xfrm>
            <a:off x="6446520" y="4389120"/>
            <a:ext cx="4892040" cy="914400"/>
          </a:xfrm>
          <a:prstGeom prst="rect">
            <a:avLst/>
          </a:prstGeom>
          <a:noFill/>
          <a:ln/>
        </p:spPr>
        <p:txBody>
          <a:bodyPr wrap="square" lIns="0" tIns="0" rIns="0" bIns="0" rtlCol="0" anchor="ctr"/>
          <a:lstStyle/>
          <a:p>
            <a:pPr indent="0" marL="0">
              <a:buNone/>
            </a:pPr>
            <a:r>
              <a:rPr lang="en-US" sz="1250" dirty="0">
                <a:solidFill>
                  <a:srgbClr val="232A3E"/>
                </a:solidFill>
                <a:latin typeface="Calibri" pitchFamily="34" charset="0"/>
                <a:ea typeface="Calibri" pitchFamily="34" charset="-122"/>
                <a:cs typeface="Calibri" pitchFamily="34" charset="-120"/>
              </a:rPr>
              <a:t>Your winning prompts become SOPs — skills your whole team (and AI) reuses.</a:t>
            </a:r>
            <a:endParaRPr lang="en-US" sz="1250" dirty="0"/>
          </a:p>
        </p:txBody>
      </p:sp>
      <p:sp>
        <p:nvSpPr>
          <p:cNvPr id="26" name="Shape 19"/>
          <p:cNvSpPr/>
          <p:nvPr/>
        </p:nvSpPr>
        <p:spPr>
          <a:xfrm>
            <a:off x="548640" y="5532120"/>
            <a:ext cx="11109960" cy="841248"/>
          </a:xfrm>
          <a:prstGeom prst="roundRect">
            <a:avLst>
              <a:gd name="adj" fmla="val 9783"/>
            </a:avLst>
          </a:prstGeom>
          <a:solidFill>
            <a:srgbClr val="151F4A"/>
          </a:solidFill>
          <a:ln/>
        </p:spPr>
      </p:sp>
      <p:pic>
        <p:nvPicPr>
          <p:cNvPr id="27" name="Image 4" descr="icons/shield.png">    </p:cNvPr>
          <p:cNvPicPr>
            <a:picLocks noChangeAspect="1"/>
          </p:cNvPicPr>
          <p:nvPr/>
        </p:nvPicPr>
        <p:blipFill>
          <a:blip r:embed="rId6"/>
          <a:stretch>
            <a:fillRect/>
          </a:stretch>
        </p:blipFill>
        <p:spPr>
          <a:xfrm>
            <a:off x="868680" y="5742432"/>
            <a:ext cx="411480" cy="411480"/>
          </a:xfrm>
          <a:prstGeom prst="rect">
            <a:avLst/>
          </a:prstGeom>
        </p:spPr>
      </p:pic>
      <p:sp>
        <p:nvSpPr>
          <p:cNvPr id="28" name="Text 20"/>
          <p:cNvSpPr/>
          <p:nvPr/>
        </p:nvSpPr>
        <p:spPr>
          <a:xfrm>
            <a:off x="1463040" y="5532120"/>
            <a:ext cx="10058400" cy="84124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 guardrail: humans stay on money, legal, and anything public. AI drafts — you approve.</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FREE VS PAID</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Start free. Pay only when it pays you.</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463040"/>
            <a:ext cx="5440680" cy="4206240"/>
          </a:xfrm>
          <a:prstGeom prst="roundRect">
            <a:avLst>
              <a:gd name="adj" fmla="val 1957"/>
            </a:avLst>
          </a:prstGeom>
          <a:solidFill>
            <a:srgbClr val="F5F8FC"/>
          </a:solidFill>
          <a:ln w="12700">
            <a:solidFill>
              <a:srgbClr val="E1E6F0"/>
            </a:solidFill>
            <a:prstDash val="solid"/>
          </a:ln>
        </p:spPr>
      </p:sp>
      <p:sp>
        <p:nvSpPr>
          <p:cNvPr id="7" name="Shape 4"/>
          <p:cNvSpPr/>
          <p:nvPr/>
        </p:nvSpPr>
        <p:spPr>
          <a:xfrm>
            <a:off x="868680" y="1719072"/>
            <a:ext cx="457200" cy="457200"/>
          </a:xfrm>
          <a:prstGeom prst="ellipse">
            <a:avLst/>
          </a:prstGeom>
          <a:solidFill>
            <a:srgbClr val="35C1B1"/>
          </a:solidFill>
          <a:ln/>
        </p:spPr>
      </p:sp>
      <p:pic>
        <p:nvPicPr>
          <p:cNvPr id="8" name="Image 0" descr="icons/gift.png">    </p:cNvPr>
          <p:cNvPicPr>
            <a:picLocks noChangeAspect="1"/>
          </p:cNvPicPr>
          <p:nvPr/>
        </p:nvPicPr>
        <p:blipFill>
          <a:blip r:embed="rId2"/>
          <a:stretch>
            <a:fillRect/>
          </a:stretch>
        </p:blipFill>
        <p:spPr>
          <a:xfrm>
            <a:off x="982980" y="1833372"/>
            <a:ext cx="228600" cy="228600"/>
          </a:xfrm>
          <a:prstGeom prst="rect">
            <a:avLst/>
          </a:prstGeom>
        </p:spPr>
      </p:pic>
      <p:sp>
        <p:nvSpPr>
          <p:cNvPr id="9" name="Text 5"/>
          <p:cNvSpPr/>
          <p:nvPr/>
        </p:nvSpPr>
        <p:spPr>
          <a:xfrm>
            <a:off x="1463040" y="1783080"/>
            <a:ext cx="420624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The ₦0 stack (yes, really)</a:t>
            </a:r>
            <a:endParaRPr lang="en-US" sz="1500" dirty="0"/>
          </a:p>
        </p:txBody>
      </p:sp>
      <p:sp>
        <p:nvSpPr>
          <p:cNvPr id="10" name="Text 6"/>
          <p:cNvSpPr/>
          <p:nvPr/>
        </p:nvSpPr>
        <p:spPr>
          <a:xfrm>
            <a:off x="868680" y="2286000"/>
            <a:ext cx="4892040" cy="3108960"/>
          </a:xfrm>
          <a:prstGeom prst="rect">
            <a:avLst/>
          </a:prstGeom>
          <a:noFill/>
          <a:ln/>
        </p:spPr>
        <p:txBody>
          <a:bodyPr wrap="square" lIns="0" tIns="0" rIns="0" bIns="0" rtlCol="0" anchor="ctr"/>
          <a:lstStyle/>
          <a:p>
            <a:pPr marL="152400" indent="-152400">
              <a:spcAft>
                <a:spcPts val="1300"/>
              </a:spcAft>
              <a:buSzPct val="100000"/>
              <a:buChar char="•"/>
            </a:pPr>
            <a:r>
              <a:rPr lang="en-US" sz="1300" dirty="0">
                <a:solidFill>
                  <a:srgbClr val="232A3E"/>
                </a:solidFill>
                <a:latin typeface="Calibri" pitchFamily="34" charset="0"/>
                <a:ea typeface="Calibri" pitchFamily="34" charset="-122"/>
                <a:cs typeface="Calibri" pitchFamily="34" charset="-120"/>
              </a:rPr>
              <a:t>Claude / ChatGPT / Gemini / Grok — free tiers</a:t>
            </a:r>
            <a:endParaRPr lang="en-US" sz="1300" dirty="0"/>
          </a:p>
          <a:p>
            <a:pPr marL="152400" indent="-152400">
              <a:spcAft>
                <a:spcPts val="1300"/>
              </a:spcAft>
              <a:buSzPct val="100000"/>
              <a:buChar char="•"/>
            </a:pPr>
            <a:r>
              <a:rPr lang="en-US" sz="1300" dirty="0">
                <a:solidFill>
                  <a:srgbClr val="232A3E"/>
                </a:solidFill>
                <a:latin typeface="Calibri" pitchFamily="34" charset="0"/>
                <a:ea typeface="Calibri" pitchFamily="34" charset="-122"/>
                <a:cs typeface="Calibri" pitchFamily="34" charset="-120"/>
              </a:rPr>
              <a:t>Pomelli (beta) + Canva + Wix free plans</a:t>
            </a:r>
            <a:endParaRPr lang="en-US" sz="1300" dirty="0"/>
          </a:p>
          <a:p>
            <a:pPr marL="152400" indent="-152400">
              <a:spcAft>
                <a:spcPts val="1300"/>
              </a:spcAft>
              <a:buSzPct val="100000"/>
              <a:buChar char="•"/>
            </a:pPr>
            <a:r>
              <a:rPr lang="en-US" sz="1300" dirty="0">
                <a:solidFill>
                  <a:srgbClr val="232A3E"/>
                </a:solidFill>
                <a:latin typeface="Calibri" pitchFamily="34" charset="0"/>
                <a:ea typeface="Calibri" pitchFamily="34" charset="-122"/>
                <a:cs typeface="Calibri" pitchFamily="34" charset="-120"/>
              </a:rPr>
              <a:t>NotebookLM + Perplexity for research</a:t>
            </a:r>
            <a:endParaRPr lang="en-US" sz="1300" dirty="0"/>
          </a:p>
          <a:p>
            <a:pPr marL="152400" indent="-152400">
              <a:spcAft>
                <a:spcPts val="1300"/>
              </a:spcAft>
              <a:buSzPct val="100000"/>
              <a:buChar char="•"/>
            </a:pPr>
            <a:r>
              <a:rPr lang="en-US" sz="1300" dirty="0">
                <a:solidFill>
                  <a:srgbClr val="232A3E"/>
                </a:solidFill>
                <a:latin typeface="Calibri" pitchFamily="34" charset="0"/>
                <a:ea typeface="Calibri" pitchFamily="34" charset="-122"/>
                <a:cs typeface="Calibri" pitchFamily="34" charset="-120"/>
              </a:rPr>
              <a:t>HubSpot free CRM + Buffer free plan</a:t>
            </a:r>
            <a:endParaRPr lang="en-US" sz="1300" dirty="0"/>
          </a:p>
          <a:p>
            <a:pPr marL="152400" indent="-152400">
              <a:spcAft>
                <a:spcPts val="1300"/>
              </a:spcAft>
              <a:buSzPct val="100000"/>
              <a:buChar char="•"/>
            </a:pPr>
            <a:r>
              <a:rPr lang="en-US" sz="1300" dirty="0">
                <a:solidFill>
                  <a:srgbClr val="232A3E"/>
                </a:solidFill>
                <a:latin typeface="Calibri" pitchFamily="34" charset="0"/>
                <a:ea typeface="Calibri" pitchFamily="34" charset="-122"/>
                <a:cs typeface="Calibri" pitchFamily="34" charset="-120"/>
              </a:rPr>
              <a:t>n8n self-hosted + free hosting (Vercel, GitHub)</a:t>
            </a:r>
            <a:endParaRPr lang="en-US" sz="1300" dirty="0"/>
          </a:p>
        </p:txBody>
      </p:sp>
      <p:sp>
        <p:nvSpPr>
          <p:cNvPr id="11" name="Shape 7"/>
          <p:cNvSpPr/>
          <p:nvPr/>
        </p:nvSpPr>
        <p:spPr>
          <a:xfrm>
            <a:off x="6217920" y="1463040"/>
            <a:ext cx="5440680" cy="4206240"/>
          </a:xfrm>
          <a:prstGeom prst="roundRect">
            <a:avLst>
              <a:gd name="adj" fmla="val 1957"/>
            </a:avLst>
          </a:prstGeom>
          <a:solidFill>
            <a:srgbClr val="F5F8FC"/>
          </a:solidFill>
          <a:ln w="12700">
            <a:solidFill>
              <a:srgbClr val="E1E6F0"/>
            </a:solidFill>
            <a:prstDash val="solid"/>
          </a:ln>
        </p:spPr>
      </p:sp>
      <p:sp>
        <p:nvSpPr>
          <p:cNvPr id="12" name="Shape 8"/>
          <p:cNvSpPr/>
          <p:nvPr/>
        </p:nvSpPr>
        <p:spPr>
          <a:xfrm>
            <a:off x="6537960" y="1719072"/>
            <a:ext cx="457200" cy="457200"/>
          </a:xfrm>
          <a:prstGeom prst="ellipse">
            <a:avLst/>
          </a:prstGeom>
          <a:solidFill>
            <a:srgbClr val="29A9E1"/>
          </a:solidFill>
          <a:ln/>
        </p:spPr>
      </p:sp>
      <p:pic>
        <p:nvPicPr>
          <p:cNvPr id="13" name="Image 1" descr="icons/money.png">    </p:cNvPr>
          <p:cNvPicPr>
            <a:picLocks noChangeAspect="1"/>
          </p:cNvPicPr>
          <p:nvPr/>
        </p:nvPicPr>
        <p:blipFill>
          <a:blip r:embed="rId3"/>
          <a:stretch>
            <a:fillRect/>
          </a:stretch>
        </p:blipFill>
        <p:spPr>
          <a:xfrm>
            <a:off x="6652260" y="1833372"/>
            <a:ext cx="228600" cy="228600"/>
          </a:xfrm>
          <a:prstGeom prst="rect">
            <a:avLst/>
          </a:prstGeom>
        </p:spPr>
      </p:pic>
      <p:sp>
        <p:nvSpPr>
          <p:cNvPr id="14" name="Text 9"/>
          <p:cNvSpPr/>
          <p:nvPr/>
        </p:nvSpPr>
        <p:spPr>
          <a:xfrm>
            <a:off x="7132320" y="1783080"/>
            <a:ext cx="4206240" cy="320040"/>
          </a:xfrm>
          <a:prstGeom prst="rect">
            <a:avLst/>
          </a:prstGeom>
          <a:noFill/>
          <a:ln/>
        </p:spPr>
        <p:txBody>
          <a:bodyPr wrap="square" lIns="0" tIns="0" rIns="0" bIns="0" rtlCol="0" anchor="ctr"/>
          <a:lstStyle/>
          <a:p>
            <a:pPr indent="0" marL="0">
              <a:buNone/>
            </a:pPr>
            <a:r>
              <a:rPr lang="en-US" sz="1500" b="1" dirty="0">
                <a:solidFill>
                  <a:srgbClr val="151F4A"/>
                </a:solidFill>
                <a:latin typeface="Arial" pitchFamily="34" charset="0"/>
                <a:ea typeface="Arial" pitchFamily="34" charset="-122"/>
                <a:cs typeface="Arial" pitchFamily="34" charset="-120"/>
              </a:rPr>
              <a:t>Pay when you pass a test</a:t>
            </a:r>
            <a:endParaRPr lang="en-US" sz="1500" dirty="0"/>
          </a:p>
        </p:txBody>
      </p:sp>
      <p:sp>
        <p:nvSpPr>
          <p:cNvPr id="15" name="Text 10"/>
          <p:cNvSpPr/>
          <p:nvPr/>
        </p:nvSpPr>
        <p:spPr>
          <a:xfrm>
            <a:off x="6537960" y="2286000"/>
            <a:ext cx="4892040" cy="3108960"/>
          </a:xfrm>
          <a:prstGeom prst="rect">
            <a:avLst/>
          </a:prstGeom>
          <a:noFill/>
          <a:ln/>
        </p:spPr>
        <p:txBody>
          <a:bodyPr wrap="square" lIns="0" tIns="0" rIns="0" bIns="0" rtlCol="0" anchor="ctr"/>
          <a:lstStyle/>
          <a:p>
            <a:pPr marL="152400" indent="-152400">
              <a:spcAft>
                <a:spcPts val="1300"/>
              </a:spcAft>
              <a:buSzPct val="100000"/>
              <a:buChar char="•"/>
            </a:pPr>
            <a:r>
              <a:rPr lang="en-US" sz="1300" b="1" dirty="0">
                <a:solidFill>
                  <a:srgbClr val="232A3E"/>
                </a:solidFill>
                <a:latin typeface="Calibri" pitchFamily="34" charset="0"/>
                <a:ea typeface="Calibri" pitchFamily="34" charset="-122"/>
                <a:cs typeface="Calibri" pitchFamily="34" charset="-120"/>
              </a:rPr>
              <a:t>Test 1:</a:t>
            </a:r>
            <a:pPr indent="0" marL="0">
              <a:spcAft>
                <a:spcPts val="1300"/>
              </a:spcAft>
              <a:buNone/>
            </a:pPr>
            <a:r>
              <a:rPr lang="en-US" sz="1300" dirty="0">
                <a:solidFill>
                  <a:srgbClr val="232A3E"/>
                </a:solidFill>
                <a:latin typeface="Calibri" pitchFamily="34" charset="0"/>
                <a:ea typeface="Calibri" pitchFamily="34" charset="-122"/>
                <a:cs typeface="Calibri" pitchFamily="34" charset="-120"/>
              </a:rPr>
              <a:t> you hit the free limit every week</a:t>
            </a:r>
            <a:endParaRPr lang="en-US" sz="1300" dirty="0"/>
          </a:p>
          <a:p>
            <a:pPr marL="152400" indent="-152400">
              <a:spcAft>
                <a:spcPts val="1300"/>
              </a:spcAft>
              <a:buSzPct val="100000"/>
              <a:buChar char="•"/>
            </a:pPr>
            <a:r>
              <a:rPr lang="en-US" sz="1300" b="1" dirty="0">
                <a:solidFill>
                  <a:srgbClr val="232A3E"/>
                </a:solidFill>
                <a:latin typeface="Calibri" pitchFamily="34" charset="0"/>
                <a:ea typeface="Calibri" pitchFamily="34" charset="-122"/>
                <a:cs typeface="Calibri" pitchFamily="34" charset="-120"/>
              </a:rPr>
              <a:t>Test 2:</a:t>
            </a:r>
            <a:pPr indent="0" marL="0">
              <a:spcAft>
                <a:spcPts val="1300"/>
              </a:spcAft>
              <a:buNone/>
            </a:pPr>
            <a:r>
              <a:rPr lang="en-US" sz="1300" dirty="0">
                <a:solidFill>
                  <a:srgbClr val="232A3E"/>
                </a:solidFill>
                <a:latin typeface="Calibri" pitchFamily="34" charset="0"/>
                <a:ea typeface="Calibri" pitchFamily="34" charset="-122"/>
                <a:cs typeface="Calibri" pitchFamily="34" charset="-120"/>
              </a:rPr>
              <a:t> it saves you 2+ hours a month</a:t>
            </a:r>
            <a:endParaRPr lang="en-US" sz="1300" dirty="0"/>
          </a:p>
          <a:p>
            <a:pPr marL="152400" indent="-152400">
              <a:spcAft>
                <a:spcPts val="1300"/>
              </a:spcAft>
              <a:buSzPct val="100000"/>
              <a:buChar char="•"/>
            </a:pPr>
            <a:r>
              <a:rPr lang="en-US" sz="1300" b="1" dirty="0">
                <a:solidFill>
                  <a:srgbClr val="232A3E"/>
                </a:solidFill>
                <a:latin typeface="Calibri" pitchFamily="34" charset="0"/>
                <a:ea typeface="Calibri" pitchFamily="34" charset="-122"/>
                <a:cs typeface="Calibri" pitchFamily="34" charset="-120"/>
              </a:rPr>
              <a:t>Test 3:</a:t>
            </a:r>
            <a:pPr indent="0" marL="0">
              <a:spcAft>
                <a:spcPts val="1300"/>
              </a:spcAft>
              <a:buNone/>
            </a:pPr>
            <a:r>
              <a:rPr lang="en-US" sz="1300" dirty="0">
                <a:solidFill>
                  <a:srgbClr val="232A3E"/>
                </a:solidFill>
                <a:latin typeface="Calibri" pitchFamily="34" charset="0"/>
                <a:ea typeface="Calibri" pitchFamily="34" charset="-122"/>
                <a:cs typeface="Calibri" pitchFamily="34" charset="-120"/>
              </a:rPr>
              <a:t> it directly touches revenue</a:t>
            </a:r>
            <a:endParaRPr lang="en-US" sz="1300" dirty="0"/>
          </a:p>
          <a:p>
            <a:pPr marL="152400" indent="-152400">
              <a:spcAft>
                <a:spcPts val="1300"/>
              </a:spcAft>
              <a:buSzPct val="100000"/>
              <a:buChar char="•"/>
            </a:pPr>
            <a:r>
              <a:rPr lang="en-US" sz="1300" b="1" dirty="0">
                <a:solidFill>
                  <a:srgbClr val="232A3E"/>
                </a:solidFill>
                <a:latin typeface="Calibri" pitchFamily="34" charset="0"/>
                <a:ea typeface="Calibri" pitchFamily="34" charset="-122"/>
                <a:cs typeface="Calibri" pitchFamily="34" charset="-120"/>
              </a:rPr>
              <a:t>First upgrades:</a:t>
            </a:r>
            <a:pPr indent="0" marL="0">
              <a:spcAft>
                <a:spcPts val="1300"/>
              </a:spcAft>
              <a:buNone/>
            </a:pPr>
            <a:r>
              <a:rPr lang="en-US" sz="1300" dirty="0">
                <a:solidFill>
                  <a:srgbClr val="232A3E"/>
                </a:solidFill>
                <a:latin typeface="Calibri" pitchFamily="34" charset="0"/>
                <a:ea typeface="Calibri" pitchFamily="34" charset="-122"/>
                <a:cs typeface="Calibri" pitchFamily="34" charset="-120"/>
              </a:rPr>
              <a:t> one assistant (₦7,450–$20) → Canva Pro → your domain</a:t>
            </a:r>
            <a:endParaRPr lang="en-US" sz="1300" dirty="0"/>
          </a:p>
        </p:txBody>
      </p:sp>
      <p:sp>
        <p:nvSpPr>
          <p:cNvPr id="16" name="Shape 11"/>
          <p:cNvSpPr/>
          <p:nvPr/>
        </p:nvSpPr>
        <p:spPr>
          <a:xfrm>
            <a:off x="548640" y="5806440"/>
            <a:ext cx="11109960" cy="566928"/>
          </a:xfrm>
          <a:prstGeom prst="roundRect">
            <a:avLst>
              <a:gd name="adj" fmla="val 14516"/>
            </a:avLst>
          </a:prstGeom>
          <a:solidFill>
            <a:srgbClr val="EAF5FC"/>
          </a:solidFill>
          <a:ln/>
        </p:spPr>
      </p:sp>
      <p:sp>
        <p:nvSpPr>
          <p:cNvPr id="17" name="Text 12"/>
          <p:cNvSpPr/>
          <p:nvPr/>
        </p:nvSpPr>
        <p:spPr>
          <a:xfrm>
            <a:off x="548640" y="5806440"/>
            <a:ext cx="11109960" cy="566928"/>
          </a:xfrm>
          <a:prstGeom prst="rect">
            <a:avLst/>
          </a:prstGeom>
          <a:noFill/>
          <a:ln/>
        </p:spPr>
        <p:txBody>
          <a:bodyPr wrap="square" lIns="0" tIns="0" rIns="0" bIns="0" rtlCol="0" anchor="ctr"/>
          <a:lstStyle/>
          <a:p>
            <a:pPr algn="ctr" indent="0" marL="0">
              <a:buNone/>
            </a:pPr>
            <a:r>
              <a:rPr lang="en-US" sz="1350" b="1" dirty="0">
                <a:solidFill>
                  <a:srgbClr val="151F4A"/>
                </a:solidFill>
                <a:latin typeface="Arial" pitchFamily="34" charset="0"/>
                <a:ea typeface="Arial" pitchFamily="34" charset="-122"/>
                <a:cs typeface="Arial" pitchFamily="34" charset="-120"/>
              </a:rPr>
              <a:t>Tools don't build brands — consistency does. Buy the tool the day it removes a bottleneck, not before.</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ACTION PLAN</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Your next 30 days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2743200" cy="4114800"/>
          </a:xfrm>
          <a:prstGeom prst="roundRect">
            <a:avLst>
              <a:gd name="adj" fmla="val 3000"/>
            </a:avLst>
          </a:prstGeom>
          <a:solidFill>
            <a:srgbClr val="F5F8FC"/>
          </a:solidFill>
          <a:ln w="12700">
            <a:solidFill>
              <a:srgbClr val="E1E6F0"/>
            </a:solidFill>
            <a:prstDash val="solid"/>
          </a:ln>
        </p:spPr>
      </p:sp>
      <p:sp>
        <p:nvSpPr>
          <p:cNvPr id="7" name="Shape 4"/>
          <p:cNvSpPr/>
          <p:nvPr/>
        </p:nvSpPr>
        <p:spPr>
          <a:xfrm>
            <a:off x="777240" y="1828800"/>
            <a:ext cx="502920" cy="502920"/>
          </a:xfrm>
          <a:prstGeom prst="ellipse">
            <a:avLst/>
          </a:prstGeom>
          <a:solidFill>
            <a:srgbClr val="35C1B1"/>
          </a:solidFill>
          <a:ln/>
        </p:spPr>
      </p:sp>
      <p:pic>
        <p:nvPicPr>
          <p:cNvPr id="8" name="Image 0" descr="icons/seedling.png">    </p:cNvPr>
          <p:cNvPicPr>
            <a:picLocks noChangeAspect="1"/>
          </p:cNvPicPr>
          <p:nvPr/>
        </p:nvPicPr>
        <p:blipFill>
          <a:blip r:embed="rId2"/>
          <a:stretch>
            <a:fillRect/>
          </a:stretch>
        </p:blipFill>
        <p:spPr>
          <a:xfrm>
            <a:off x="902970" y="1954530"/>
            <a:ext cx="251460" cy="251460"/>
          </a:xfrm>
          <a:prstGeom prst="rect">
            <a:avLst/>
          </a:prstGeom>
        </p:spPr>
      </p:pic>
      <p:sp>
        <p:nvSpPr>
          <p:cNvPr id="9" name="Text 5"/>
          <p:cNvSpPr/>
          <p:nvPr/>
        </p:nvSpPr>
        <p:spPr>
          <a:xfrm>
            <a:off x="777240" y="2468880"/>
            <a:ext cx="2377440" cy="548640"/>
          </a:xfrm>
          <a:prstGeom prst="rect">
            <a:avLst/>
          </a:prstGeom>
          <a:noFill/>
          <a:ln/>
        </p:spPr>
        <p:txBody>
          <a:bodyPr wrap="square" lIns="0" tIns="0" rIns="0" bIns="0" rtlCol="0" anchor="ctr"/>
          <a:lstStyle/>
          <a:p>
            <a:pPr indent="0" marL="0">
              <a:buNone/>
            </a:pPr>
            <a:r>
              <a:rPr lang="en-US" sz="1400" b="1" dirty="0">
                <a:solidFill>
                  <a:srgbClr val="151F4A"/>
                </a:solidFill>
                <a:latin typeface="Arial" pitchFamily="34" charset="0"/>
                <a:ea typeface="Arial" pitchFamily="34" charset="-122"/>
                <a:cs typeface="Arial" pitchFamily="34" charset="-120"/>
              </a:rPr>
              <a:t>Week 1 · Foundations</a:t>
            </a:r>
            <a:endParaRPr lang="en-US" sz="1400" dirty="0"/>
          </a:p>
        </p:txBody>
      </p:sp>
      <p:sp>
        <p:nvSpPr>
          <p:cNvPr id="10" name="Text 6"/>
          <p:cNvSpPr/>
          <p:nvPr/>
        </p:nvSpPr>
        <p:spPr>
          <a:xfrm>
            <a:off x="777240" y="3108960"/>
            <a:ext cx="2331720" cy="2377440"/>
          </a:xfrm>
          <a:prstGeom prst="rect">
            <a:avLst/>
          </a:prstGeom>
          <a:noFill/>
          <a:ln/>
        </p:spPr>
        <p:txBody>
          <a:bodyPr wrap="square" lIns="0" tIns="0" rIns="0" bIns="0" rtlCol="0" anchor="ctr"/>
          <a:lstStyle/>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Pick ONE assistant</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Save 5 role prompts for your business</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Run your brand through Pomelli / Canva</a:t>
            </a:r>
            <a:endParaRPr lang="en-US" sz="1200" dirty="0"/>
          </a:p>
        </p:txBody>
      </p:sp>
      <p:sp>
        <p:nvSpPr>
          <p:cNvPr id="11" name="Shape 7"/>
          <p:cNvSpPr/>
          <p:nvPr/>
        </p:nvSpPr>
        <p:spPr>
          <a:xfrm>
            <a:off x="3465576" y="1554480"/>
            <a:ext cx="2743200" cy="4114800"/>
          </a:xfrm>
          <a:prstGeom prst="roundRect">
            <a:avLst>
              <a:gd name="adj" fmla="val 3000"/>
            </a:avLst>
          </a:prstGeom>
          <a:solidFill>
            <a:srgbClr val="F5F8FC"/>
          </a:solidFill>
          <a:ln w="12700">
            <a:solidFill>
              <a:srgbClr val="E1E6F0"/>
            </a:solidFill>
            <a:prstDash val="solid"/>
          </a:ln>
        </p:spPr>
      </p:sp>
      <p:sp>
        <p:nvSpPr>
          <p:cNvPr id="12" name="Shape 8"/>
          <p:cNvSpPr/>
          <p:nvPr/>
        </p:nvSpPr>
        <p:spPr>
          <a:xfrm>
            <a:off x="3694176" y="1828800"/>
            <a:ext cx="502920" cy="502920"/>
          </a:xfrm>
          <a:prstGeom prst="ellipse">
            <a:avLst/>
          </a:prstGeom>
          <a:solidFill>
            <a:srgbClr val="29A9E1"/>
          </a:solidFill>
          <a:ln/>
        </p:spPr>
      </p:sp>
      <p:pic>
        <p:nvPicPr>
          <p:cNvPr id="13" name="Image 1" descr="icons/linkedin.png">    </p:cNvPr>
          <p:cNvPicPr>
            <a:picLocks noChangeAspect="1"/>
          </p:cNvPicPr>
          <p:nvPr/>
        </p:nvPicPr>
        <p:blipFill>
          <a:blip r:embed="rId3"/>
          <a:stretch>
            <a:fillRect/>
          </a:stretch>
        </p:blipFill>
        <p:spPr>
          <a:xfrm>
            <a:off x="3819906" y="1954530"/>
            <a:ext cx="251460" cy="251460"/>
          </a:xfrm>
          <a:prstGeom prst="rect">
            <a:avLst/>
          </a:prstGeom>
        </p:spPr>
      </p:pic>
      <p:sp>
        <p:nvSpPr>
          <p:cNvPr id="14" name="Text 9"/>
          <p:cNvSpPr/>
          <p:nvPr/>
        </p:nvSpPr>
        <p:spPr>
          <a:xfrm>
            <a:off x="3694176" y="2468880"/>
            <a:ext cx="2377440" cy="548640"/>
          </a:xfrm>
          <a:prstGeom prst="rect">
            <a:avLst/>
          </a:prstGeom>
          <a:noFill/>
          <a:ln/>
        </p:spPr>
        <p:txBody>
          <a:bodyPr wrap="square" lIns="0" tIns="0" rIns="0" bIns="0" rtlCol="0" anchor="ctr"/>
          <a:lstStyle/>
          <a:p>
            <a:pPr indent="0" marL="0">
              <a:buNone/>
            </a:pPr>
            <a:r>
              <a:rPr lang="en-US" sz="1400" b="1" dirty="0">
                <a:solidFill>
                  <a:srgbClr val="151F4A"/>
                </a:solidFill>
                <a:latin typeface="Arial" pitchFamily="34" charset="0"/>
                <a:ea typeface="Arial" pitchFamily="34" charset="-122"/>
                <a:cs typeface="Arial" pitchFamily="34" charset="-120"/>
              </a:rPr>
              <a:t>Week 2 · Presence</a:t>
            </a:r>
            <a:endParaRPr lang="en-US" sz="1400" dirty="0"/>
          </a:p>
        </p:txBody>
      </p:sp>
      <p:sp>
        <p:nvSpPr>
          <p:cNvPr id="15" name="Text 10"/>
          <p:cNvSpPr/>
          <p:nvPr/>
        </p:nvSpPr>
        <p:spPr>
          <a:xfrm>
            <a:off x="3694176" y="3108960"/>
            <a:ext cx="2331720" cy="2377440"/>
          </a:xfrm>
          <a:prstGeom prst="rect">
            <a:avLst/>
          </a:prstGeom>
          <a:noFill/>
          <a:ln/>
        </p:spPr>
        <p:txBody>
          <a:bodyPr wrap="square" lIns="0" tIns="0" rIns="0" bIns="0" rtlCol="0" anchor="ctr"/>
          <a:lstStyle/>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LinkedIn overhaul — AI drafts, you edit</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Same name, bio &amp; handle everywhere</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First AI-assisted post goes out</a:t>
            </a:r>
            <a:endParaRPr lang="en-US" sz="1200" dirty="0"/>
          </a:p>
        </p:txBody>
      </p:sp>
      <p:sp>
        <p:nvSpPr>
          <p:cNvPr id="16" name="Shape 11"/>
          <p:cNvSpPr/>
          <p:nvPr/>
        </p:nvSpPr>
        <p:spPr>
          <a:xfrm>
            <a:off x="6382512" y="1554480"/>
            <a:ext cx="2743200" cy="4114800"/>
          </a:xfrm>
          <a:prstGeom prst="roundRect">
            <a:avLst>
              <a:gd name="adj" fmla="val 3000"/>
            </a:avLst>
          </a:prstGeom>
          <a:solidFill>
            <a:srgbClr val="F5F8FC"/>
          </a:solidFill>
          <a:ln w="12700">
            <a:solidFill>
              <a:srgbClr val="E1E6F0"/>
            </a:solidFill>
            <a:prstDash val="solid"/>
          </a:ln>
        </p:spPr>
      </p:sp>
      <p:sp>
        <p:nvSpPr>
          <p:cNvPr id="17" name="Shape 12"/>
          <p:cNvSpPr/>
          <p:nvPr/>
        </p:nvSpPr>
        <p:spPr>
          <a:xfrm>
            <a:off x="6611112" y="1828800"/>
            <a:ext cx="502920" cy="502920"/>
          </a:xfrm>
          <a:prstGeom prst="ellipse">
            <a:avLst/>
          </a:prstGeom>
          <a:solidFill>
            <a:srgbClr val="151F4A"/>
          </a:solidFill>
          <a:ln/>
        </p:spPr>
      </p:sp>
      <p:pic>
        <p:nvPicPr>
          <p:cNvPr id="18" name="Image 2" descr="icons/rocket.png">    </p:cNvPr>
          <p:cNvPicPr>
            <a:picLocks noChangeAspect="1"/>
          </p:cNvPicPr>
          <p:nvPr/>
        </p:nvPicPr>
        <p:blipFill>
          <a:blip r:embed="rId4"/>
          <a:stretch>
            <a:fillRect/>
          </a:stretch>
        </p:blipFill>
        <p:spPr>
          <a:xfrm>
            <a:off x="6736842" y="1954530"/>
            <a:ext cx="251460" cy="251460"/>
          </a:xfrm>
          <a:prstGeom prst="rect">
            <a:avLst/>
          </a:prstGeom>
        </p:spPr>
      </p:pic>
      <p:sp>
        <p:nvSpPr>
          <p:cNvPr id="19" name="Text 13"/>
          <p:cNvSpPr/>
          <p:nvPr/>
        </p:nvSpPr>
        <p:spPr>
          <a:xfrm>
            <a:off x="6611112" y="2468880"/>
            <a:ext cx="2377440" cy="548640"/>
          </a:xfrm>
          <a:prstGeom prst="rect">
            <a:avLst/>
          </a:prstGeom>
          <a:noFill/>
          <a:ln/>
        </p:spPr>
        <p:txBody>
          <a:bodyPr wrap="square" lIns="0" tIns="0" rIns="0" bIns="0" rtlCol="0" anchor="ctr"/>
          <a:lstStyle/>
          <a:p>
            <a:pPr indent="0" marL="0">
              <a:buNone/>
            </a:pPr>
            <a:r>
              <a:rPr lang="en-US" sz="1400" b="1" dirty="0">
                <a:solidFill>
                  <a:srgbClr val="151F4A"/>
                </a:solidFill>
                <a:latin typeface="Arial" pitchFamily="34" charset="0"/>
                <a:ea typeface="Arial" pitchFamily="34" charset="-122"/>
                <a:cs typeface="Arial" pitchFamily="34" charset="-120"/>
              </a:rPr>
              <a:t>Week 3 · Ship</a:t>
            </a:r>
            <a:endParaRPr lang="en-US" sz="1400" dirty="0"/>
          </a:p>
        </p:txBody>
      </p:sp>
      <p:sp>
        <p:nvSpPr>
          <p:cNvPr id="20" name="Text 14"/>
          <p:cNvSpPr/>
          <p:nvPr/>
        </p:nvSpPr>
        <p:spPr>
          <a:xfrm>
            <a:off x="6611112" y="3108960"/>
            <a:ext cx="2331720" cy="2377440"/>
          </a:xfrm>
          <a:prstGeom prst="rect">
            <a:avLst/>
          </a:prstGeom>
          <a:noFill/>
          <a:ln/>
        </p:spPr>
        <p:txBody>
          <a:bodyPr wrap="square" lIns="0" tIns="0" rIns="0" bIns="0" rtlCol="0" anchor="ctr"/>
          <a:lstStyle/>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Build your site with AI</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Host it free — go live</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QR code on your card &amp; flyers</a:t>
            </a:r>
            <a:endParaRPr lang="en-US" sz="1200" dirty="0"/>
          </a:p>
        </p:txBody>
      </p:sp>
      <p:sp>
        <p:nvSpPr>
          <p:cNvPr id="21" name="Shape 15"/>
          <p:cNvSpPr/>
          <p:nvPr/>
        </p:nvSpPr>
        <p:spPr>
          <a:xfrm>
            <a:off x="9299448" y="1554480"/>
            <a:ext cx="2743200" cy="4114800"/>
          </a:xfrm>
          <a:prstGeom prst="roundRect">
            <a:avLst>
              <a:gd name="adj" fmla="val 3000"/>
            </a:avLst>
          </a:prstGeom>
          <a:solidFill>
            <a:srgbClr val="F5F8FC"/>
          </a:solidFill>
          <a:ln w="12700">
            <a:solidFill>
              <a:srgbClr val="E1E6F0"/>
            </a:solidFill>
            <a:prstDash val="solid"/>
          </a:ln>
        </p:spPr>
      </p:sp>
      <p:sp>
        <p:nvSpPr>
          <p:cNvPr id="22" name="Shape 16"/>
          <p:cNvSpPr/>
          <p:nvPr/>
        </p:nvSpPr>
        <p:spPr>
          <a:xfrm>
            <a:off x="9528048" y="1828800"/>
            <a:ext cx="502920" cy="502920"/>
          </a:xfrm>
          <a:prstGeom prst="ellipse">
            <a:avLst/>
          </a:prstGeom>
          <a:solidFill>
            <a:srgbClr val="35C1B1"/>
          </a:solidFill>
          <a:ln/>
        </p:spPr>
      </p:sp>
      <p:pic>
        <p:nvPicPr>
          <p:cNvPr id="23" name="Image 3" descr="icons/gears.png">    </p:cNvPr>
          <p:cNvPicPr>
            <a:picLocks noChangeAspect="1"/>
          </p:cNvPicPr>
          <p:nvPr/>
        </p:nvPicPr>
        <p:blipFill>
          <a:blip r:embed="rId5"/>
          <a:stretch>
            <a:fillRect/>
          </a:stretch>
        </p:blipFill>
        <p:spPr>
          <a:xfrm>
            <a:off x="9653778" y="1954530"/>
            <a:ext cx="251460" cy="251460"/>
          </a:xfrm>
          <a:prstGeom prst="rect">
            <a:avLst/>
          </a:prstGeom>
        </p:spPr>
      </p:pic>
      <p:sp>
        <p:nvSpPr>
          <p:cNvPr id="24" name="Text 17"/>
          <p:cNvSpPr/>
          <p:nvPr/>
        </p:nvSpPr>
        <p:spPr>
          <a:xfrm>
            <a:off x="9528048" y="2468880"/>
            <a:ext cx="2377440" cy="548640"/>
          </a:xfrm>
          <a:prstGeom prst="rect">
            <a:avLst/>
          </a:prstGeom>
          <a:noFill/>
          <a:ln/>
        </p:spPr>
        <p:txBody>
          <a:bodyPr wrap="square" lIns="0" tIns="0" rIns="0" bIns="0" rtlCol="0" anchor="ctr"/>
          <a:lstStyle/>
          <a:p>
            <a:pPr indent="0" marL="0">
              <a:buNone/>
            </a:pPr>
            <a:r>
              <a:rPr lang="en-US" sz="1400" b="1" dirty="0">
                <a:solidFill>
                  <a:srgbClr val="151F4A"/>
                </a:solidFill>
                <a:latin typeface="Arial" pitchFamily="34" charset="0"/>
                <a:ea typeface="Arial" pitchFamily="34" charset="-122"/>
                <a:cs typeface="Arial" pitchFamily="34" charset="-120"/>
              </a:rPr>
              <a:t>Week 4 · Systems</a:t>
            </a:r>
            <a:endParaRPr lang="en-US" sz="1400" dirty="0"/>
          </a:p>
        </p:txBody>
      </p:sp>
      <p:sp>
        <p:nvSpPr>
          <p:cNvPr id="25" name="Text 18"/>
          <p:cNvSpPr/>
          <p:nvPr/>
        </p:nvSpPr>
        <p:spPr>
          <a:xfrm>
            <a:off x="9528048" y="3108960"/>
            <a:ext cx="2331720" cy="2377440"/>
          </a:xfrm>
          <a:prstGeom prst="rect">
            <a:avLst/>
          </a:prstGeom>
          <a:noFill/>
          <a:ln/>
        </p:spPr>
        <p:txBody>
          <a:bodyPr wrap="square" lIns="0" tIns="0" rIns="0" bIns="0" rtlCol="0" anchor="ctr"/>
          <a:lstStyle/>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Automate one workflow</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Start the weekly content engine</a:t>
            </a:r>
            <a:endParaRPr lang="en-US" sz="1200" dirty="0"/>
          </a:p>
          <a:p>
            <a:pPr marL="152400" indent="-152400">
              <a:spcAft>
                <a:spcPts val="1100"/>
              </a:spcAft>
              <a:buSzPct val="100000"/>
              <a:buChar char="✓"/>
            </a:pPr>
            <a:r>
              <a:rPr lang="en-US" sz="1200" dirty="0">
                <a:solidFill>
                  <a:srgbClr val="232A3E"/>
                </a:solidFill>
                <a:latin typeface="Calibri" pitchFamily="34" charset="0"/>
                <a:ea typeface="Calibri" pitchFamily="34" charset="-122"/>
                <a:cs typeface="Calibri" pitchFamily="34" charset="-120"/>
              </a:rPr>
              <a:t>Review: what saved time? Double down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74320"/>
            <a:ext cx="11064240" cy="256032"/>
          </a:xfrm>
          <a:prstGeom prst="rect">
            <a:avLst/>
          </a:prstGeom>
          <a:noFill/>
          <a:ln/>
        </p:spPr>
        <p:txBody>
          <a:bodyPr wrap="square" lIns="0" tIns="0" rIns="0" bIns="0" rtlCol="0" anchor="ctr"/>
          <a:lstStyle/>
          <a:p>
            <a:pPr indent="0" marL="0">
              <a:buNone/>
            </a:pPr>
            <a:r>
              <a:rPr lang="en-US" sz="1150" b="1" spc="200" kern="0" dirty="0">
                <a:solidFill>
                  <a:srgbClr val="35C1B1"/>
                </a:solidFill>
                <a:latin typeface="Arial" pitchFamily="34" charset="0"/>
                <a:ea typeface="Arial" pitchFamily="34" charset="-122"/>
                <a:cs typeface="Arial" pitchFamily="34" charset="-120"/>
              </a:rPr>
              <a:t>CLOSING</a:t>
            </a:r>
            <a:endParaRPr lang="en-US" sz="1150" dirty="0"/>
          </a:p>
        </p:txBody>
      </p:sp>
      <p:sp>
        <p:nvSpPr>
          <p:cNvPr id="3" name="Text 1"/>
          <p:cNvSpPr/>
          <p:nvPr/>
        </p:nvSpPr>
        <p:spPr>
          <a:xfrm>
            <a:off x="548640" y="512064"/>
            <a:ext cx="11064240" cy="658368"/>
          </a:xfrm>
          <a:prstGeom prst="rect">
            <a:avLst/>
          </a:prstGeom>
          <a:noFill/>
          <a:ln/>
        </p:spPr>
        <p:txBody>
          <a:bodyPr wrap="square" lIns="0" tIns="0" rIns="0" bIns="0" rtlCol="0" anchor="ctr"/>
          <a:lstStyle/>
          <a:p>
            <a:pPr indent="0" marL="0">
              <a:buNone/>
            </a:pPr>
            <a:r>
              <a:rPr lang="en-US" sz="2900" b="1" dirty="0">
                <a:solidFill>
                  <a:srgbClr val="151F4A"/>
                </a:solidFill>
                <a:latin typeface="Arial" pitchFamily="34" charset="0"/>
                <a:ea typeface="Arial" pitchFamily="34" charset="-122"/>
                <a:cs typeface="Arial" pitchFamily="34" charset="-120"/>
              </a:rPr>
              <a:t>If you remember five things</a:t>
            </a:r>
            <a:endParaRPr lang="en-US" sz="2900" dirty="0"/>
          </a:p>
        </p:txBody>
      </p:sp>
      <p:sp>
        <p:nvSpPr>
          <p:cNvPr id="4" name="Text 2"/>
          <p:cNvSpPr/>
          <p:nvPr/>
        </p:nvSpPr>
        <p:spPr>
          <a:xfrm>
            <a:off x="548640" y="6519672"/>
            <a:ext cx="8686800" cy="219456"/>
          </a:xfrm>
          <a:prstGeom prst="rect">
            <a:avLst/>
          </a:prstGeom>
          <a:noFill/>
          <a:ln/>
        </p:spPr>
        <p:txBody>
          <a:bodyPr wrap="square" lIns="0" tIns="0" rIns="0" bIns="0" rtlCol="0" anchor="ctr"/>
          <a:lstStyle/>
          <a:p>
            <a:pPr indent="0" marL="0">
              <a:buNone/>
            </a:pPr>
            <a:r>
              <a:rPr lang="en-US" sz="900" dirty="0">
                <a:solidFill>
                  <a:srgbClr val="A6ADC0"/>
                </a:solidFill>
                <a:latin typeface="Calibri" pitchFamily="34" charset="0"/>
                <a:ea typeface="Calibri" pitchFamily="34" charset="-122"/>
                <a:cs typeface="Calibri" pitchFamily="34" charset="-120"/>
              </a:rPr>
              <a:t>Godwin Agbane  ·  AI-Powered Personal Brand &amp; Digital Presence  ·  GBEDEGU '26</a:t>
            </a:r>
            <a:endParaRPr lang="en-US" sz="900" dirty="0"/>
          </a:p>
        </p:txBody>
      </p:sp>
      <p:sp>
        <p:nvSpPr>
          <p:cNvPr id="6" name="Shape 3"/>
          <p:cNvSpPr/>
          <p:nvPr/>
        </p:nvSpPr>
        <p:spPr>
          <a:xfrm>
            <a:off x="548640" y="1554480"/>
            <a:ext cx="11109960" cy="804672"/>
          </a:xfrm>
          <a:prstGeom prst="roundRect">
            <a:avLst>
              <a:gd name="adj" fmla="val 10227"/>
            </a:avLst>
          </a:prstGeom>
          <a:solidFill>
            <a:srgbClr val="F5F8FC"/>
          </a:solidFill>
          <a:ln w="12700">
            <a:solidFill>
              <a:srgbClr val="E1E6F0"/>
            </a:solidFill>
            <a:prstDash val="solid"/>
          </a:ln>
        </p:spPr>
      </p:sp>
      <p:sp>
        <p:nvSpPr>
          <p:cNvPr id="7" name="Shape 4"/>
          <p:cNvSpPr/>
          <p:nvPr/>
        </p:nvSpPr>
        <p:spPr>
          <a:xfrm>
            <a:off x="822960" y="1709928"/>
            <a:ext cx="493776" cy="493776"/>
          </a:xfrm>
          <a:prstGeom prst="ellipse">
            <a:avLst/>
          </a:prstGeom>
          <a:solidFill>
            <a:srgbClr val="35C1B1"/>
          </a:solidFill>
          <a:ln/>
        </p:spPr>
      </p:sp>
      <p:sp>
        <p:nvSpPr>
          <p:cNvPr id="8" name="Text 5"/>
          <p:cNvSpPr/>
          <p:nvPr/>
        </p:nvSpPr>
        <p:spPr>
          <a:xfrm>
            <a:off x="822960" y="170992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6"/>
          <p:cNvSpPr/>
          <p:nvPr/>
        </p:nvSpPr>
        <p:spPr>
          <a:xfrm>
            <a:off x="1508760" y="1554480"/>
            <a:ext cx="9966960" cy="804672"/>
          </a:xfrm>
          <a:prstGeom prst="rect">
            <a:avLst/>
          </a:prstGeom>
          <a:noFill/>
          <a:ln/>
        </p:spPr>
        <p:txBody>
          <a:bodyPr wrap="square" lIns="0" tIns="0" rIns="0" bIns="0" rtlCol="0" anchor="ctr"/>
          <a:lstStyle/>
          <a:p>
            <a:pPr indent="0" marL="0">
              <a:buNone/>
            </a:pPr>
            <a:r>
              <a:rPr lang="en-US" sz="1550" dirty="0">
                <a:solidFill>
                  <a:srgbClr val="232A3E"/>
                </a:solidFill>
                <a:latin typeface="Arial" pitchFamily="34" charset="0"/>
                <a:ea typeface="Arial" pitchFamily="34" charset="-122"/>
                <a:cs typeface="Arial" pitchFamily="34" charset="-120"/>
              </a:rPr>
              <a:t>Every era rewards early adapters — with AI, you are still early.</a:t>
            </a:r>
            <a:endParaRPr lang="en-US" sz="1550" dirty="0"/>
          </a:p>
        </p:txBody>
      </p:sp>
      <p:sp>
        <p:nvSpPr>
          <p:cNvPr id="10" name="Shape 7"/>
          <p:cNvSpPr/>
          <p:nvPr/>
        </p:nvSpPr>
        <p:spPr>
          <a:xfrm>
            <a:off x="548640" y="2487168"/>
            <a:ext cx="11109960" cy="804672"/>
          </a:xfrm>
          <a:prstGeom prst="roundRect">
            <a:avLst>
              <a:gd name="adj" fmla="val 10227"/>
            </a:avLst>
          </a:prstGeom>
          <a:solidFill>
            <a:srgbClr val="F5F8FC"/>
          </a:solidFill>
          <a:ln w="12700">
            <a:solidFill>
              <a:srgbClr val="E1E6F0"/>
            </a:solidFill>
            <a:prstDash val="solid"/>
          </a:ln>
        </p:spPr>
      </p:sp>
      <p:sp>
        <p:nvSpPr>
          <p:cNvPr id="11" name="Shape 8"/>
          <p:cNvSpPr/>
          <p:nvPr/>
        </p:nvSpPr>
        <p:spPr>
          <a:xfrm>
            <a:off x="822960" y="2642616"/>
            <a:ext cx="493776" cy="493776"/>
          </a:xfrm>
          <a:prstGeom prst="ellipse">
            <a:avLst/>
          </a:prstGeom>
          <a:solidFill>
            <a:srgbClr val="29A9E1"/>
          </a:solidFill>
          <a:ln/>
        </p:spPr>
      </p:sp>
      <p:sp>
        <p:nvSpPr>
          <p:cNvPr id="12" name="Text 9"/>
          <p:cNvSpPr/>
          <p:nvPr/>
        </p:nvSpPr>
        <p:spPr>
          <a:xfrm>
            <a:off x="822960" y="264261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508760" y="2487168"/>
            <a:ext cx="9966960" cy="804672"/>
          </a:xfrm>
          <a:prstGeom prst="rect">
            <a:avLst/>
          </a:prstGeom>
          <a:noFill/>
          <a:ln/>
        </p:spPr>
        <p:txBody>
          <a:bodyPr wrap="square" lIns="0" tIns="0" rIns="0" bIns="0" rtlCol="0" anchor="ctr"/>
          <a:lstStyle/>
          <a:p>
            <a:pPr indent="0" marL="0">
              <a:buNone/>
            </a:pPr>
            <a:r>
              <a:rPr lang="en-US" sz="1550" dirty="0">
                <a:solidFill>
                  <a:srgbClr val="232A3E"/>
                </a:solidFill>
                <a:latin typeface="Arial" pitchFamily="34" charset="0"/>
                <a:ea typeface="Arial" pitchFamily="34" charset="-122"/>
                <a:cs typeface="Arial" pitchFamily="34" charset="-120"/>
              </a:rPr>
              <a:t>Prompt like a manager: role, context, constraints, examples, iterate.</a:t>
            </a:r>
            <a:endParaRPr lang="en-US" sz="1550" dirty="0"/>
          </a:p>
        </p:txBody>
      </p:sp>
      <p:sp>
        <p:nvSpPr>
          <p:cNvPr id="14" name="Shape 11"/>
          <p:cNvSpPr/>
          <p:nvPr/>
        </p:nvSpPr>
        <p:spPr>
          <a:xfrm>
            <a:off x="548640" y="3419856"/>
            <a:ext cx="11109960" cy="804672"/>
          </a:xfrm>
          <a:prstGeom prst="roundRect">
            <a:avLst>
              <a:gd name="adj" fmla="val 10227"/>
            </a:avLst>
          </a:prstGeom>
          <a:solidFill>
            <a:srgbClr val="F5F8FC"/>
          </a:solidFill>
          <a:ln w="12700">
            <a:solidFill>
              <a:srgbClr val="E1E6F0"/>
            </a:solidFill>
            <a:prstDash val="solid"/>
          </a:ln>
        </p:spPr>
      </p:sp>
      <p:sp>
        <p:nvSpPr>
          <p:cNvPr id="15" name="Shape 12"/>
          <p:cNvSpPr/>
          <p:nvPr/>
        </p:nvSpPr>
        <p:spPr>
          <a:xfrm>
            <a:off x="822960" y="3575304"/>
            <a:ext cx="493776" cy="493776"/>
          </a:xfrm>
          <a:prstGeom prst="ellipse">
            <a:avLst/>
          </a:prstGeom>
          <a:solidFill>
            <a:srgbClr val="151F4A"/>
          </a:solidFill>
          <a:ln/>
        </p:spPr>
      </p:sp>
      <p:sp>
        <p:nvSpPr>
          <p:cNvPr id="16" name="Text 13"/>
          <p:cNvSpPr/>
          <p:nvPr/>
        </p:nvSpPr>
        <p:spPr>
          <a:xfrm>
            <a:off x="822960" y="3575304"/>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4"/>
          <p:cNvSpPr/>
          <p:nvPr/>
        </p:nvSpPr>
        <p:spPr>
          <a:xfrm>
            <a:off x="1508760" y="3419856"/>
            <a:ext cx="9966960" cy="804672"/>
          </a:xfrm>
          <a:prstGeom prst="rect">
            <a:avLst/>
          </a:prstGeom>
          <a:noFill/>
          <a:ln/>
        </p:spPr>
        <p:txBody>
          <a:bodyPr wrap="square" lIns="0" tIns="0" rIns="0" bIns="0" rtlCol="0" anchor="ctr"/>
          <a:lstStyle/>
          <a:p>
            <a:pPr indent="0" marL="0">
              <a:buNone/>
            </a:pPr>
            <a:r>
              <a:rPr lang="en-US" sz="1550" dirty="0">
                <a:solidFill>
                  <a:srgbClr val="232A3E"/>
                </a:solidFill>
                <a:latin typeface="Arial" pitchFamily="34" charset="0"/>
                <a:ea typeface="Arial" pitchFamily="34" charset="-122"/>
                <a:cs typeface="Arial" pitchFamily="34" charset="-120"/>
              </a:rPr>
              <a:t>One paid assistant, mastered, beats ten tabs of tools.</a:t>
            </a:r>
            <a:endParaRPr lang="en-US" sz="1550" dirty="0"/>
          </a:p>
        </p:txBody>
      </p:sp>
      <p:sp>
        <p:nvSpPr>
          <p:cNvPr id="18" name="Shape 15"/>
          <p:cNvSpPr/>
          <p:nvPr/>
        </p:nvSpPr>
        <p:spPr>
          <a:xfrm>
            <a:off x="548640" y="4352544"/>
            <a:ext cx="11109960" cy="804672"/>
          </a:xfrm>
          <a:prstGeom prst="roundRect">
            <a:avLst>
              <a:gd name="adj" fmla="val 10227"/>
            </a:avLst>
          </a:prstGeom>
          <a:solidFill>
            <a:srgbClr val="F5F8FC"/>
          </a:solidFill>
          <a:ln w="12700">
            <a:solidFill>
              <a:srgbClr val="E1E6F0"/>
            </a:solidFill>
            <a:prstDash val="solid"/>
          </a:ln>
        </p:spPr>
      </p:sp>
      <p:sp>
        <p:nvSpPr>
          <p:cNvPr id="19" name="Shape 16"/>
          <p:cNvSpPr/>
          <p:nvPr/>
        </p:nvSpPr>
        <p:spPr>
          <a:xfrm>
            <a:off x="822960" y="4507992"/>
            <a:ext cx="493776" cy="493776"/>
          </a:xfrm>
          <a:prstGeom prst="ellipse">
            <a:avLst/>
          </a:prstGeom>
          <a:solidFill>
            <a:srgbClr val="35C1B1"/>
          </a:solidFill>
          <a:ln/>
        </p:spPr>
      </p:sp>
      <p:sp>
        <p:nvSpPr>
          <p:cNvPr id="20" name="Text 17"/>
          <p:cNvSpPr/>
          <p:nvPr/>
        </p:nvSpPr>
        <p:spPr>
          <a:xfrm>
            <a:off x="822960" y="45079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8"/>
          <p:cNvSpPr/>
          <p:nvPr/>
        </p:nvSpPr>
        <p:spPr>
          <a:xfrm>
            <a:off x="1508760" y="4352544"/>
            <a:ext cx="9966960" cy="804672"/>
          </a:xfrm>
          <a:prstGeom prst="rect">
            <a:avLst/>
          </a:prstGeom>
          <a:noFill/>
          <a:ln/>
        </p:spPr>
        <p:txBody>
          <a:bodyPr wrap="square" lIns="0" tIns="0" rIns="0" bIns="0" rtlCol="0" anchor="ctr"/>
          <a:lstStyle/>
          <a:p>
            <a:pPr indent="0" marL="0">
              <a:buNone/>
            </a:pPr>
            <a:r>
              <a:rPr lang="en-US" sz="1550" dirty="0">
                <a:solidFill>
                  <a:srgbClr val="232A3E"/>
                </a:solidFill>
                <a:latin typeface="Arial" pitchFamily="34" charset="0"/>
                <a:ea typeface="Arial" pitchFamily="34" charset="-122"/>
                <a:cs typeface="Arial" pitchFamily="34" charset="-120"/>
              </a:rPr>
              <a:t>Agents and automations are staff — brief them well, review their work.</a:t>
            </a:r>
            <a:endParaRPr lang="en-US" sz="1550" dirty="0"/>
          </a:p>
        </p:txBody>
      </p:sp>
      <p:sp>
        <p:nvSpPr>
          <p:cNvPr id="22" name="Shape 19"/>
          <p:cNvSpPr/>
          <p:nvPr/>
        </p:nvSpPr>
        <p:spPr>
          <a:xfrm>
            <a:off x="548640" y="5285232"/>
            <a:ext cx="11109960" cy="804672"/>
          </a:xfrm>
          <a:prstGeom prst="roundRect">
            <a:avLst>
              <a:gd name="adj" fmla="val 10227"/>
            </a:avLst>
          </a:prstGeom>
          <a:solidFill>
            <a:srgbClr val="151F4A"/>
          </a:solidFill>
          <a:ln/>
        </p:spPr>
      </p:sp>
      <p:sp>
        <p:nvSpPr>
          <p:cNvPr id="23" name="Shape 20"/>
          <p:cNvSpPr/>
          <p:nvPr/>
        </p:nvSpPr>
        <p:spPr>
          <a:xfrm>
            <a:off x="822960" y="5440680"/>
            <a:ext cx="493776" cy="493776"/>
          </a:xfrm>
          <a:prstGeom prst="ellipse">
            <a:avLst/>
          </a:prstGeom>
          <a:solidFill>
            <a:srgbClr val="F0C93C"/>
          </a:solidFill>
          <a:ln/>
        </p:spPr>
      </p:sp>
      <p:sp>
        <p:nvSpPr>
          <p:cNvPr id="24" name="Text 21"/>
          <p:cNvSpPr/>
          <p:nvPr/>
        </p:nvSpPr>
        <p:spPr>
          <a:xfrm>
            <a:off x="822960" y="5440680"/>
            <a:ext cx="493776" cy="493776"/>
          </a:xfrm>
          <a:prstGeom prst="rect">
            <a:avLst/>
          </a:prstGeom>
          <a:noFill/>
          <a:ln/>
        </p:spPr>
        <p:txBody>
          <a:bodyPr wrap="square" lIns="0" tIns="0" rIns="0" bIns="0" rtlCol="0" anchor="ctr"/>
          <a:lstStyle/>
          <a:p>
            <a:pPr algn="ctr" indent="0" marL="0">
              <a:buNone/>
            </a:pPr>
            <a:r>
              <a:rPr lang="en-US" sz="1800" b="1" dirty="0">
                <a:solidFill>
                  <a:srgbClr val="151F4A"/>
                </a:solidFill>
                <a:latin typeface="Arial" pitchFamily="34" charset="0"/>
                <a:ea typeface="Arial" pitchFamily="34" charset="-122"/>
                <a:cs typeface="Arial" pitchFamily="34" charset="-120"/>
              </a:rPr>
              <a:t>5</a:t>
            </a:r>
            <a:endParaRPr lang="en-US" sz="1800" dirty="0"/>
          </a:p>
        </p:txBody>
      </p:sp>
      <p:sp>
        <p:nvSpPr>
          <p:cNvPr id="25" name="Text 22"/>
          <p:cNvSpPr/>
          <p:nvPr/>
        </p:nvSpPr>
        <p:spPr>
          <a:xfrm>
            <a:off x="1508760" y="5285232"/>
            <a:ext cx="9966960" cy="804672"/>
          </a:xfrm>
          <a:prstGeom prst="rect">
            <a:avLst/>
          </a:prstGeom>
          <a:noFill/>
          <a:ln/>
        </p:spPr>
        <p:txBody>
          <a:bodyPr wrap="square" lIns="0" tIns="0" rIns="0" bIns="0" rtlCol="0" anchor="ctr"/>
          <a:lstStyle/>
          <a:p>
            <a:pPr indent="0" marL="0">
              <a:buNone/>
            </a:pPr>
            <a:r>
              <a:rPr lang="en-US" sz="1550" b="1" dirty="0">
                <a:solidFill>
                  <a:srgbClr val="FFFFFF"/>
                </a:solidFill>
                <a:latin typeface="Arial" pitchFamily="34" charset="0"/>
                <a:ea typeface="Arial" pitchFamily="34" charset="-122"/>
                <a:cs typeface="Arial" pitchFamily="34" charset="-120"/>
              </a:rPr>
              <a:t>Ship something this week: a site, a post, a workflow. Momentum beats perfection.</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868680"/>
            <a:ext cx="7315200" cy="320040"/>
          </a:xfrm>
          <a:prstGeom prst="rect">
            <a:avLst/>
          </a:prstGeom>
          <a:noFill/>
          <a:ln/>
        </p:spPr>
        <p:txBody>
          <a:bodyPr wrap="square" lIns="0" tIns="0" rIns="0" bIns="0" rtlCol="0" anchor="ctr"/>
          <a:lstStyle/>
          <a:p>
            <a:pPr indent="0" marL="0">
              <a:buNone/>
            </a:pPr>
            <a:r>
              <a:rPr lang="en-US" sz="1300" b="1" spc="250" kern="0" dirty="0">
                <a:solidFill>
                  <a:srgbClr val="35C1B1"/>
                </a:solidFill>
                <a:latin typeface="Arial" pitchFamily="34" charset="0"/>
                <a:ea typeface="Arial" pitchFamily="34" charset="-122"/>
                <a:cs typeface="Arial" pitchFamily="34" charset="-120"/>
              </a:rPr>
              <a:t>THANK YOU · LET'S CONNECT</a:t>
            </a:r>
            <a:endParaRPr lang="en-US" sz="1300" dirty="0"/>
          </a:p>
        </p:txBody>
      </p:sp>
      <p:sp>
        <p:nvSpPr>
          <p:cNvPr id="3" name="Text 1"/>
          <p:cNvSpPr/>
          <p:nvPr/>
        </p:nvSpPr>
        <p:spPr>
          <a:xfrm>
            <a:off x="685800" y="1280160"/>
            <a:ext cx="685800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Godwin Agbane</a:t>
            </a:r>
            <a:endParaRPr lang="en-US" sz="4000" dirty="0"/>
          </a:p>
        </p:txBody>
      </p:sp>
      <p:sp>
        <p:nvSpPr>
          <p:cNvPr id="4" name="Text 2"/>
          <p:cNvSpPr/>
          <p:nvPr/>
        </p:nvSpPr>
        <p:spPr>
          <a:xfrm>
            <a:off x="685800" y="2103120"/>
            <a:ext cx="6858000" cy="365760"/>
          </a:xfrm>
          <a:prstGeom prst="rect">
            <a:avLst/>
          </a:prstGeom>
          <a:noFill/>
          <a:ln/>
        </p:spPr>
        <p:txBody>
          <a:bodyPr wrap="square" lIns="0" tIns="0" rIns="0" bIns="0" rtlCol="0" anchor="ctr"/>
          <a:lstStyle/>
          <a:p>
            <a:pPr indent="0" marL="0">
              <a:buNone/>
            </a:pPr>
            <a:r>
              <a:rPr lang="en-US" sz="1500" dirty="0">
                <a:solidFill>
                  <a:srgbClr val="C9D4EE"/>
                </a:solidFill>
                <a:latin typeface="Calibri" pitchFamily="34" charset="0"/>
                <a:ea typeface="Calibri" pitchFamily="34" charset="-122"/>
                <a:cs typeface="Calibri" pitchFamily="34" charset="-120"/>
              </a:rPr>
              <a:t>CEO, Innoedge Technologies  ·  Engineer  ·  Builder</a:t>
            </a:r>
            <a:endParaRPr lang="en-US" sz="1500" dirty="0"/>
          </a:p>
        </p:txBody>
      </p:sp>
      <p:sp>
        <p:nvSpPr>
          <p:cNvPr id="5" name="Shape 3"/>
          <p:cNvSpPr/>
          <p:nvPr/>
        </p:nvSpPr>
        <p:spPr>
          <a:xfrm>
            <a:off x="713232" y="2880360"/>
            <a:ext cx="438912" cy="438912"/>
          </a:xfrm>
          <a:prstGeom prst="ellipse">
            <a:avLst/>
          </a:prstGeom>
          <a:solidFill>
            <a:srgbClr val="35C1B1"/>
          </a:solidFill>
          <a:ln/>
        </p:spPr>
      </p:sp>
      <p:pic>
        <p:nvPicPr>
          <p:cNvPr id="6" name="Image 0" descr="icons/globe.png">    </p:cNvPr>
          <p:cNvPicPr>
            <a:picLocks noChangeAspect="1"/>
          </p:cNvPicPr>
          <p:nvPr/>
        </p:nvPicPr>
        <p:blipFill>
          <a:blip r:embed="rId2"/>
          <a:stretch>
            <a:fillRect/>
          </a:stretch>
        </p:blipFill>
        <p:spPr>
          <a:xfrm>
            <a:off x="822960" y="2990088"/>
            <a:ext cx="219456" cy="219456"/>
          </a:xfrm>
          <a:prstGeom prst="rect">
            <a:avLst/>
          </a:prstGeom>
        </p:spPr>
      </p:pic>
      <p:sp>
        <p:nvSpPr>
          <p:cNvPr id="7" name="Text 4"/>
          <p:cNvSpPr/>
          <p:nvPr/>
        </p:nvSpPr>
        <p:spPr>
          <a:xfrm>
            <a:off x="1325880" y="2898648"/>
            <a:ext cx="576072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godwin.innoedgetech.com</a:t>
            </a:r>
            <a:endParaRPr lang="en-US" sz="1600" dirty="0"/>
          </a:p>
        </p:txBody>
      </p:sp>
      <p:sp>
        <p:nvSpPr>
          <p:cNvPr id="8" name="Shape 5"/>
          <p:cNvSpPr/>
          <p:nvPr/>
        </p:nvSpPr>
        <p:spPr>
          <a:xfrm>
            <a:off x="713232" y="3538728"/>
            <a:ext cx="438912" cy="438912"/>
          </a:xfrm>
          <a:prstGeom prst="ellipse">
            <a:avLst/>
          </a:prstGeom>
          <a:solidFill>
            <a:srgbClr val="29A9E1"/>
          </a:solidFill>
          <a:ln/>
        </p:spPr>
      </p:sp>
      <p:pic>
        <p:nvPicPr>
          <p:cNvPr id="9" name="Image 1" descr="icons/briefcase.png">    </p:cNvPr>
          <p:cNvPicPr>
            <a:picLocks noChangeAspect="1"/>
          </p:cNvPicPr>
          <p:nvPr/>
        </p:nvPicPr>
        <p:blipFill>
          <a:blip r:embed="rId3"/>
          <a:stretch>
            <a:fillRect/>
          </a:stretch>
        </p:blipFill>
        <p:spPr>
          <a:xfrm>
            <a:off x="822960" y="3648456"/>
            <a:ext cx="219456" cy="219456"/>
          </a:xfrm>
          <a:prstGeom prst="rect">
            <a:avLst/>
          </a:prstGeom>
        </p:spPr>
      </p:pic>
      <p:sp>
        <p:nvSpPr>
          <p:cNvPr id="10" name="Text 6"/>
          <p:cNvSpPr/>
          <p:nvPr/>
        </p:nvSpPr>
        <p:spPr>
          <a:xfrm>
            <a:off x="1325880" y="3557016"/>
            <a:ext cx="576072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agbanegodwin.me</a:t>
            </a:r>
            <a:endParaRPr lang="en-US" sz="1600" dirty="0"/>
          </a:p>
        </p:txBody>
      </p:sp>
      <p:sp>
        <p:nvSpPr>
          <p:cNvPr id="11" name="Shape 7"/>
          <p:cNvSpPr/>
          <p:nvPr/>
        </p:nvSpPr>
        <p:spPr>
          <a:xfrm>
            <a:off x="713232" y="4197096"/>
            <a:ext cx="438912" cy="438912"/>
          </a:xfrm>
          <a:prstGeom prst="ellipse">
            <a:avLst/>
          </a:prstGeom>
          <a:solidFill>
            <a:srgbClr val="35C1B1"/>
          </a:solidFill>
          <a:ln/>
        </p:spPr>
      </p:sp>
      <p:pic>
        <p:nvPicPr>
          <p:cNvPr id="12" name="Image 2" descr="icons/envelope.png">    </p:cNvPr>
          <p:cNvPicPr>
            <a:picLocks noChangeAspect="1"/>
          </p:cNvPicPr>
          <p:nvPr/>
        </p:nvPicPr>
        <p:blipFill>
          <a:blip r:embed="rId4"/>
          <a:stretch>
            <a:fillRect/>
          </a:stretch>
        </p:blipFill>
        <p:spPr>
          <a:xfrm>
            <a:off x="822960" y="4306824"/>
            <a:ext cx="219456" cy="219456"/>
          </a:xfrm>
          <a:prstGeom prst="rect">
            <a:avLst/>
          </a:prstGeom>
        </p:spPr>
      </p:pic>
      <p:sp>
        <p:nvSpPr>
          <p:cNvPr id="13" name="Text 8"/>
          <p:cNvSpPr/>
          <p:nvPr/>
        </p:nvSpPr>
        <p:spPr>
          <a:xfrm>
            <a:off x="1325880" y="4215384"/>
            <a:ext cx="576072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agbane6@gmail.com</a:t>
            </a:r>
            <a:endParaRPr lang="en-US" sz="1600" dirty="0"/>
          </a:p>
        </p:txBody>
      </p:sp>
      <p:sp>
        <p:nvSpPr>
          <p:cNvPr id="14" name="Shape 9"/>
          <p:cNvSpPr/>
          <p:nvPr/>
        </p:nvSpPr>
        <p:spPr>
          <a:xfrm>
            <a:off x="713232" y="4855464"/>
            <a:ext cx="438912" cy="438912"/>
          </a:xfrm>
          <a:prstGeom prst="ellipse">
            <a:avLst/>
          </a:prstGeom>
          <a:solidFill>
            <a:srgbClr val="29A9E1"/>
          </a:solidFill>
          <a:ln/>
        </p:spPr>
      </p:sp>
      <p:pic>
        <p:nvPicPr>
          <p:cNvPr id="15" name="Image 3" descr="icons/linkedin.png">    </p:cNvPr>
          <p:cNvPicPr>
            <a:picLocks noChangeAspect="1"/>
          </p:cNvPicPr>
          <p:nvPr/>
        </p:nvPicPr>
        <p:blipFill>
          <a:blip r:embed="rId5"/>
          <a:stretch>
            <a:fillRect/>
          </a:stretch>
        </p:blipFill>
        <p:spPr>
          <a:xfrm>
            <a:off x="822960" y="4965192"/>
            <a:ext cx="219456" cy="219456"/>
          </a:xfrm>
          <a:prstGeom prst="rect">
            <a:avLst/>
          </a:prstGeom>
        </p:spPr>
      </p:pic>
      <p:sp>
        <p:nvSpPr>
          <p:cNvPr id="16" name="Text 10"/>
          <p:cNvSpPr/>
          <p:nvPr/>
        </p:nvSpPr>
        <p:spPr>
          <a:xfrm>
            <a:off x="1325880" y="4873752"/>
            <a:ext cx="576072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Godwin Agbane on LinkedIn</a:t>
            </a:r>
            <a:endParaRPr lang="en-US" sz="1600" dirty="0"/>
          </a:p>
        </p:txBody>
      </p:sp>
      <p:sp>
        <p:nvSpPr>
          <p:cNvPr id="17" name="Text 11"/>
          <p:cNvSpPr/>
          <p:nvPr/>
        </p:nvSpPr>
        <p:spPr>
          <a:xfrm>
            <a:off x="685800" y="5806440"/>
            <a:ext cx="6583680" cy="640080"/>
          </a:xfrm>
          <a:prstGeom prst="rect">
            <a:avLst/>
          </a:prstGeom>
          <a:noFill/>
          <a:ln/>
        </p:spPr>
        <p:txBody>
          <a:bodyPr wrap="square" lIns="0" tIns="0" rIns="0" bIns="0" rtlCol="0" anchor="ctr"/>
          <a:lstStyle/>
          <a:p>
            <a:pPr indent="0" marL="0">
              <a:buNone/>
            </a:pPr>
            <a:r>
              <a:rPr lang="en-US" sz="1350" i="1" dirty="0">
                <a:solidFill>
                  <a:srgbClr val="C9D4EE"/>
                </a:solidFill>
                <a:latin typeface="Calibri" pitchFamily="34" charset="0"/>
                <a:ea typeface="Calibri" pitchFamily="34" charset="-122"/>
                <a:cs typeface="Calibri" pitchFamily="34" charset="-120"/>
              </a:rPr>
              <a:t>Slides, every tool link, the prompt handbook and open-source picks — one scan.</a:t>
            </a:r>
            <a:endParaRPr lang="en-US" sz="1350" dirty="0"/>
          </a:p>
        </p:txBody>
      </p:sp>
      <p:sp>
        <p:nvSpPr>
          <p:cNvPr id="18" name="Shape 12"/>
          <p:cNvSpPr/>
          <p:nvPr/>
        </p:nvSpPr>
        <p:spPr>
          <a:xfrm>
            <a:off x="7635240" y="1234440"/>
            <a:ext cx="2148840" cy="2697480"/>
          </a:xfrm>
          <a:prstGeom prst="roundRect">
            <a:avLst>
              <a:gd name="adj" fmla="val 3830"/>
            </a:avLst>
          </a:prstGeom>
          <a:solidFill>
            <a:srgbClr val="FFFFFF"/>
          </a:solidFill>
          <a:ln/>
        </p:spPr>
      </p:sp>
      <p:pic>
        <p:nvPicPr>
          <p:cNvPr id="19" name="Image 4" descr="icons/qr_navy.png">    </p:cNvPr>
          <p:cNvPicPr>
            <a:picLocks noChangeAspect="1"/>
          </p:cNvPicPr>
          <p:nvPr/>
        </p:nvPicPr>
        <p:blipFill>
          <a:blip r:embed="rId6"/>
          <a:stretch>
            <a:fillRect/>
          </a:stretch>
        </p:blipFill>
        <p:spPr>
          <a:xfrm>
            <a:off x="7799832" y="1417320"/>
            <a:ext cx="1828800" cy="1828800"/>
          </a:xfrm>
          <a:prstGeom prst="rect">
            <a:avLst/>
          </a:prstGeom>
        </p:spPr>
      </p:pic>
      <p:sp>
        <p:nvSpPr>
          <p:cNvPr id="20" name="Text 13"/>
          <p:cNvSpPr/>
          <p:nvPr/>
        </p:nvSpPr>
        <p:spPr>
          <a:xfrm>
            <a:off x="7635240" y="3291840"/>
            <a:ext cx="2148840" cy="274320"/>
          </a:xfrm>
          <a:prstGeom prst="rect">
            <a:avLst/>
          </a:prstGeom>
          <a:noFill/>
          <a:ln/>
        </p:spPr>
        <p:txBody>
          <a:bodyPr wrap="square" lIns="0" tIns="0" rIns="0" bIns="0" rtlCol="0" anchor="ctr"/>
          <a:lstStyle/>
          <a:p>
            <a:pPr algn="ctr" indent="0" marL="0">
              <a:buNone/>
            </a:pPr>
            <a:r>
              <a:rPr lang="en-US" sz="1050" b="1" spc="150" kern="0" dirty="0">
                <a:solidFill>
                  <a:srgbClr val="151F4A"/>
                </a:solidFill>
                <a:latin typeface="Arial" pitchFamily="34" charset="0"/>
                <a:ea typeface="Arial" pitchFamily="34" charset="-122"/>
                <a:cs typeface="Arial" pitchFamily="34" charset="-120"/>
              </a:rPr>
              <a:t>SCAN TO CONNECT</a:t>
            </a:r>
            <a:endParaRPr lang="en-US" sz="1050" dirty="0"/>
          </a:p>
        </p:txBody>
      </p:sp>
      <p:sp>
        <p:nvSpPr>
          <p:cNvPr id="21" name="Text 14"/>
          <p:cNvSpPr/>
          <p:nvPr/>
        </p:nvSpPr>
        <p:spPr>
          <a:xfrm>
            <a:off x="7635240" y="3566160"/>
            <a:ext cx="2148840" cy="274320"/>
          </a:xfrm>
          <a:prstGeom prst="rect">
            <a:avLst/>
          </a:prstGeom>
          <a:noFill/>
          <a:ln/>
        </p:spPr>
        <p:txBody>
          <a:bodyPr wrap="square" lIns="0" tIns="0" rIns="0" bIns="0" rtlCol="0" anchor="ctr"/>
          <a:lstStyle/>
          <a:p>
            <a:pPr algn="ctr" indent="0" marL="0">
              <a:buNone/>
            </a:pPr>
            <a:r>
              <a:rPr lang="en-US" sz="1050" dirty="0">
                <a:solidFill>
                  <a:srgbClr val="5A6280"/>
                </a:solidFill>
                <a:latin typeface="Calibri" pitchFamily="34" charset="0"/>
                <a:ea typeface="Calibri" pitchFamily="34" charset="-122"/>
                <a:cs typeface="Calibri" pitchFamily="34" charset="-120"/>
              </a:rPr>
              <a:t>my page + socials</a:t>
            </a:r>
            <a:endParaRPr lang="en-US" sz="1050" dirty="0"/>
          </a:p>
        </p:txBody>
      </p:sp>
      <p:sp>
        <p:nvSpPr>
          <p:cNvPr id="22" name="Shape 15"/>
          <p:cNvSpPr/>
          <p:nvPr/>
        </p:nvSpPr>
        <p:spPr>
          <a:xfrm>
            <a:off x="9921240" y="1234440"/>
            <a:ext cx="2148840" cy="2697480"/>
          </a:xfrm>
          <a:prstGeom prst="roundRect">
            <a:avLst>
              <a:gd name="adj" fmla="val 3830"/>
            </a:avLst>
          </a:prstGeom>
          <a:solidFill>
            <a:srgbClr val="F0C93C"/>
          </a:solidFill>
          <a:ln/>
        </p:spPr>
      </p:sp>
      <p:pic>
        <p:nvPicPr>
          <p:cNvPr id="23" name="Image 5" descr="icons/qr_resources.png">    </p:cNvPr>
          <p:cNvPicPr>
            <a:picLocks noChangeAspect="1"/>
          </p:cNvPicPr>
          <p:nvPr/>
        </p:nvPicPr>
        <p:blipFill>
          <a:blip r:embed="rId7"/>
          <a:stretch>
            <a:fillRect/>
          </a:stretch>
        </p:blipFill>
        <p:spPr>
          <a:xfrm>
            <a:off x="10085832" y="1417320"/>
            <a:ext cx="1828800" cy="1828800"/>
          </a:xfrm>
          <a:prstGeom prst="rect">
            <a:avLst/>
          </a:prstGeom>
        </p:spPr>
      </p:pic>
      <p:sp>
        <p:nvSpPr>
          <p:cNvPr id="24" name="Text 16"/>
          <p:cNvSpPr/>
          <p:nvPr/>
        </p:nvSpPr>
        <p:spPr>
          <a:xfrm>
            <a:off x="9921240" y="3291840"/>
            <a:ext cx="2148840" cy="274320"/>
          </a:xfrm>
          <a:prstGeom prst="rect">
            <a:avLst/>
          </a:prstGeom>
          <a:noFill/>
          <a:ln/>
        </p:spPr>
        <p:txBody>
          <a:bodyPr wrap="square" lIns="0" tIns="0" rIns="0" bIns="0" rtlCol="0" anchor="ctr"/>
          <a:lstStyle/>
          <a:p>
            <a:pPr algn="ctr" indent="0" marL="0">
              <a:buNone/>
            </a:pPr>
            <a:r>
              <a:rPr lang="en-US" sz="1000" b="1" spc="100" kern="0" dirty="0">
                <a:solidFill>
                  <a:srgbClr val="151F4A"/>
                </a:solidFill>
                <a:latin typeface="Arial" pitchFamily="34" charset="0"/>
                <a:ea typeface="Arial" pitchFamily="34" charset="-122"/>
                <a:cs typeface="Arial" pitchFamily="34" charset="-120"/>
              </a:rPr>
              <a:t>SCAN FOR RESOURCES</a:t>
            </a:r>
            <a:endParaRPr lang="en-US" sz="1000" dirty="0"/>
          </a:p>
        </p:txBody>
      </p:sp>
      <p:sp>
        <p:nvSpPr>
          <p:cNvPr id="25" name="Text 17"/>
          <p:cNvSpPr/>
          <p:nvPr/>
        </p:nvSpPr>
        <p:spPr>
          <a:xfrm>
            <a:off x="9921240" y="3566160"/>
            <a:ext cx="2148840" cy="274320"/>
          </a:xfrm>
          <a:prstGeom prst="rect">
            <a:avLst/>
          </a:prstGeom>
          <a:noFill/>
          <a:ln/>
        </p:spPr>
        <p:txBody>
          <a:bodyPr wrap="square" lIns="0" tIns="0" rIns="0" bIns="0" rtlCol="0" anchor="ctr"/>
          <a:lstStyle/>
          <a:p>
            <a:pPr algn="ctr" indent="0" marL="0">
              <a:buNone/>
            </a:pPr>
            <a:r>
              <a:rPr lang="en-US" sz="1050" dirty="0">
                <a:solidFill>
                  <a:srgbClr val="151F4A"/>
                </a:solidFill>
                <a:latin typeface="Calibri" pitchFamily="34" charset="0"/>
                <a:ea typeface="Calibri" pitchFamily="34" charset="-122"/>
                <a:cs typeface="Calibri" pitchFamily="34" charset="-120"/>
              </a:rPr>
              <a:t>handbook + tool links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Personal Brand &amp; Digital Presence</dc:title>
  <dc:subject>PptxGenJS Presentation</dc:subject>
  <dc:creator>Godwin Agbane</dc:creator>
  <cp:lastModifiedBy>Godwin Agbane</cp:lastModifiedBy>
  <cp:revision>1</cp:revision>
  <dcterms:created xsi:type="dcterms:W3CDTF">2026-08-21T00:57:48Z</dcterms:created>
  <dcterms:modified xsi:type="dcterms:W3CDTF">2026-08-21T00:57:48Z</dcterms:modified>
</cp:coreProperties>
</file>